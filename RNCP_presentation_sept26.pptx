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9" r:id="rId3"/>
    <p:sldId id="260" r:id="rId4"/>
    <p:sldId id="261" r:id="rId5"/>
    <p:sldId id="257" r:id="rId6"/>
    <p:sldId id="258" r:id="rId7"/>
    <p:sldId id="262" r:id="rId8"/>
    <p:sldId id="263" r:id="rId9"/>
    <p:sldId id="264" r:id="rId10"/>
    <p:sldId id="267" r:id="rId11"/>
    <p:sldId id="265" r:id="rId12"/>
    <p:sldId id="272" r:id="rId13"/>
    <p:sldId id="266" r:id="rId14"/>
    <p:sldId id="268" r:id="rId15"/>
    <p:sldId id="270" r:id="rId16"/>
    <p:sldId id="269"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6" d="100"/>
          <a:sy n="66" d="100"/>
        </p:scale>
        <p:origin x="92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509A250-FF31-4206-8172-F9D3106AACB1}" type="datetimeFigureOut">
              <a:rPr lang="en-US" dirty="0"/>
              <a:t>9/12/2026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509A250-FF31-4206-8172-F9D3106AACB1}" type="datetimeFigureOut">
              <a:rPr lang="en-US" dirty="0"/>
              <a:t>9/12/2026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9/12/2026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9/12/2026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
        <p:nvSpPr>
          <p:cNvPr id="9" name="TextBox 8"/>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509A250-FF31-4206-8172-F9D3106AACB1}" type="datetimeFigureOut">
              <a:rPr lang="en-US" dirty="0"/>
              <a:t>9/12/2026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71A0F-AD3E-3998-6079-4D760581048B}"/>
              </a:ext>
            </a:extLst>
          </p:cNvPr>
          <p:cNvSpPr>
            <a:spLocks noGrp="1"/>
          </p:cNvSpPr>
          <p:nvPr>
            <p:ph type="ctrTitle"/>
          </p:nvPr>
        </p:nvSpPr>
        <p:spPr>
          <a:xfrm>
            <a:off x="647701" y="1454964"/>
            <a:ext cx="6837650" cy="3308840"/>
          </a:xfrm>
        </p:spPr>
        <p:txBody>
          <a:bodyPr>
            <a:normAutofit/>
          </a:bodyPr>
          <a:lstStyle/>
          <a:p>
            <a:r>
              <a:rPr lang="en-US" sz="6700" b="1"/>
              <a:t>Mobile Network Performance in France</a:t>
            </a:r>
          </a:p>
        </p:txBody>
      </p:sp>
      <p:sp>
        <p:nvSpPr>
          <p:cNvPr id="3" name="Subtitle 2">
            <a:extLst>
              <a:ext uri="{FF2B5EF4-FFF2-40B4-BE49-F238E27FC236}">
                <a16:creationId xmlns:a16="http://schemas.microsoft.com/office/drawing/2014/main" id="{DF78CE50-17C1-A898-C0AE-BF54F32A3405}"/>
              </a:ext>
            </a:extLst>
          </p:cNvPr>
          <p:cNvSpPr>
            <a:spLocks noGrp="1"/>
          </p:cNvSpPr>
          <p:nvPr>
            <p:ph type="subTitle" idx="1"/>
          </p:nvPr>
        </p:nvSpPr>
        <p:spPr>
          <a:xfrm>
            <a:off x="647700" y="4763803"/>
            <a:ext cx="7051963" cy="1464378"/>
          </a:xfrm>
        </p:spPr>
        <p:txBody>
          <a:bodyPr>
            <a:normAutofit/>
          </a:bodyPr>
          <a:lstStyle/>
          <a:p>
            <a:r>
              <a:rPr lang="en-US" dirty="0"/>
              <a:t>Are there significant territorial inequalities in mobile network performance in France, and what can explain these disparities?</a:t>
            </a:r>
          </a:p>
        </p:txBody>
      </p:sp>
      <p:pic>
        <p:nvPicPr>
          <p:cNvPr id="5" name="Picture 4" descr="Cell towers">
            <a:extLst>
              <a:ext uri="{FF2B5EF4-FFF2-40B4-BE49-F238E27FC236}">
                <a16:creationId xmlns:a16="http://schemas.microsoft.com/office/drawing/2014/main" id="{F19B2EB2-D9F6-20A0-07A2-AB5FFCBA7A5A}"/>
              </a:ext>
            </a:extLst>
          </p:cNvPr>
          <p:cNvPicPr>
            <a:picLocks noChangeAspect="1"/>
          </p:cNvPicPr>
          <p:nvPr/>
        </p:nvPicPr>
        <p:blipFill>
          <a:blip r:embed="rId3"/>
          <a:srcRect l="60494" r="-1" b="-1"/>
          <a:stretch>
            <a:fillRect/>
          </a:stretch>
        </p:blipFill>
        <p:spPr>
          <a:xfrm>
            <a:off x="8133050" y="10"/>
            <a:ext cx="4058950" cy="6857990"/>
          </a:xfrm>
          <a:prstGeom prst="rect">
            <a:avLst/>
          </a:prstGeom>
        </p:spPr>
      </p:pic>
      <p:sp>
        <p:nvSpPr>
          <p:cNvPr id="27" name="Rectangle 26">
            <a:extLst>
              <a:ext uri="{FF2B5EF4-FFF2-40B4-BE49-F238E27FC236}">
                <a16:creationId xmlns:a16="http://schemas.microsoft.com/office/drawing/2014/main" id="{252FB517-FF87-4FC2-ACB8-95ECAD68B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064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037B9-6064-E947-BFE6-555E1D42FD8E}"/>
              </a:ext>
            </a:extLst>
          </p:cNvPr>
          <p:cNvSpPr>
            <a:spLocks noGrp="1"/>
          </p:cNvSpPr>
          <p:nvPr>
            <p:ph type="title"/>
          </p:nvPr>
        </p:nvSpPr>
        <p:spPr>
          <a:xfrm>
            <a:off x="646111" y="452718"/>
            <a:ext cx="9609716" cy="1400530"/>
          </a:xfrm>
        </p:spPr>
        <p:txBody>
          <a:bodyPr/>
          <a:lstStyle/>
          <a:p>
            <a:r>
              <a:rPr lang="en-US" dirty="0"/>
              <a:t>Data acquisition 1 Data modelling</a:t>
            </a:r>
          </a:p>
        </p:txBody>
      </p:sp>
      <p:sp>
        <p:nvSpPr>
          <p:cNvPr id="3" name="Content Placeholder 2">
            <a:extLst>
              <a:ext uri="{FF2B5EF4-FFF2-40B4-BE49-F238E27FC236}">
                <a16:creationId xmlns:a16="http://schemas.microsoft.com/office/drawing/2014/main" id="{BF879EB4-5DF2-86E7-7DA8-8E2B4930034C}"/>
              </a:ext>
            </a:extLst>
          </p:cNvPr>
          <p:cNvSpPr>
            <a:spLocks noGrp="1"/>
          </p:cNvSpPr>
          <p:nvPr>
            <p:ph idx="1"/>
          </p:nvPr>
        </p:nvSpPr>
        <p:spPr>
          <a:xfrm>
            <a:off x="1103312" y="2052919"/>
            <a:ext cx="5422179" cy="2248918"/>
          </a:xfrm>
        </p:spPr>
        <p:txBody>
          <a:bodyPr/>
          <a:lstStyle/>
          <a:p>
            <a:pPr lvl="0"/>
            <a:r>
              <a:rPr lang="en-US" dirty="0"/>
              <a:t>Web scraping → ARCEP QoS </a:t>
            </a:r>
          </a:p>
          <a:p>
            <a:pPr lvl="0"/>
            <a:r>
              <a:rPr lang="en-US" dirty="0"/>
              <a:t>Flat files → ARCEP Sites / INSEE </a:t>
            </a:r>
          </a:p>
          <a:p>
            <a:pPr lvl="0"/>
            <a:r>
              <a:rPr lang="en-US" dirty="0"/>
              <a:t>Data preserved in raw form </a:t>
            </a:r>
          </a:p>
          <a:p>
            <a:pPr lvl="0"/>
            <a:r>
              <a:rPr lang="en-US" dirty="0"/>
              <a:t>Cleaning performed independently</a:t>
            </a:r>
          </a:p>
          <a:p>
            <a:endParaRPr lang="en-US" dirty="0"/>
          </a:p>
        </p:txBody>
      </p:sp>
      <p:sp>
        <p:nvSpPr>
          <p:cNvPr id="4" name="Content Placeholder 2">
            <a:extLst>
              <a:ext uri="{FF2B5EF4-FFF2-40B4-BE49-F238E27FC236}">
                <a16:creationId xmlns:a16="http://schemas.microsoft.com/office/drawing/2014/main" id="{E3B5068D-A489-72C9-CEC7-0BBFC93AD3F3}"/>
              </a:ext>
            </a:extLst>
          </p:cNvPr>
          <p:cNvSpPr txBox="1">
            <a:spLocks/>
          </p:cNvSpPr>
          <p:nvPr/>
        </p:nvSpPr>
        <p:spPr>
          <a:xfrm>
            <a:off x="6368039" y="2052918"/>
            <a:ext cx="5422179" cy="2706117"/>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lvl="0"/>
            <a:r>
              <a:rPr lang="en-US" dirty="0" err="1"/>
              <a:t>fact_qos_measurements</a:t>
            </a:r>
            <a:r>
              <a:rPr lang="en-US" dirty="0"/>
              <a:t> </a:t>
            </a:r>
          </a:p>
          <a:p>
            <a:pPr lvl="0"/>
            <a:r>
              <a:rPr lang="en-US" dirty="0"/>
              <a:t>sites </a:t>
            </a:r>
          </a:p>
          <a:p>
            <a:pPr lvl="0"/>
            <a:r>
              <a:rPr lang="en-US" dirty="0" err="1"/>
              <a:t>dim_geo</a:t>
            </a:r>
            <a:r>
              <a:rPr lang="en-US" dirty="0"/>
              <a:t> </a:t>
            </a:r>
          </a:p>
          <a:p>
            <a:pPr lvl="0"/>
            <a:r>
              <a:rPr lang="en-US" dirty="0" err="1"/>
              <a:t>dim_operator</a:t>
            </a:r>
            <a:r>
              <a:rPr lang="en-US" dirty="0"/>
              <a:t> </a:t>
            </a:r>
          </a:p>
          <a:p>
            <a:pPr lvl="0"/>
            <a:r>
              <a:rPr lang="en-US" dirty="0" err="1"/>
              <a:t>dim_protocol</a:t>
            </a:r>
            <a:r>
              <a:rPr lang="en-US" dirty="0"/>
              <a:t> </a:t>
            </a:r>
          </a:p>
          <a:p>
            <a:pPr lvl="0"/>
            <a:r>
              <a:rPr lang="en-US" dirty="0" err="1"/>
              <a:t>sites_by_operator_commune</a:t>
            </a:r>
            <a:endParaRPr lang="en-US" dirty="0"/>
          </a:p>
          <a:p>
            <a:endParaRPr lang="en-US" dirty="0"/>
          </a:p>
        </p:txBody>
      </p:sp>
    </p:spTree>
    <p:extLst>
      <p:ext uri="{BB962C8B-B14F-4D97-AF65-F5344CB8AC3E}">
        <p14:creationId xmlns:p14="http://schemas.microsoft.com/office/powerpoint/2010/main" val="3278610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5ABC8-2335-3B64-7A14-0284B35729C5}"/>
              </a:ext>
            </a:extLst>
          </p:cNvPr>
          <p:cNvSpPr>
            <a:spLocks noGrp="1"/>
          </p:cNvSpPr>
          <p:nvPr>
            <p:ph type="title"/>
          </p:nvPr>
        </p:nvSpPr>
        <p:spPr>
          <a:xfrm>
            <a:off x="646111" y="452718"/>
            <a:ext cx="9404723" cy="866927"/>
          </a:xfrm>
        </p:spPr>
        <p:txBody>
          <a:bodyPr/>
          <a:lstStyle/>
          <a:p>
            <a:r>
              <a:rPr lang="en-US" dirty="0"/>
              <a:t>MySQL relational database</a:t>
            </a:r>
          </a:p>
        </p:txBody>
      </p:sp>
      <p:sp>
        <p:nvSpPr>
          <p:cNvPr id="3" name="Content Placeholder 2">
            <a:extLst>
              <a:ext uri="{FF2B5EF4-FFF2-40B4-BE49-F238E27FC236}">
                <a16:creationId xmlns:a16="http://schemas.microsoft.com/office/drawing/2014/main" id="{22ACA1CC-90A2-D12D-63F3-6152A1836822}"/>
              </a:ext>
            </a:extLst>
          </p:cNvPr>
          <p:cNvSpPr>
            <a:spLocks noGrp="1"/>
          </p:cNvSpPr>
          <p:nvPr>
            <p:ph idx="1"/>
          </p:nvPr>
        </p:nvSpPr>
        <p:spPr>
          <a:xfrm>
            <a:off x="1104293" y="4380482"/>
            <a:ext cx="8946541" cy="2113837"/>
          </a:xfrm>
        </p:spPr>
        <p:txBody>
          <a:bodyPr/>
          <a:lstStyle/>
          <a:p>
            <a:pPr lvl="0"/>
            <a:r>
              <a:rPr lang="en-US" dirty="0"/>
              <a:t>Denormalized </a:t>
            </a:r>
            <a:r>
              <a:rPr lang="en-US" dirty="0" err="1"/>
              <a:t>qos_denormalized</a:t>
            </a:r>
            <a:r>
              <a:rPr lang="en-US" dirty="0"/>
              <a:t> </a:t>
            </a:r>
          </a:p>
          <a:p>
            <a:pPr lvl="0"/>
            <a:r>
              <a:rPr lang="en-US" dirty="0"/>
              <a:t>317,998 measurements </a:t>
            </a:r>
          </a:p>
          <a:p>
            <a:pPr lvl="0"/>
            <a:r>
              <a:rPr lang="en-US" dirty="0"/>
              <a:t>partitioned by </a:t>
            </a:r>
            <a:r>
              <a:rPr lang="en-US" dirty="0" err="1"/>
              <a:t>date_start</a:t>
            </a:r>
            <a:r>
              <a:rPr lang="en-US" dirty="0"/>
              <a:t> </a:t>
            </a:r>
          </a:p>
          <a:p>
            <a:pPr lvl="0"/>
            <a:r>
              <a:rPr lang="en-US" dirty="0"/>
              <a:t>clustered by operator/protocol/department/commune</a:t>
            </a:r>
          </a:p>
          <a:p>
            <a:endParaRPr lang="en-US" dirty="0"/>
          </a:p>
        </p:txBody>
      </p:sp>
      <p:sp>
        <p:nvSpPr>
          <p:cNvPr id="4" name="Content Placeholder 2">
            <a:extLst>
              <a:ext uri="{FF2B5EF4-FFF2-40B4-BE49-F238E27FC236}">
                <a16:creationId xmlns:a16="http://schemas.microsoft.com/office/drawing/2014/main" id="{E3C0066E-E482-FAEE-D85C-458863FB650D}"/>
              </a:ext>
            </a:extLst>
          </p:cNvPr>
          <p:cNvSpPr txBox="1">
            <a:spLocks/>
          </p:cNvSpPr>
          <p:nvPr/>
        </p:nvSpPr>
        <p:spPr>
          <a:xfrm>
            <a:off x="1104292" y="1976720"/>
            <a:ext cx="8946541" cy="1826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lvl="0"/>
            <a:r>
              <a:rPr lang="en-US" dirty="0"/>
              <a:t>PK/FK structure </a:t>
            </a:r>
          </a:p>
          <a:p>
            <a:pPr lvl="0"/>
            <a:r>
              <a:rPr lang="en-US" dirty="0"/>
              <a:t>joins </a:t>
            </a:r>
          </a:p>
          <a:p>
            <a:pPr lvl="0"/>
            <a:r>
              <a:rPr lang="en-US" dirty="0"/>
              <a:t>site aggregation to avoid measurement duplication </a:t>
            </a:r>
          </a:p>
          <a:p>
            <a:pPr lvl="0"/>
            <a:r>
              <a:rPr lang="en-US" dirty="0"/>
              <a:t>final relational model</a:t>
            </a:r>
          </a:p>
          <a:p>
            <a:endParaRPr lang="en-US" dirty="0"/>
          </a:p>
        </p:txBody>
      </p:sp>
      <p:sp>
        <p:nvSpPr>
          <p:cNvPr id="5" name="Title 1">
            <a:extLst>
              <a:ext uri="{FF2B5EF4-FFF2-40B4-BE49-F238E27FC236}">
                <a16:creationId xmlns:a16="http://schemas.microsoft.com/office/drawing/2014/main" id="{627F50F5-391D-8999-BC49-91CF0CA21C8B}"/>
              </a:ext>
            </a:extLst>
          </p:cNvPr>
          <p:cNvSpPr txBox="1">
            <a:spLocks/>
          </p:cNvSpPr>
          <p:nvPr/>
        </p:nvSpPr>
        <p:spPr>
          <a:xfrm>
            <a:off x="995938" y="1319645"/>
            <a:ext cx="5010007" cy="657075"/>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a:t>MySQL relational database</a:t>
            </a:r>
          </a:p>
        </p:txBody>
      </p:sp>
      <p:sp>
        <p:nvSpPr>
          <p:cNvPr id="7" name="Title 1">
            <a:extLst>
              <a:ext uri="{FF2B5EF4-FFF2-40B4-BE49-F238E27FC236}">
                <a16:creationId xmlns:a16="http://schemas.microsoft.com/office/drawing/2014/main" id="{17E9B05E-D49B-0142-D59E-2762A6C2E606}"/>
              </a:ext>
            </a:extLst>
          </p:cNvPr>
          <p:cNvSpPr txBox="1">
            <a:spLocks/>
          </p:cNvSpPr>
          <p:nvPr/>
        </p:nvSpPr>
        <p:spPr>
          <a:xfrm>
            <a:off x="1104292" y="3882736"/>
            <a:ext cx="5010007" cy="657075"/>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err="1"/>
              <a:t>BigQuery</a:t>
            </a:r>
            <a:endParaRPr lang="en-US" sz="2800" b="1" dirty="0"/>
          </a:p>
        </p:txBody>
      </p:sp>
    </p:spTree>
    <p:extLst>
      <p:ext uri="{BB962C8B-B14F-4D97-AF65-F5344CB8AC3E}">
        <p14:creationId xmlns:p14="http://schemas.microsoft.com/office/powerpoint/2010/main" val="31236217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5B018D-710E-0EF3-AA19-31E6A1073E20}"/>
              </a:ext>
            </a:extLst>
          </p:cNvPr>
          <p:cNvSpPr>
            <a:spLocks noGrp="1"/>
          </p:cNvSpPr>
          <p:nvPr>
            <p:ph type="title"/>
          </p:nvPr>
        </p:nvSpPr>
        <p:spPr/>
        <p:txBody>
          <a:bodyPr/>
          <a:lstStyle/>
          <a:p>
            <a:r>
              <a:rPr lang="en-US" dirty="0"/>
              <a:t>EDA / Analytics</a:t>
            </a:r>
          </a:p>
        </p:txBody>
      </p:sp>
      <p:sp>
        <p:nvSpPr>
          <p:cNvPr id="3" name="Content Placeholder 2">
            <a:extLst>
              <a:ext uri="{FF2B5EF4-FFF2-40B4-BE49-F238E27FC236}">
                <a16:creationId xmlns:a16="http://schemas.microsoft.com/office/drawing/2014/main" id="{CB7BE66B-8FD3-3B9D-556F-EF475C22E273}"/>
              </a:ext>
            </a:extLst>
          </p:cNvPr>
          <p:cNvSpPr>
            <a:spLocks noGrp="1"/>
          </p:cNvSpPr>
          <p:nvPr>
            <p:ph idx="1"/>
          </p:nvPr>
        </p:nvSpPr>
        <p:spPr/>
        <p:txBody>
          <a:bodyPr/>
          <a:lstStyle/>
          <a:p>
            <a:r>
              <a:rPr lang="en-US" dirty="0"/>
              <a:t>Dataset overview:</a:t>
            </a:r>
          </a:p>
          <a:p>
            <a:endParaRPr lang="en-US" dirty="0"/>
          </a:p>
          <a:p>
            <a:endParaRPr lang="en-US" dirty="0"/>
          </a:p>
          <a:p>
            <a:r>
              <a:rPr lang="en-US" dirty="0"/>
              <a:t>Measurement distribution:</a:t>
            </a:r>
          </a:p>
          <a:p>
            <a:endParaRPr lang="en-US" dirty="0"/>
          </a:p>
          <a:p>
            <a:endParaRPr lang="en-US" dirty="0"/>
          </a:p>
          <a:p>
            <a:r>
              <a:rPr lang="en-US" dirty="0"/>
              <a:t>Radio conditions — operator/environment</a:t>
            </a:r>
          </a:p>
          <a:p>
            <a:endParaRPr lang="en-US" dirty="0"/>
          </a:p>
          <a:p>
            <a:endParaRPr lang="en-US" dirty="0"/>
          </a:p>
          <a:p>
            <a:endParaRPr lang="en-US" dirty="0"/>
          </a:p>
        </p:txBody>
      </p:sp>
    </p:spTree>
    <p:extLst>
      <p:ext uri="{BB962C8B-B14F-4D97-AF65-F5344CB8AC3E}">
        <p14:creationId xmlns:p14="http://schemas.microsoft.com/office/powerpoint/2010/main" val="10389950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97808-0148-A72C-9BE3-74E4E592A827}"/>
              </a:ext>
            </a:extLst>
          </p:cNvPr>
          <p:cNvSpPr>
            <a:spLocks noGrp="1"/>
          </p:cNvSpPr>
          <p:nvPr>
            <p:ph type="title"/>
          </p:nvPr>
        </p:nvSpPr>
        <p:spPr/>
        <p:txBody>
          <a:bodyPr/>
          <a:lstStyle/>
          <a:p>
            <a:r>
              <a:rPr lang="fr-FR" dirty="0"/>
              <a:t>Radio conditions</a:t>
            </a:r>
            <a:endParaRPr lang="en-US" dirty="0"/>
          </a:p>
        </p:txBody>
      </p:sp>
      <p:pic>
        <p:nvPicPr>
          <p:cNvPr id="7" name="Content Placeholder 6">
            <a:extLst>
              <a:ext uri="{FF2B5EF4-FFF2-40B4-BE49-F238E27FC236}">
                <a16:creationId xmlns:a16="http://schemas.microsoft.com/office/drawing/2014/main" id="{463227D7-241F-1476-612F-179456F0DBF6}"/>
              </a:ext>
            </a:extLst>
          </p:cNvPr>
          <p:cNvPicPr>
            <a:picLocks noGrp="1" noChangeAspect="1"/>
          </p:cNvPicPr>
          <p:nvPr>
            <p:ph idx="1"/>
          </p:nvPr>
        </p:nvPicPr>
        <p:blipFill>
          <a:blip r:embed="rId2"/>
          <a:stretch>
            <a:fillRect/>
          </a:stretch>
        </p:blipFill>
        <p:spPr>
          <a:xfrm>
            <a:off x="646111" y="2091559"/>
            <a:ext cx="3919397" cy="3388893"/>
          </a:xfrm>
          <a:prstGeom prst="rect">
            <a:avLst/>
          </a:prstGeom>
        </p:spPr>
      </p:pic>
      <p:pic>
        <p:nvPicPr>
          <p:cNvPr id="9" name="Picture 8">
            <a:extLst>
              <a:ext uri="{FF2B5EF4-FFF2-40B4-BE49-F238E27FC236}">
                <a16:creationId xmlns:a16="http://schemas.microsoft.com/office/drawing/2014/main" id="{9FCA8801-8E79-78B8-6E91-9A8C7E8B1083}"/>
              </a:ext>
            </a:extLst>
          </p:cNvPr>
          <p:cNvPicPr>
            <a:picLocks noChangeAspect="1"/>
          </p:cNvPicPr>
          <p:nvPr/>
        </p:nvPicPr>
        <p:blipFill>
          <a:blip r:embed="rId3"/>
          <a:stretch>
            <a:fillRect/>
          </a:stretch>
        </p:blipFill>
        <p:spPr>
          <a:xfrm>
            <a:off x="4971393" y="2119854"/>
            <a:ext cx="4174998" cy="3346312"/>
          </a:xfrm>
          <a:prstGeom prst="rect">
            <a:avLst/>
          </a:prstGeom>
        </p:spPr>
      </p:pic>
      <p:sp>
        <p:nvSpPr>
          <p:cNvPr id="10" name="TextBox 9">
            <a:extLst>
              <a:ext uri="{FF2B5EF4-FFF2-40B4-BE49-F238E27FC236}">
                <a16:creationId xmlns:a16="http://schemas.microsoft.com/office/drawing/2014/main" id="{1C9009A3-A992-8272-8340-DBAB73D7036C}"/>
              </a:ext>
            </a:extLst>
          </p:cNvPr>
          <p:cNvSpPr txBox="1"/>
          <p:nvPr/>
        </p:nvSpPr>
        <p:spPr>
          <a:xfrm>
            <a:off x="1072055" y="5752433"/>
            <a:ext cx="8366235" cy="923330"/>
          </a:xfrm>
          <a:prstGeom prst="rect">
            <a:avLst/>
          </a:prstGeom>
          <a:noFill/>
        </p:spPr>
        <p:txBody>
          <a:bodyPr wrap="square" rtlCol="0">
            <a:spAutoFit/>
          </a:bodyPr>
          <a:lstStyle/>
          <a:p>
            <a:r>
              <a:rPr lang="en-US" dirty="0"/>
              <a:t>Orange and SFR show stronger signal levels, while Orange also provides the best radio quality (RSRQ). Free Mobile records the weakest RSRP across all environments.</a:t>
            </a:r>
          </a:p>
        </p:txBody>
      </p:sp>
    </p:spTree>
    <p:extLst>
      <p:ext uri="{BB962C8B-B14F-4D97-AF65-F5344CB8AC3E}">
        <p14:creationId xmlns:p14="http://schemas.microsoft.com/office/powerpoint/2010/main" val="23319722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A073D-DA10-1EF1-EDEC-253F1E9D0E75}"/>
              </a:ext>
            </a:extLst>
          </p:cNvPr>
          <p:cNvSpPr>
            <a:spLocks noGrp="1"/>
          </p:cNvSpPr>
          <p:nvPr>
            <p:ph type="title"/>
          </p:nvPr>
        </p:nvSpPr>
        <p:spPr/>
        <p:txBody>
          <a:bodyPr/>
          <a:lstStyle/>
          <a:p>
            <a:r>
              <a:rPr lang="en-US" dirty="0"/>
              <a:t>territorial inequalities Analytics</a:t>
            </a:r>
          </a:p>
        </p:txBody>
      </p:sp>
      <p:sp>
        <p:nvSpPr>
          <p:cNvPr id="3" name="Content Placeholder 2">
            <a:extLst>
              <a:ext uri="{FF2B5EF4-FFF2-40B4-BE49-F238E27FC236}">
                <a16:creationId xmlns:a16="http://schemas.microsoft.com/office/drawing/2014/main" id="{F1F6B34D-9E3D-6C35-CDB4-409923430A6F}"/>
              </a:ext>
            </a:extLst>
          </p:cNvPr>
          <p:cNvSpPr>
            <a:spLocks noGrp="1"/>
          </p:cNvSpPr>
          <p:nvPr>
            <p:ph idx="1"/>
          </p:nvPr>
        </p:nvSpPr>
        <p:spPr/>
        <p:txBody>
          <a:bodyPr/>
          <a:lstStyle/>
          <a:p>
            <a:r>
              <a:rPr lang="en-US" dirty="0"/>
              <a:t>Region × Operator → RSRP / RSRQ</a:t>
            </a:r>
          </a:p>
          <a:p>
            <a:endParaRPr lang="en-US" dirty="0"/>
          </a:p>
          <a:p>
            <a:r>
              <a:rPr lang="en-US" dirty="0"/>
              <a:t>Region → service performance</a:t>
            </a:r>
          </a:p>
          <a:p>
            <a:endParaRPr lang="en-US" dirty="0"/>
          </a:p>
          <a:p>
            <a:r>
              <a:rPr lang="en-US" dirty="0"/>
              <a:t>Region → infrastructure</a:t>
            </a:r>
          </a:p>
          <a:p>
            <a:endParaRPr lang="en-US" dirty="0"/>
          </a:p>
          <a:p>
            <a:r>
              <a:rPr lang="en-US" dirty="0"/>
              <a:t>Infrastructure ↔ radio/performance</a:t>
            </a:r>
          </a:p>
        </p:txBody>
      </p:sp>
    </p:spTree>
    <p:extLst>
      <p:ext uri="{BB962C8B-B14F-4D97-AF65-F5344CB8AC3E}">
        <p14:creationId xmlns:p14="http://schemas.microsoft.com/office/powerpoint/2010/main" val="4189441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295A0-9504-F229-B6AB-FDE37E1A06A8}"/>
              </a:ext>
            </a:extLst>
          </p:cNvPr>
          <p:cNvSpPr>
            <a:spLocks noGrp="1"/>
          </p:cNvSpPr>
          <p:nvPr>
            <p:ph type="title"/>
          </p:nvPr>
        </p:nvSpPr>
        <p:spPr/>
        <p:txBody>
          <a:bodyPr/>
          <a:lstStyle/>
          <a:p>
            <a:r>
              <a:rPr lang="en-US" dirty="0"/>
              <a:t>Territorial radio conditions:</a:t>
            </a:r>
            <a:br>
              <a:rPr lang="en-US" dirty="0"/>
            </a:br>
            <a:r>
              <a:rPr lang="en-US" sz="2800" dirty="0"/>
              <a:t> Region × Operator → RSRP / RSRQ</a:t>
            </a:r>
            <a:br>
              <a:rPr lang="en-US" dirty="0"/>
            </a:br>
            <a:br>
              <a:rPr lang="en-US" dirty="0"/>
            </a:br>
            <a:endParaRPr lang="en-US" dirty="0"/>
          </a:p>
        </p:txBody>
      </p:sp>
      <p:pic>
        <p:nvPicPr>
          <p:cNvPr id="7" name="Content Placeholder 6">
            <a:extLst>
              <a:ext uri="{FF2B5EF4-FFF2-40B4-BE49-F238E27FC236}">
                <a16:creationId xmlns:a16="http://schemas.microsoft.com/office/drawing/2014/main" id="{71600BCD-DB07-6D9D-AAC4-2F13F518F397}"/>
              </a:ext>
            </a:extLst>
          </p:cNvPr>
          <p:cNvPicPr>
            <a:picLocks noGrp="1" noChangeAspect="1"/>
          </p:cNvPicPr>
          <p:nvPr>
            <p:ph idx="1"/>
          </p:nvPr>
        </p:nvPicPr>
        <p:blipFill>
          <a:blip r:embed="rId2"/>
          <a:stretch>
            <a:fillRect/>
          </a:stretch>
        </p:blipFill>
        <p:spPr>
          <a:xfrm>
            <a:off x="6174214" y="3341389"/>
            <a:ext cx="5559268" cy="2976282"/>
          </a:xfrm>
          <a:prstGeom prst="rect">
            <a:avLst/>
          </a:prstGeom>
          <a:ln w="38100" cap="sq">
            <a:solidFill>
              <a:schemeClr val="bg2">
                <a:lumMod val="60000"/>
                <a:lumOff val="40000"/>
              </a:schemeClr>
            </a:solidFill>
            <a:prstDash val="solid"/>
            <a:miter lim="800000"/>
          </a:ln>
          <a:effectLst>
            <a:outerShdw blurRad="50800" dist="38100" dir="2700000" algn="tl" rotWithShape="0">
              <a:srgbClr val="000000">
                <a:alpha val="43000"/>
              </a:srgbClr>
            </a:outerShdw>
          </a:effectLst>
        </p:spPr>
      </p:pic>
      <p:pic>
        <p:nvPicPr>
          <p:cNvPr id="9" name="Picture 8">
            <a:extLst>
              <a:ext uri="{FF2B5EF4-FFF2-40B4-BE49-F238E27FC236}">
                <a16:creationId xmlns:a16="http://schemas.microsoft.com/office/drawing/2014/main" id="{E7E9C7BC-8132-7A5C-CE20-F24CE30DA32D}"/>
              </a:ext>
            </a:extLst>
          </p:cNvPr>
          <p:cNvPicPr>
            <a:picLocks noChangeAspect="1"/>
          </p:cNvPicPr>
          <p:nvPr/>
        </p:nvPicPr>
        <p:blipFill>
          <a:blip r:embed="rId3"/>
          <a:stretch>
            <a:fillRect/>
          </a:stretch>
        </p:blipFill>
        <p:spPr>
          <a:xfrm>
            <a:off x="496301" y="3341388"/>
            <a:ext cx="5559268" cy="3003283"/>
          </a:xfrm>
          <a:prstGeom prst="rect">
            <a:avLst/>
          </a:prstGeom>
          <a:ln w="38100" cap="sq">
            <a:solidFill>
              <a:schemeClr val="bg2">
                <a:lumMod val="60000"/>
                <a:lumOff val="40000"/>
              </a:schemeClr>
            </a:solidFill>
            <a:prstDash val="solid"/>
            <a:miter lim="800000"/>
          </a:ln>
          <a:effectLst>
            <a:outerShdw blurRad="50800" dist="38100" dir="2700000" algn="tl" rotWithShape="0">
              <a:srgbClr val="000000">
                <a:alpha val="43000"/>
              </a:srgbClr>
            </a:outerShdw>
          </a:effectLst>
        </p:spPr>
      </p:pic>
      <p:sp>
        <p:nvSpPr>
          <p:cNvPr id="10" name="TextBox 9">
            <a:extLst>
              <a:ext uri="{FF2B5EF4-FFF2-40B4-BE49-F238E27FC236}">
                <a16:creationId xmlns:a16="http://schemas.microsoft.com/office/drawing/2014/main" id="{35F6159D-A103-5C84-7632-C6A6E8608760}"/>
              </a:ext>
            </a:extLst>
          </p:cNvPr>
          <p:cNvSpPr txBox="1"/>
          <p:nvPr/>
        </p:nvSpPr>
        <p:spPr>
          <a:xfrm>
            <a:off x="496301" y="1735279"/>
            <a:ext cx="11237181" cy="1200329"/>
          </a:xfrm>
          <a:prstGeom prst="rect">
            <a:avLst/>
          </a:prstGeom>
          <a:noFill/>
        </p:spPr>
        <p:txBody>
          <a:bodyPr wrap="square" rtlCol="0">
            <a:spAutoFit/>
          </a:bodyPr>
          <a:lstStyle/>
          <a:p>
            <a:r>
              <a:rPr lang="en-US" dirty="0"/>
              <a:t>Territorial inequalities are observed for both signal strength (RSRP) and signal quality (RSRQ), but they do not affect operators in the same way. Bouygues Telecom shows the largest regional variation in RSRP, while SFR shows the largest variation in RSRQ. This indicates that territorial disparities depend on the radio performance dimension considered.</a:t>
            </a:r>
          </a:p>
        </p:txBody>
      </p:sp>
    </p:spTree>
    <p:extLst>
      <p:ext uri="{BB962C8B-B14F-4D97-AF65-F5344CB8AC3E}">
        <p14:creationId xmlns:p14="http://schemas.microsoft.com/office/powerpoint/2010/main" val="14657221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6523C-4CB5-0AAD-C49E-F4811AAFFC2F}"/>
              </a:ext>
            </a:extLst>
          </p:cNvPr>
          <p:cNvSpPr>
            <a:spLocks noGrp="1"/>
          </p:cNvSpPr>
          <p:nvPr>
            <p:ph type="title"/>
          </p:nvPr>
        </p:nvSpPr>
        <p:spPr/>
        <p:txBody>
          <a:bodyPr/>
          <a:lstStyle/>
          <a:p>
            <a:r>
              <a:rPr lang="en-US" dirty="0"/>
              <a:t>Region → service performance</a:t>
            </a:r>
            <a:br>
              <a:rPr lang="en-US" dirty="0"/>
            </a:br>
            <a:endParaRPr lang="en-US" dirty="0"/>
          </a:p>
        </p:txBody>
      </p:sp>
      <p:sp>
        <p:nvSpPr>
          <p:cNvPr id="3" name="Content Placeholder 2">
            <a:extLst>
              <a:ext uri="{FF2B5EF4-FFF2-40B4-BE49-F238E27FC236}">
                <a16:creationId xmlns:a16="http://schemas.microsoft.com/office/drawing/2014/main" id="{165E9A46-AD78-CF29-D397-CF90BC060897}"/>
              </a:ext>
            </a:extLst>
          </p:cNvPr>
          <p:cNvSpPr>
            <a:spLocks noGrp="1"/>
          </p:cNvSpPr>
          <p:nvPr>
            <p:ph idx="1"/>
          </p:nvPr>
        </p:nvSpPr>
        <p:spPr/>
        <p:txBody>
          <a:bodyPr/>
          <a:lstStyle/>
          <a:p>
            <a:r>
              <a:rPr lang="fr-FR" dirty="0"/>
              <a:t>Paste </a:t>
            </a:r>
            <a:r>
              <a:rPr lang="fr-FR" dirty="0" err="1"/>
              <a:t>region</a:t>
            </a:r>
            <a:r>
              <a:rPr lang="fr-FR" dirty="0"/>
              <a:t>/</a:t>
            </a:r>
            <a:r>
              <a:rPr lang="fr-FR" dirty="0" err="1"/>
              <a:t>operators</a:t>
            </a:r>
            <a:r>
              <a:rPr lang="fr-FR" dirty="0"/>
              <a:t> </a:t>
            </a:r>
            <a:r>
              <a:rPr lang="fr-FR" dirty="0" err="1"/>
              <a:t>disparities</a:t>
            </a:r>
            <a:r>
              <a:rPr lang="fr-FR" dirty="0"/>
              <a:t> of WEB+DOWNLOAD+UPLOAD+STREAM</a:t>
            </a:r>
            <a:endParaRPr lang="en-US" dirty="0"/>
          </a:p>
        </p:txBody>
      </p:sp>
    </p:spTree>
    <p:extLst>
      <p:ext uri="{BB962C8B-B14F-4D97-AF65-F5344CB8AC3E}">
        <p14:creationId xmlns:p14="http://schemas.microsoft.com/office/powerpoint/2010/main" val="346414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7C18A-3512-9941-A695-6B0B0C6BA7AF}"/>
              </a:ext>
            </a:extLst>
          </p:cNvPr>
          <p:cNvSpPr>
            <a:spLocks noGrp="1"/>
          </p:cNvSpPr>
          <p:nvPr>
            <p:ph type="title"/>
          </p:nvPr>
        </p:nvSpPr>
        <p:spPr>
          <a:xfrm>
            <a:off x="646111" y="452718"/>
            <a:ext cx="9404723" cy="763018"/>
          </a:xfrm>
        </p:spPr>
        <p:txBody>
          <a:bodyPr/>
          <a:lstStyle/>
          <a:p>
            <a:r>
              <a:rPr lang="fr-FR" dirty="0" err="1"/>
              <a:t>What</a:t>
            </a:r>
            <a:r>
              <a:rPr lang="fr-FR" dirty="0"/>
              <a:t> can </a:t>
            </a:r>
            <a:r>
              <a:rPr lang="fr-FR" dirty="0" err="1"/>
              <a:t>explain</a:t>
            </a:r>
            <a:r>
              <a:rPr lang="fr-FR" dirty="0"/>
              <a:t> </a:t>
            </a:r>
            <a:r>
              <a:rPr lang="fr-FR" dirty="0" err="1"/>
              <a:t>these</a:t>
            </a:r>
            <a:r>
              <a:rPr lang="fr-FR" dirty="0"/>
              <a:t> </a:t>
            </a:r>
            <a:r>
              <a:rPr lang="fr-FR" dirty="0" err="1"/>
              <a:t>diparities</a:t>
            </a:r>
            <a:r>
              <a:rPr lang="fr-FR" dirty="0"/>
              <a:t>?</a:t>
            </a:r>
            <a:endParaRPr lang="en-US" dirty="0"/>
          </a:p>
        </p:txBody>
      </p:sp>
      <p:sp>
        <p:nvSpPr>
          <p:cNvPr id="3" name="Content Placeholder 2">
            <a:extLst>
              <a:ext uri="{FF2B5EF4-FFF2-40B4-BE49-F238E27FC236}">
                <a16:creationId xmlns:a16="http://schemas.microsoft.com/office/drawing/2014/main" id="{B518290B-8792-B79F-D5D2-2B28CD4F7B80}"/>
              </a:ext>
            </a:extLst>
          </p:cNvPr>
          <p:cNvSpPr>
            <a:spLocks noGrp="1"/>
          </p:cNvSpPr>
          <p:nvPr>
            <p:ph idx="1"/>
          </p:nvPr>
        </p:nvSpPr>
        <p:spPr>
          <a:xfrm>
            <a:off x="646111" y="1887296"/>
            <a:ext cx="5266315" cy="3522517"/>
          </a:xfrm>
        </p:spPr>
        <p:txBody>
          <a:bodyPr>
            <a:normAutofit fontScale="92500" lnSpcReduction="10000"/>
          </a:bodyPr>
          <a:lstStyle/>
          <a:p>
            <a:pPr lvl="0"/>
            <a:r>
              <a:rPr lang="en-US" b="1" dirty="0"/>
              <a:t>All operators together:</a:t>
            </a:r>
            <a:r>
              <a:rPr lang="en-US" dirty="0"/>
              <a:t> negative trend. </a:t>
            </a:r>
          </a:p>
          <a:p>
            <a:pPr lvl="0"/>
            <a:r>
              <a:rPr lang="en-US" b="1" dirty="0"/>
              <a:t>Within each operator:</a:t>
            </a:r>
            <a:r>
              <a:rPr lang="en-US" dirty="0"/>
              <a:t> mostly positive trend.</a:t>
            </a:r>
          </a:p>
          <a:p>
            <a:pPr lvl="0"/>
            <a:r>
              <a:rPr lang="en-US" dirty="0"/>
              <a:t>Operators have different performance levels and different deployment strategies.</a:t>
            </a:r>
          </a:p>
          <a:p>
            <a:pPr lvl="1">
              <a:buFont typeface="Wingdings" panose="05000000000000000000" pitchFamily="2" charset="2"/>
              <a:buChar char="§"/>
            </a:pPr>
            <a:r>
              <a:rPr lang="en-US" dirty="0"/>
              <a:t>Orange tends to have </a:t>
            </a:r>
            <a:r>
              <a:rPr lang="en-US" b="1" dirty="0"/>
              <a:t>higher download speeds</a:t>
            </a:r>
            <a:r>
              <a:rPr lang="en-US" dirty="0"/>
              <a:t> but lower 5G deployment rates. </a:t>
            </a:r>
          </a:p>
          <a:p>
            <a:pPr lvl="1">
              <a:buFont typeface="Wingdings" panose="05000000000000000000" pitchFamily="2" charset="2"/>
              <a:buChar char="§"/>
            </a:pPr>
            <a:r>
              <a:rPr lang="en-US" dirty="0"/>
              <a:t>Free tends to have </a:t>
            </a:r>
            <a:r>
              <a:rPr lang="en-US" b="1" dirty="0"/>
              <a:t>higher 5G deployment rates</a:t>
            </a:r>
            <a:r>
              <a:rPr lang="en-US" dirty="0"/>
              <a:t> but lower download speeds.</a:t>
            </a:r>
          </a:p>
          <a:p>
            <a:pPr lvl="0"/>
            <a:endParaRPr lang="en-US" dirty="0"/>
          </a:p>
        </p:txBody>
      </p:sp>
      <p:sp>
        <p:nvSpPr>
          <p:cNvPr id="5" name="TextBox 4">
            <a:extLst>
              <a:ext uri="{FF2B5EF4-FFF2-40B4-BE49-F238E27FC236}">
                <a16:creationId xmlns:a16="http://schemas.microsoft.com/office/drawing/2014/main" id="{A2CABBC9-180B-A74D-F353-179B907B520E}"/>
              </a:ext>
            </a:extLst>
          </p:cNvPr>
          <p:cNvSpPr txBox="1"/>
          <p:nvPr/>
        </p:nvSpPr>
        <p:spPr>
          <a:xfrm>
            <a:off x="260976" y="1129486"/>
            <a:ext cx="6094268" cy="646331"/>
          </a:xfrm>
          <a:prstGeom prst="rect">
            <a:avLst/>
          </a:prstGeom>
          <a:noFill/>
        </p:spPr>
        <p:txBody>
          <a:bodyPr wrap="square">
            <a:spAutoFit/>
          </a:bodyPr>
          <a:lstStyle/>
          <a:p>
            <a:r>
              <a:rPr lang="en-US" dirty="0"/>
              <a:t>Does having more 5G infrastructure correspond to better measured service performance?</a:t>
            </a:r>
            <a:endParaRPr lang="en-US" b="1" dirty="0"/>
          </a:p>
        </p:txBody>
      </p:sp>
      <p:pic>
        <p:nvPicPr>
          <p:cNvPr id="13" name="Picture 12">
            <a:extLst>
              <a:ext uri="{FF2B5EF4-FFF2-40B4-BE49-F238E27FC236}">
                <a16:creationId xmlns:a16="http://schemas.microsoft.com/office/drawing/2014/main" id="{35DD5FC5-D56D-B80E-8976-B6506926B57A}"/>
              </a:ext>
            </a:extLst>
          </p:cNvPr>
          <p:cNvPicPr>
            <a:picLocks noChangeAspect="1"/>
          </p:cNvPicPr>
          <p:nvPr/>
        </p:nvPicPr>
        <p:blipFill>
          <a:blip r:embed="rId2"/>
          <a:stretch>
            <a:fillRect/>
          </a:stretch>
        </p:blipFill>
        <p:spPr>
          <a:xfrm>
            <a:off x="6912360" y="3751763"/>
            <a:ext cx="4633529" cy="2969859"/>
          </a:xfrm>
          <a:prstGeom prst="rect">
            <a:avLst/>
          </a:prstGeom>
          <a:ln w="38100" cap="sq">
            <a:solidFill>
              <a:schemeClr val="bg2">
                <a:lumMod val="60000"/>
                <a:lumOff val="40000"/>
              </a:schemeClr>
            </a:solidFill>
            <a:prstDash val="solid"/>
            <a:miter lim="800000"/>
          </a:ln>
          <a:effectLst>
            <a:outerShdw blurRad="50800" dist="38100" dir="2700000" algn="tl" rotWithShape="0">
              <a:srgbClr val="000000">
                <a:alpha val="43000"/>
              </a:srgbClr>
            </a:outerShdw>
          </a:effectLst>
        </p:spPr>
      </p:pic>
      <p:pic>
        <p:nvPicPr>
          <p:cNvPr id="15" name="Picture 14">
            <a:extLst>
              <a:ext uri="{FF2B5EF4-FFF2-40B4-BE49-F238E27FC236}">
                <a16:creationId xmlns:a16="http://schemas.microsoft.com/office/drawing/2014/main" id="{B86E2EB3-9429-A2E1-58F9-8705C3C7528E}"/>
              </a:ext>
            </a:extLst>
          </p:cNvPr>
          <p:cNvPicPr>
            <a:picLocks noChangeAspect="1"/>
          </p:cNvPicPr>
          <p:nvPr/>
        </p:nvPicPr>
        <p:blipFill>
          <a:blip r:embed="rId3"/>
          <a:stretch>
            <a:fillRect/>
          </a:stretch>
        </p:blipFill>
        <p:spPr>
          <a:xfrm>
            <a:off x="6912360" y="452718"/>
            <a:ext cx="4633529" cy="3053917"/>
          </a:xfrm>
          <a:prstGeom prst="rect">
            <a:avLst/>
          </a:prstGeom>
          <a:ln w="38100" cap="sq">
            <a:solidFill>
              <a:schemeClr val="bg2">
                <a:lumMod val="60000"/>
                <a:lumOff val="40000"/>
              </a:schemeClr>
            </a:solidFill>
            <a:prstDash val="solid"/>
            <a:miter lim="800000"/>
          </a:ln>
          <a:effectLst>
            <a:outerShdw blurRad="50800" dist="38100" dir="2700000" algn="tl" rotWithShape="0">
              <a:srgbClr val="000000">
                <a:alpha val="43000"/>
              </a:srgbClr>
            </a:outerShdw>
          </a:effectLst>
        </p:spPr>
      </p:pic>
      <p:sp>
        <p:nvSpPr>
          <p:cNvPr id="17" name="TextBox 16">
            <a:extLst>
              <a:ext uri="{FF2B5EF4-FFF2-40B4-BE49-F238E27FC236}">
                <a16:creationId xmlns:a16="http://schemas.microsoft.com/office/drawing/2014/main" id="{FB0FF23D-596E-465E-4D7A-3AA85C508C9F}"/>
              </a:ext>
            </a:extLst>
          </p:cNvPr>
          <p:cNvSpPr txBox="1"/>
          <p:nvPr/>
        </p:nvSpPr>
        <p:spPr>
          <a:xfrm>
            <a:off x="646111" y="5521293"/>
            <a:ext cx="6094268" cy="1200329"/>
          </a:xfrm>
          <a:prstGeom prst="rect">
            <a:avLst/>
          </a:prstGeom>
          <a:noFill/>
        </p:spPr>
        <p:txBody>
          <a:bodyPr wrap="square">
            <a:spAutoFit/>
          </a:bodyPr>
          <a:lstStyle/>
          <a:p>
            <a:r>
              <a:rPr lang="en-US" dirty="0">
                <a:solidFill>
                  <a:srgbClr val="FFFF00"/>
                </a:solidFill>
              </a:rPr>
              <a:t>5G infrastructure does appear to contribute to performance, but infrastructure alone does not explain the observed disparities. Operator-specific differences remain important</a:t>
            </a:r>
          </a:p>
        </p:txBody>
      </p:sp>
    </p:spTree>
    <p:extLst>
      <p:ext uri="{BB962C8B-B14F-4D97-AF65-F5344CB8AC3E}">
        <p14:creationId xmlns:p14="http://schemas.microsoft.com/office/powerpoint/2010/main" val="517794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FA3CA-ACB3-E65A-A0F1-43FB4A63D80E}"/>
              </a:ext>
            </a:extLst>
          </p:cNvPr>
          <p:cNvSpPr>
            <a:spLocks noGrp="1"/>
          </p:cNvSpPr>
          <p:nvPr>
            <p:ph type="title"/>
          </p:nvPr>
        </p:nvSpPr>
        <p:spPr/>
        <p:txBody>
          <a:bodyPr/>
          <a:lstStyle/>
          <a:p>
            <a:r>
              <a:rPr lang="en-US" sz="2400" dirty="0"/>
              <a:t>Does the level of genuine 5G infrastructure explain the differences in measured 5G download performance between regions and operators?</a:t>
            </a:r>
          </a:p>
        </p:txBody>
      </p:sp>
      <p:pic>
        <p:nvPicPr>
          <p:cNvPr id="5" name="Content Placeholder 4">
            <a:extLst>
              <a:ext uri="{FF2B5EF4-FFF2-40B4-BE49-F238E27FC236}">
                <a16:creationId xmlns:a16="http://schemas.microsoft.com/office/drawing/2014/main" id="{C41F5F4D-125D-83EE-B2F5-3525D9AAB358}"/>
              </a:ext>
            </a:extLst>
          </p:cNvPr>
          <p:cNvPicPr>
            <a:picLocks noGrp="1" noChangeAspect="1"/>
          </p:cNvPicPr>
          <p:nvPr>
            <p:ph idx="1"/>
          </p:nvPr>
        </p:nvPicPr>
        <p:blipFill>
          <a:blip r:embed="rId2"/>
          <a:stretch>
            <a:fillRect/>
          </a:stretch>
        </p:blipFill>
        <p:spPr>
          <a:xfrm>
            <a:off x="6096000" y="1282261"/>
            <a:ext cx="5307724" cy="5223641"/>
          </a:xfrm>
          <a:prstGeom prst="rect">
            <a:avLst/>
          </a:prstGeom>
        </p:spPr>
      </p:pic>
    </p:spTree>
    <p:extLst>
      <p:ext uri="{BB962C8B-B14F-4D97-AF65-F5344CB8AC3E}">
        <p14:creationId xmlns:p14="http://schemas.microsoft.com/office/powerpoint/2010/main" val="585021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C204C-AF1E-154F-D137-B20C235339AC}"/>
              </a:ext>
            </a:extLst>
          </p:cNvPr>
          <p:cNvSpPr>
            <a:spLocks noGrp="1"/>
          </p:cNvSpPr>
          <p:nvPr>
            <p:ph type="title"/>
          </p:nvPr>
        </p:nvSpPr>
        <p:spPr>
          <a:xfrm>
            <a:off x="469465" y="164997"/>
            <a:ext cx="9404723" cy="1400530"/>
          </a:xfrm>
        </p:spPr>
        <p:txBody>
          <a:bodyPr/>
          <a:lstStyle/>
          <a:p>
            <a:r>
              <a:rPr lang="en-US" sz="2400" b="1" dirty="0"/>
              <a:t>Question:</a:t>
            </a:r>
            <a:br>
              <a:rPr lang="en-US" sz="2400" b="1" dirty="0"/>
            </a:br>
            <a:r>
              <a:rPr lang="en-US" sz="2400" b="1" dirty="0"/>
              <a:t>Do regions with larger populations tend to have different 5G performance?</a:t>
            </a:r>
          </a:p>
        </p:txBody>
      </p:sp>
      <p:sp>
        <p:nvSpPr>
          <p:cNvPr id="3" name="Content Placeholder 2">
            <a:extLst>
              <a:ext uri="{FF2B5EF4-FFF2-40B4-BE49-F238E27FC236}">
                <a16:creationId xmlns:a16="http://schemas.microsoft.com/office/drawing/2014/main" id="{93FC8BCB-1FA8-DFA4-4C98-1E16048BFDB2}"/>
              </a:ext>
            </a:extLst>
          </p:cNvPr>
          <p:cNvSpPr>
            <a:spLocks noGrp="1"/>
          </p:cNvSpPr>
          <p:nvPr>
            <p:ph idx="1"/>
          </p:nvPr>
        </p:nvSpPr>
        <p:spPr>
          <a:xfrm>
            <a:off x="199423" y="1797257"/>
            <a:ext cx="6201377" cy="4195481"/>
          </a:xfrm>
        </p:spPr>
        <p:txBody>
          <a:bodyPr/>
          <a:lstStyle/>
          <a:p>
            <a:pPr lvl="0"/>
            <a:r>
              <a:rPr lang="en-US" b="1" dirty="0"/>
              <a:t>Overall:</a:t>
            </a:r>
            <a:r>
              <a:rPr lang="en-US" dirty="0"/>
              <a:t> a </a:t>
            </a:r>
            <a:r>
              <a:rPr lang="en-US" b="1" dirty="0"/>
              <a:t>positive trend</a:t>
            </a:r>
            <a:r>
              <a:rPr lang="en-US" dirty="0"/>
              <a:t> between regional population and average 5G download speed. </a:t>
            </a:r>
          </a:p>
          <a:p>
            <a:pPr lvl="0"/>
            <a:r>
              <a:rPr lang="en-US" b="1" dirty="0"/>
              <a:t>For each operator:</a:t>
            </a:r>
            <a:r>
              <a:rPr lang="en-US" dirty="0"/>
              <a:t> the trend is also </a:t>
            </a:r>
            <a:r>
              <a:rPr lang="en-US" b="1" dirty="0"/>
              <a:t>positive</a:t>
            </a:r>
            <a:r>
              <a:rPr lang="en-US" dirty="0"/>
              <a:t>.</a:t>
            </a:r>
          </a:p>
          <a:p>
            <a:endParaRPr lang="en-US" dirty="0"/>
          </a:p>
          <a:p>
            <a:pPr>
              <a:buFont typeface="Wingdings" panose="05000000000000000000" pitchFamily="2" charset="2"/>
              <a:buChar char="q"/>
            </a:pPr>
            <a:r>
              <a:rPr lang="en-US" dirty="0"/>
              <a:t>Regional population is positively associated with 5G download performance. This positive relationship is observed both across all operators and within each individual operator. More populated regions tend to exhibit higher average 5G download speeds.</a:t>
            </a:r>
          </a:p>
        </p:txBody>
      </p:sp>
      <p:pic>
        <p:nvPicPr>
          <p:cNvPr id="7" name="Picture 6">
            <a:extLst>
              <a:ext uri="{FF2B5EF4-FFF2-40B4-BE49-F238E27FC236}">
                <a16:creationId xmlns:a16="http://schemas.microsoft.com/office/drawing/2014/main" id="{CB6EFA63-663C-FE0E-85A1-5F0E4F4F6E99}"/>
              </a:ext>
            </a:extLst>
          </p:cNvPr>
          <p:cNvPicPr>
            <a:picLocks noChangeAspect="1"/>
          </p:cNvPicPr>
          <p:nvPr/>
        </p:nvPicPr>
        <p:blipFill>
          <a:blip r:embed="rId2"/>
          <a:stretch>
            <a:fillRect/>
          </a:stretch>
        </p:blipFill>
        <p:spPr>
          <a:xfrm>
            <a:off x="7890805" y="1152983"/>
            <a:ext cx="3197883" cy="2742015"/>
          </a:xfrm>
          <a:prstGeom prst="rect">
            <a:avLst/>
          </a:prstGeom>
        </p:spPr>
      </p:pic>
      <p:pic>
        <p:nvPicPr>
          <p:cNvPr id="9" name="Picture 8">
            <a:extLst>
              <a:ext uri="{FF2B5EF4-FFF2-40B4-BE49-F238E27FC236}">
                <a16:creationId xmlns:a16="http://schemas.microsoft.com/office/drawing/2014/main" id="{4B2E735E-CCAD-8FB9-1B05-D63E1423E222}"/>
              </a:ext>
            </a:extLst>
          </p:cNvPr>
          <p:cNvPicPr>
            <a:picLocks noChangeAspect="1"/>
          </p:cNvPicPr>
          <p:nvPr/>
        </p:nvPicPr>
        <p:blipFill>
          <a:blip r:embed="rId3"/>
          <a:stretch>
            <a:fillRect/>
          </a:stretch>
        </p:blipFill>
        <p:spPr>
          <a:xfrm>
            <a:off x="7914618" y="3993461"/>
            <a:ext cx="3150255" cy="2769231"/>
          </a:xfrm>
          <a:prstGeom prst="rect">
            <a:avLst/>
          </a:prstGeom>
        </p:spPr>
      </p:pic>
    </p:spTree>
    <p:extLst>
      <p:ext uri="{BB962C8B-B14F-4D97-AF65-F5344CB8AC3E}">
        <p14:creationId xmlns:p14="http://schemas.microsoft.com/office/powerpoint/2010/main" val="2302817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33531-CD8E-CD93-73AA-63962A222E7B}"/>
              </a:ext>
            </a:extLst>
          </p:cNvPr>
          <p:cNvSpPr>
            <a:spLocks noGrp="1"/>
          </p:cNvSpPr>
          <p:nvPr>
            <p:ph type="title"/>
          </p:nvPr>
        </p:nvSpPr>
        <p:spPr/>
        <p:txBody>
          <a:bodyPr/>
          <a:lstStyle/>
          <a:p>
            <a:r>
              <a:rPr lang="en-US" dirty="0"/>
              <a:t>Hypothesis 2 — Population vs. 5G download speed</a:t>
            </a:r>
          </a:p>
        </p:txBody>
      </p:sp>
      <p:sp>
        <p:nvSpPr>
          <p:cNvPr id="3" name="Content Placeholder 2">
            <a:extLst>
              <a:ext uri="{FF2B5EF4-FFF2-40B4-BE49-F238E27FC236}">
                <a16:creationId xmlns:a16="http://schemas.microsoft.com/office/drawing/2014/main" id="{7489E646-05CA-F0E0-1A71-DADEC9559DA7}"/>
              </a:ext>
            </a:extLst>
          </p:cNvPr>
          <p:cNvSpPr>
            <a:spLocks noGrp="1"/>
          </p:cNvSpPr>
          <p:nvPr>
            <p:ph idx="1"/>
          </p:nvPr>
        </p:nvSpPr>
        <p:spPr/>
        <p:txBody>
          <a:bodyPr>
            <a:normAutofit lnSpcReduction="10000"/>
          </a:bodyPr>
          <a:lstStyle/>
          <a:p>
            <a:r>
              <a:rPr lang="fr-FR" dirty="0" err="1"/>
              <a:t>Calculate</a:t>
            </a:r>
            <a:r>
              <a:rPr lang="fr-FR" dirty="0"/>
              <a:t> the </a:t>
            </a:r>
            <a:r>
              <a:rPr lang="fr-FR" dirty="0" err="1"/>
              <a:t>spearman</a:t>
            </a:r>
            <a:r>
              <a:rPr lang="fr-FR" dirty="0"/>
              <a:t> association: </a:t>
            </a:r>
            <a:r>
              <a:rPr lang="en-US" dirty="0"/>
              <a:t>We'll use a </a:t>
            </a:r>
            <a:r>
              <a:rPr lang="en-US" b="1" dirty="0"/>
              <a:t>Spearman correlation</a:t>
            </a:r>
            <a:r>
              <a:rPr lang="en-US" dirty="0"/>
              <a:t>, because we're testing whether population and download speed are associated, without assuming a perfectly linear relationship</a:t>
            </a:r>
          </a:p>
          <a:p>
            <a:pPr lvl="1"/>
            <a:r>
              <a:rPr lang="en-US" b="1" dirty="0"/>
              <a:t>H₀:</a:t>
            </a:r>
            <a:r>
              <a:rPr lang="en-US" dirty="0"/>
              <a:t> There is no significant association between regional population and average 5G download speed.</a:t>
            </a:r>
            <a:br>
              <a:rPr lang="en-US" dirty="0"/>
            </a:br>
            <a:r>
              <a:rPr lang="en-US" b="1" dirty="0"/>
              <a:t>H₁:</a:t>
            </a:r>
            <a:r>
              <a:rPr lang="en-US" dirty="0"/>
              <a:t> There is a significant association between regional population and average 5G download speed.</a:t>
            </a:r>
          </a:p>
          <a:p>
            <a:pPr lvl="1"/>
            <a:endParaRPr lang="en-US" dirty="0"/>
          </a:p>
          <a:p>
            <a:pPr lvl="1"/>
            <a:r>
              <a:rPr lang="en-US" dirty="0"/>
              <a:t>The Spearman correlation indicates a statistically significant positive association between regional population and average 5G download speed (ρ = 0.369, p = 0.007). More populated regions tend to have higher average 5G download speeds. </a:t>
            </a:r>
            <a:r>
              <a:rPr lang="en-US"/>
              <a:t>However, this result indicates an association and does not establish a causal relationship.</a:t>
            </a:r>
            <a:endParaRPr lang="en-US" dirty="0"/>
          </a:p>
        </p:txBody>
      </p:sp>
    </p:spTree>
    <p:extLst>
      <p:ext uri="{BB962C8B-B14F-4D97-AF65-F5344CB8AC3E}">
        <p14:creationId xmlns:p14="http://schemas.microsoft.com/office/powerpoint/2010/main" val="3455783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F6E32-27ED-04BE-397F-01F005ECCF3B}"/>
              </a:ext>
            </a:extLst>
          </p:cNvPr>
          <p:cNvSpPr>
            <a:spLocks noGrp="1"/>
          </p:cNvSpPr>
          <p:nvPr>
            <p:ph type="title"/>
          </p:nvPr>
        </p:nvSpPr>
        <p:spPr/>
        <p:txBody>
          <a:bodyPr/>
          <a:lstStyle/>
          <a:p>
            <a:r>
              <a:rPr lang="en-US" sz="2800" b="1" dirty="0"/>
              <a:t>Can differences in 5G radio conditions help explain differences in download performance?</a:t>
            </a:r>
          </a:p>
        </p:txBody>
      </p:sp>
      <p:pic>
        <p:nvPicPr>
          <p:cNvPr id="5" name="Content Placeholder 4">
            <a:extLst>
              <a:ext uri="{FF2B5EF4-FFF2-40B4-BE49-F238E27FC236}">
                <a16:creationId xmlns:a16="http://schemas.microsoft.com/office/drawing/2014/main" id="{74C66988-C810-063A-1047-B3BDB1FE3750}"/>
              </a:ext>
            </a:extLst>
          </p:cNvPr>
          <p:cNvPicPr>
            <a:picLocks noGrp="1" noChangeAspect="1"/>
          </p:cNvPicPr>
          <p:nvPr>
            <p:ph idx="1"/>
          </p:nvPr>
        </p:nvPicPr>
        <p:blipFill>
          <a:blip r:embed="rId2"/>
          <a:stretch>
            <a:fillRect/>
          </a:stretch>
        </p:blipFill>
        <p:spPr>
          <a:xfrm>
            <a:off x="4008933" y="2044383"/>
            <a:ext cx="3245511" cy="2769231"/>
          </a:xfrm>
          <a:prstGeom prst="rect">
            <a:avLst/>
          </a:prstGeom>
        </p:spPr>
      </p:pic>
      <p:pic>
        <p:nvPicPr>
          <p:cNvPr id="7" name="Picture 6">
            <a:extLst>
              <a:ext uri="{FF2B5EF4-FFF2-40B4-BE49-F238E27FC236}">
                <a16:creationId xmlns:a16="http://schemas.microsoft.com/office/drawing/2014/main" id="{75789A53-7C37-15C1-E9BA-EB685679341D}"/>
              </a:ext>
            </a:extLst>
          </p:cNvPr>
          <p:cNvPicPr>
            <a:picLocks noChangeAspect="1"/>
          </p:cNvPicPr>
          <p:nvPr/>
        </p:nvPicPr>
        <p:blipFill>
          <a:blip r:embed="rId3"/>
          <a:stretch>
            <a:fillRect/>
          </a:stretch>
        </p:blipFill>
        <p:spPr>
          <a:xfrm>
            <a:off x="9856004" y="1584889"/>
            <a:ext cx="2031196" cy="1844112"/>
          </a:xfrm>
          <a:prstGeom prst="rect">
            <a:avLst/>
          </a:prstGeom>
        </p:spPr>
      </p:pic>
      <p:pic>
        <p:nvPicPr>
          <p:cNvPr id="9" name="Picture 8">
            <a:extLst>
              <a:ext uri="{FF2B5EF4-FFF2-40B4-BE49-F238E27FC236}">
                <a16:creationId xmlns:a16="http://schemas.microsoft.com/office/drawing/2014/main" id="{D4A74783-9C9B-A87C-9AD5-ECFE296E662D}"/>
              </a:ext>
            </a:extLst>
          </p:cNvPr>
          <p:cNvPicPr>
            <a:picLocks noChangeAspect="1"/>
          </p:cNvPicPr>
          <p:nvPr/>
        </p:nvPicPr>
        <p:blipFill>
          <a:blip r:embed="rId4"/>
          <a:stretch>
            <a:fillRect/>
          </a:stretch>
        </p:blipFill>
        <p:spPr>
          <a:xfrm>
            <a:off x="7603940" y="1636347"/>
            <a:ext cx="2111645" cy="1792652"/>
          </a:xfrm>
          <a:prstGeom prst="rect">
            <a:avLst/>
          </a:prstGeom>
        </p:spPr>
      </p:pic>
      <p:pic>
        <p:nvPicPr>
          <p:cNvPr id="11" name="Picture 10">
            <a:extLst>
              <a:ext uri="{FF2B5EF4-FFF2-40B4-BE49-F238E27FC236}">
                <a16:creationId xmlns:a16="http://schemas.microsoft.com/office/drawing/2014/main" id="{2E8480AA-3875-F131-2EB2-323FA957056D}"/>
              </a:ext>
            </a:extLst>
          </p:cNvPr>
          <p:cNvPicPr>
            <a:picLocks noChangeAspect="1"/>
          </p:cNvPicPr>
          <p:nvPr/>
        </p:nvPicPr>
        <p:blipFill>
          <a:blip r:embed="rId5"/>
          <a:stretch>
            <a:fillRect/>
          </a:stretch>
        </p:blipFill>
        <p:spPr>
          <a:xfrm>
            <a:off x="9833327" y="3506269"/>
            <a:ext cx="2134322" cy="1792653"/>
          </a:xfrm>
          <a:prstGeom prst="rect">
            <a:avLst/>
          </a:prstGeom>
        </p:spPr>
      </p:pic>
      <p:pic>
        <p:nvPicPr>
          <p:cNvPr id="13" name="Picture 12">
            <a:extLst>
              <a:ext uri="{FF2B5EF4-FFF2-40B4-BE49-F238E27FC236}">
                <a16:creationId xmlns:a16="http://schemas.microsoft.com/office/drawing/2014/main" id="{7E7DEC88-6CCC-7224-05DE-DB140C66E867}"/>
              </a:ext>
            </a:extLst>
          </p:cNvPr>
          <p:cNvPicPr>
            <a:picLocks noChangeAspect="1"/>
          </p:cNvPicPr>
          <p:nvPr/>
        </p:nvPicPr>
        <p:blipFill>
          <a:blip r:embed="rId6"/>
          <a:stretch>
            <a:fillRect/>
          </a:stretch>
        </p:blipFill>
        <p:spPr>
          <a:xfrm>
            <a:off x="7603940" y="3506270"/>
            <a:ext cx="2111645" cy="1856241"/>
          </a:xfrm>
          <a:prstGeom prst="rect">
            <a:avLst/>
          </a:prstGeom>
        </p:spPr>
      </p:pic>
      <p:sp>
        <p:nvSpPr>
          <p:cNvPr id="16" name="Content Placeholder 2">
            <a:extLst>
              <a:ext uri="{FF2B5EF4-FFF2-40B4-BE49-F238E27FC236}">
                <a16:creationId xmlns:a16="http://schemas.microsoft.com/office/drawing/2014/main" id="{25F398BF-3ACF-B63D-E5D1-7EDDF95836F0}"/>
              </a:ext>
            </a:extLst>
          </p:cNvPr>
          <p:cNvSpPr txBox="1">
            <a:spLocks/>
          </p:cNvSpPr>
          <p:nvPr/>
        </p:nvSpPr>
        <p:spPr>
          <a:xfrm>
            <a:off x="199424" y="1797257"/>
            <a:ext cx="3460014" cy="4195481"/>
          </a:xfrm>
          <a:prstGeom prst="rect">
            <a:avLst/>
          </a:prstGeom>
        </p:spPr>
        <p:txBody>
          <a:bodyPr vert="horz" lIns="91440" tIns="45720" rIns="91440" bIns="45720" rtlCol="0">
            <a:normAutofit fontScale="6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dirty="0"/>
              <a:t>Higher RSRP levels are associated with higher 5G download speeds. This positive relationship is consistent across all operators, suggesting that signal strength is an important factor in 5G performance.</a:t>
            </a:r>
          </a:p>
          <a:p>
            <a:r>
              <a:rPr lang="en-US" b="1" dirty="0"/>
              <a:t>RSRQ → download speed</a:t>
            </a:r>
          </a:p>
          <a:p>
            <a:pPr lvl="1">
              <a:buFont typeface="Wingdings" panose="05000000000000000000" pitchFamily="2" charset="2"/>
              <a:buChar char="§"/>
            </a:pPr>
            <a:r>
              <a:rPr lang="en-US" b="1" dirty="0"/>
              <a:t>Overall:</a:t>
            </a:r>
            <a:r>
              <a:rPr lang="en-US" dirty="0"/>
              <a:t> positive trend </a:t>
            </a:r>
          </a:p>
          <a:p>
            <a:pPr lvl="1">
              <a:buFont typeface="Wingdings" panose="05000000000000000000" pitchFamily="2" charset="2"/>
              <a:buChar char="§"/>
            </a:pPr>
            <a:r>
              <a:rPr lang="en-US" b="1" dirty="0"/>
              <a:t>Orange:</a:t>
            </a:r>
            <a:r>
              <a:rPr lang="en-US" dirty="0"/>
              <a:t> positive trend </a:t>
            </a:r>
          </a:p>
          <a:p>
            <a:pPr lvl="1">
              <a:buFont typeface="Wingdings" panose="05000000000000000000" pitchFamily="2" charset="2"/>
              <a:buChar char="§"/>
            </a:pPr>
            <a:r>
              <a:rPr lang="en-US" b="1" dirty="0"/>
              <a:t>Bouygues, Free and SFR:</a:t>
            </a:r>
            <a:r>
              <a:rPr lang="en-US" dirty="0"/>
              <a:t> negative trend</a:t>
            </a:r>
          </a:p>
          <a:p>
            <a:r>
              <a:rPr lang="en-US" dirty="0"/>
              <a:t>The relationship between RSRQ and 5G download performance is less consistent. While the overall trend is positive, three operators show a negative relationship, whereas Orange shows a positive relationship. This suggests that the relationship between radio quality and download performance may depend on the operator and its network conditions.</a:t>
            </a:r>
          </a:p>
        </p:txBody>
      </p:sp>
    </p:spTree>
    <p:extLst>
      <p:ext uri="{BB962C8B-B14F-4D97-AF65-F5344CB8AC3E}">
        <p14:creationId xmlns:p14="http://schemas.microsoft.com/office/powerpoint/2010/main" val="3843118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AB476-7B24-C21A-889F-4C51A852E807}"/>
              </a:ext>
            </a:extLst>
          </p:cNvPr>
          <p:cNvSpPr>
            <a:spLocks noGrp="1"/>
          </p:cNvSpPr>
          <p:nvPr>
            <p:ph type="title"/>
          </p:nvPr>
        </p:nvSpPr>
        <p:spPr>
          <a:xfrm>
            <a:off x="1103312" y="390373"/>
            <a:ext cx="9404723" cy="1400530"/>
          </a:xfrm>
        </p:spPr>
        <p:txBody>
          <a:bodyPr/>
          <a:lstStyle/>
          <a:p>
            <a:r>
              <a:rPr lang="en-US" dirty="0"/>
              <a:t>Operator differences:</a:t>
            </a:r>
            <a:br>
              <a:rPr lang="en-US" dirty="0"/>
            </a:br>
            <a:r>
              <a:rPr lang="en-US" sz="2400" b="1" dirty="0"/>
              <a:t>Do the four operators have different levels of 5G performance?</a:t>
            </a:r>
            <a:endParaRPr lang="en-US" dirty="0"/>
          </a:p>
        </p:txBody>
      </p:sp>
      <p:pic>
        <p:nvPicPr>
          <p:cNvPr id="5" name="Content Placeholder 4">
            <a:extLst>
              <a:ext uri="{FF2B5EF4-FFF2-40B4-BE49-F238E27FC236}">
                <a16:creationId xmlns:a16="http://schemas.microsoft.com/office/drawing/2014/main" id="{FDC13AFB-4ACE-A8BA-1A69-0F3B9C5A7D49}"/>
              </a:ext>
            </a:extLst>
          </p:cNvPr>
          <p:cNvPicPr>
            <a:picLocks noGrp="1" noChangeAspect="1"/>
          </p:cNvPicPr>
          <p:nvPr>
            <p:ph idx="1"/>
          </p:nvPr>
        </p:nvPicPr>
        <p:blipFill>
          <a:blip r:embed="rId2"/>
          <a:stretch>
            <a:fillRect/>
          </a:stretch>
        </p:blipFill>
        <p:spPr>
          <a:xfrm>
            <a:off x="4553130" y="2538613"/>
            <a:ext cx="7397884" cy="3216874"/>
          </a:xfrm>
          <a:prstGeom prst="rect">
            <a:avLst/>
          </a:prstGeom>
        </p:spPr>
      </p:pic>
      <p:sp>
        <p:nvSpPr>
          <p:cNvPr id="7" name="Content Placeholder 2">
            <a:extLst>
              <a:ext uri="{FF2B5EF4-FFF2-40B4-BE49-F238E27FC236}">
                <a16:creationId xmlns:a16="http://schemas.microsoft.com/office/drawing/2014/main" id="{6C54C9D9-CF30-1F59-1E90-DC13EA73A84B}"/>
              </a:ext>
            </a:extLst>
          </p:cNvPr>
          <p:cNvSpPr txBox="1">
            <a:spLocks/>
          </p:cNvSpPr>
          <p:nvPr/>
        </p:nvSpPr>
        <p:spPr>
          <a:xfrm>
            <a:off x="85123" y="2171330"/>
            <a:ext cx="4133585" cy="4195481"/>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dirty="0"/>
              <a:t>Significant differences in 5G performance are observed between operators. Orange has the highest average download speed, followed by Bouygues Telecom, SFR and Free. However, the ranking of 5G deployment rates is almost the opposite, with Free having the highest deployment rate and Orange the lowest. This indicates that a higher level of 5G deployment does not necessarily translate into higher download performance. Operator-specific network strategies and radio conditions may therefore contribute to the observed performance disparities.</a:t>
            </a:r>
          </a:p>
        </p:txBody>
      </p:sp>
    </p:spTree>
    <p:extLst>
      <p:ext uri="{BB962C8B-B14F-4D97-AF65-F5344CB8AC3E}">
        <p14:creationId xmlns:p14="http://schemas.microsoft.com/office/powerpoint/2010/main" val="36402122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00839-9EA0-6EDD-0599-E7D9F9F1C64C}"/>
              </a:ext>
            </a:extLst>
          </p:cNvPr>
          <p:cNvSpPr>
            <a:spLocks noGrp="1"/>
          </p:cNvSpPr>
          <p:nvPr>
            <p:ph type="title"/>
          </p:nvPr>
        </p:nvSpPr>
        <p:spPr>
          <a:xfrm>
            <a:off x="645130" y="140991"/>
            <a:ext cx="9404723" cy="1400530"/>
          </a:xfrm>
        </p:spPr>
        <p:txBody>
          <a:bodyPr/>
          <a:lstStyle/>
          <a:p>
            <a:r>
              <a:rPr lang="en-US" dirty="0"/>
              <a:t>Let’s reinforce the previous visual observation by a statistical test</a:t>
            </a:r>
            <a:br>
              <a:rPr lang="en-US" dirty="0"/>
            </a:br>
            <a:r>
              <a:rPr lang="en-US" sz="3600" b="1" dirty="0"/>
              <a:t>Hypothesis testing1</a:t>
            </a:r>
            <a:br>
              <a:rPr lang="en-US" dirty="0"/>
            </a:br>
            <a:br>
              <a:rPr lang="en-US" sz="2400" b="1" dirty="0"/>
            </a:br>
            <a:endParaRPr lang="en-US" b="1" dirty="0"/>
          </a:p>
        </p:txBody>
      </p:sp>
      <p:sp>
        <p:nvSpPr>
          <p:cNvPr id="3" name="Content Placeholder 2">
            <a:extLst>
              <a:ext uri="{FF2B5EF4-FFF2-40B4-BE49-F238E27FC236}">
                <a16:creationId xmlns:a16="http://schemas.microsoft.com/office/drawing/2014/main" id="{089E2A11-159C-8804-67F8-0331A731A6F6}"/>
              </a:ext>
            </a:extLst>
          </p:cNvPr>
          <p:cNvSpPr>
            <a:spLocks noGrp="1"/>
          </p:cNvSpPr>
          <p:nvPr>
            <p:ph idx="1"/>
          </p:nvPr>
        </p:nvSpPr>
        <p:spPr/>
        <p:txBody>
          <a:bodyPr>
            <a:normAutofit/>
          </a:bodyPr>
          <a:lstStyle/>
          <a:p>
            <a:r>
              <a:rPr lang="en-US" dirty="0"/>
              <a:t>Do operators have different average 5G download speed across French regions? </a:t>
            </a:r>
          </a:p>
          <a:p>
            <a:pPr lvl="1">
              <a:buFont typeface="Wingdings" panose="05000000000000000000" pitchFamily="2" charset="2"/>
              <a:buChar char="v"/>
            </a:pPr>
            <a:r>
              <a:rPr lang="en-US" b="1" dirty="0"/>
              <a:t>H₀:</a:t>
            </a:r>
            <a:r>
              <a:rPr lang="en-US" dirty="0"/>
              <a:t> the average of 5G download speed is the same for all operators. </a:t>
            </a:r>
          </a:p>
          <a:p>
            <a:pPr lvl="1">
              <a:buFont typeface="Wingdings" panose="05000000000000000000" pitchFamily="2" charset="2"/>
              <a:buChar char="v"/>
            </a:pPr>
            <a:r>
              <a:rPr lang="en-US" b="1" dirty="0"/>
              <a:t>H₁:</a:t>
            </a:r>
            <a:r>
              <a:rPr lang="en-US" dirty="0"/>
              <a:t> at least one operator differs.</a:t>
            </a:r>
          </a:p>
          <a:p>
            <a:pPr lvl="1">
              <a:buFont typeface="Wingdings" panose="05000000000000000000" pitchFamily="2" charset="2"/>
              <a:buChar char="è"/>
            </a:pPr>
            <a:r>
              <a:rPr lang="en-US" dirty="0"/>
              <a:t>1-way </a:t>
            </a:r>
            <a:r>
              <a:rPr lang="en-US" dirty="0" err="1"/>
              <a:t>Anovatest</a:t>
            </a:r>
            <a:r>
              <a:rPr lang="en-US" dirty="0"/>
              <a:t>: Why Kruskal–Wallis for operators?</a:t>
            </a:r>
          </a:p>
          <a:p>
            <a:pPr lvl="2">
              <a:buFont typeface="Wingdings" panose="05000000000000000000" pitchFamily="2" charset="2"/>
              <a:buChar char="è"/>
            </a:pPr>
            <a:r>
              <a:rPr lang="en-US" dirty="0"/>
              <a:t>We have </a:t>
            </a:r>
            <a:r>
              <a:rPr lang="en-US" b="1" dirty="0"/>
              <a:t>4 independent operator groups </a:t>
            </a:r>
            <a:r>
              <a:rPr lang="en-US" b="1" dirty="0">
                <a:sym typeface="Wingdings" panose="05000000000000000000" pitchFamily="2" charset="2"/>
              </a:rPr>
              <a:t>One way Anova</a:t>
            </a:r>
            <a:endParaRPr lang="en-US" dirty="0"/>
          </a:p>
          <a:p>
            <a:endParaRPr lang="en-US" dirty="0"/>
          </a:p>
          <a:p>
            <a:r>
              <a:rPr lang="en-US" dirty="0"/>
              <a:t>The one-way ANOVA indicates a statistically significant difference in average download speed between the four mobile operators (F = 32.44, p &lt; 0.001). Therefore, the null hypothesis of equal mean download speeds is rejected.</a:t>
            </a:r>
          </a:p>
        </p:txBody>
      </p:sp>
    </p:spTree>
    <p:extLst>
      <p:ext uri="{BB962C8B-B14F-4D97-AF65-F5344CB8AC3E}">
        <p14:creationId xmlns:p14="http://schemas.microsoft.com/office/powerpoint/2010/main" val="10641167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A4959-28EB-08DD-292C-C563F967444C}"/>
              </a:ext>
            </a:extLst>
          </p:cNvPr>
          <p:cNvSpPr>
            <a:spLocks noGrp="1"/>
          </p:cNvSpPr>
          <p:nvPr>
            <p:ph type="title"/>
          </p:nvPr>
        </p:nvSpPr>
        <p:spPr/>
        <p:txBody>
          <a:bodyPr/>
          <a:lstStyle/>
          <a:p>
            <a:r>
              <a:rPr lang="fr-FR" dirty="0" err="1"/>
              <a:t>Conslusion</a:t>
            </a:r>
            <a:r>
              <a:rPr lang="fr-FR" dirty="0"/>
              <a:t> </a:t>
            </a:r>
            <a:r>
              <a:rPr lang="fr-FR" dirty="0" err="1"/>
              <a:t>Analysis</a:t>
            </a:r>
            <a:endParaRPr lang="en-US" dirty="0"/>
          </a:p>
        </p:txBody>
      </p:sp>
      <p:sp>
        <p:nvSpPr>
          <p:cNvPr id="3" name="Content Placeholder 2">
            <a:extLst>
              <a:ext uri="{FF2B5EF4-FFF2-40B4-BE49-F238E27FC236}">
                <a16:creationId xmlns:a16="http://schemas.microsoft.com/office/drawing/2014/main" id="{778EE035-7E71-84FB-EF79-8D382C670D80}"/>
              </a:ext>
            </a:extLst>
          </p:cNvPr>
          <p:cNvSpPr>
            <a:spLocks noGrp="1"/>
          </p:cNvSpPr>
          <p:nvPr>
            <p:ph idx="1"/>
          </p:nvPr>
        </p:nvSpPr>
        <p:spPr/>
        <p:txBody>
          <a:bodyPr/>
          <a:lstStyle/>
          <a:p>
            <a:pPr lvl="0"/>
            <a:r>
              <a:rPr lang="en-US" b="1" dirty="0"/>
              <a:t>Infrastructure:</a:t>
            </a:r>
            <a:r>
              <a:rPr lang="en-US" dirty="0"/>
              <a:t> deployment alone does not explain performance. </a:t>
            </a:r>
          </a:p>
          <a:p>
            <a:pPr lvl="0"/>
            <a:r>
              <a:rPr lang="en-US" b="1" dirty="0"/>
              <a:t>Population:</a:t>
            </a:r>
            <a:r>
              <a:rPr lang="en-US" dirty="0"/>
              <a:t> more populated regions tend to have higher download speeds. </a:t>
            </a:r>
          </a:p>
          <a:p>
            <a:pPr lvl="0"/>
            <a:r>
              <a:rPr lang="en-US" b="1" dirty="0"/>
              <a:t>Radio conditions:</a:t>
            </a:r>
            <a:r>
              <a:rPr lang="en-US" dirty="0"/>
              <a:t> RSRP has a consistent positive relationship; RSRQ is operator-dependent. </a:t>
            </a:r>
          </a:p>
          <a:p>
            <a:pPr lvl="0"/>
            <a:r>
              <a:rPr lang="en-US" b="1" dirty="0"/>
              <a:t>Operators:</a:t>
            </a:r>
            <a:r>
              <a:rPr lang="en-US" dirty="0"/>
              <a:t> strong differences in performance and deployment strategy.</a:t>
            </a:r>
          </a:p>
          <a:p>
            <a:endParaRPr lang="en-US" dirty="0"/>
          </a:p>
        </p:txBody>
      </p:sp>
    </p:spTree>
    <p:extLst>
      <p:ext uri="{BB962C8B-B14F-4D97-AF65-F5344CB8AC3E}">
        <p14:creationId xmlns:p14="http://schemas.microsoft.com/office/powerpoint/2010/main" val="3500296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EADA-5AD3-6471-E08E-EB513AC09E20}"/>
              </a:ext>
            </a:extLst>
          </p:cNvPr>
          <p:cNvSpPr>
            <a:spLocks noGrp="1"/>
          </p:cNvSpPr>
          <p:nvPr>
            <p:ph type="title"/>
          </p:nvPr>
        </p:nvSpPr>
        <p:spPr/>
        <p:txBody>
          <a:bodyPr/>
          <a:lstStyle/>
          <a:p>
            <a:r>
              <a:rPr lang="en-US" dirty="0"/>
              <a:t>Hypothesis testing2</a:t>
            </a:r>
          </a:p>
        </p:txBody>
      </p:sp>
      <p:sp>
        <p:nvSpPr>
          <p:cNvPr id="3" name="Content Placeholder 2">
            <a:extLst>
              <a:ext uri="{FF2B5EF4-FFF2-40B4-BE49-F238E27FC236}">
                <a16:creationId xmlns:a16="http://schemas.microsoft.com/office/drawing/2014/main" id="{A723C284-61E4-A3C8-F72F-535F54132786}"/>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08924944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BACC050B-8757-4460-95D8-E37B46A6B421}"/>
    </a:ext>
  </a:extLst>
</a:theme>
</file>

<file path=docProps/app.xml><?xml version="1.0" encoding="utf-8"?>
<Properties xmlns="http://schemas.openxmlformats.org/officeDocument/2006/extended-properties" xmlns:vt="http://schemas.openxmlformats.org/officeDocument/2006/docPropsVTypes">
  <Template>Ion</Template>
  <TotalTime>3252</TotalTime>
  <Words>965</Words>
  <Application>Microsoft Office PowerPoint</Application>
  <PresentationFormat>Widescreen</PresentationFormat>
  <Paragraphs>89</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Century Gothic</vt:lpstr>
      <vt:lpstr>Wingdings</vt:lpstr>
      <vt:lpstr>Wingdings 3</vt:lpstr>
      <vt:lpstr>Ion</vt:lpstr>
      <vt:lpstr>Mobile Network Performance in France</vt:lpstr>
      <vt:lpstr>Data acquisition 1 Data modelling</vt:lpstr>
      <vt:lpstr>MySQL relational database</vt:lpstr>
      <vt:lpstr>EDA / Analytics</vt:lpstr>
      <vt:lpstr>Radio conditions</vt:lpstr>
      <vt:lpstr>territorial inequalities Analytics</vt:lpstr>
      <vt:lpstr>Territorial radio conditions:  Region × Operator → RSRP / RSRQ  </vt:lpstr>
      <vt:lpstr>Region → service performance </vt:lpstr>
      <vt:lpstr>What can explain these diparities?</vt:lpstr>
      <vt:lpstr>Does the level of genuine 5G infrastructure explain the differences in measured 5G download performance between regions and operators?</vt:lpstr>
      <vt:lpstr>Question: Do regions with larger populations tend to have different 5G performance?</vt:lpstr>
      <vt:lpstr>Hypothesis 2 — Population vs. 5G download speed</vt:lpstr>
      <vt:lpstr>Can differences in 5G radio conditions help explain differences in download performance?</vt:lpstr>
      <vt:lpstr>Operator differences: Do the four operators have different levels of 5G performance?</vt:lpstr>
      <vt:lpstr>Let’s reinforce the previous visual observation by a statistical test Hypothesis testing1  </vt:lpstr>
      <vt:lpstr>Conslusion Analysis</vt:lpstr>
      <vt:lpstr>Hypothesis testing2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Zidène Ourdache</dc:creator>
  <cp:lastModifiedBy>Zidène Ourdache</cp:lastModifiedBy>
  <cp:revision>10</cp:revision>
  <dcterms:created xsi:type="dcterms:W3CDTF">2026-09-12T15:28:50Z</dcterms:created>
  <dcterms:modified xsi:type="dcterms:W3CDTF">2026-09-14T21:41:01Z</dcterms:modified>
</cp:coreProperties>
</file>