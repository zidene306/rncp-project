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mp" ContentType="image/x-e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21"/>
  </p:notesMasterIdLst>
  <p:sldIdLst>
    <p:sldId id="256" r:id="rId2"/>
    <p:sldId id="294" r:id="rId3"/>
    <p:sldId id="275" r:id="rId4"/>
    <p:sldId id="259" r:id="rId5"/>
    <p:sldId id="277" r:id="rId6"/>
    <p:sldId id="279" r:id="rId7"/>
    <p:sldId id="278" r:id="rId8"/>
    <p:sldId id="282" r:id="rId9"/>
    <p:sldId id="296" r:id="rId10"/>
    <p:sldId id="283" r:id="rId11"/>
    <p:sldId id="284" r:id="rId12"/>
    <p:sldId id="285" r:id="rId13"/>
    <p:sldId id="291" r:id="rId14"/>
    <p:sldId id="288" r:id="rId15"/>
    <p:sldId id="295" r:id="rId16"/>
    <p:sldId id="289" r:id="rId17"/>
    <p:sldId id="290" r:id="rId18"/>
    <p:sldId id="293" r:id="rId19"/>
    <p:sldId id="292" r:id="rId20"/>
  </p:sldIdLst>
  <p:sldSz cx="12192000" cy="6858000"/>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0289" autoAdjust="0"/>
  </p:normalViewPr>
  <p:slideViewPr>
    <p:cSldViewPr snapToGrid="0">
      <p:cViewPr varScale="1">
        <p:scale>
          <a:sx n="49" d="100"/>
          <a:sy n="49" d="100"/>
        </p:scale>
        <p:origin x="1582"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8427" cy="513508"/>
          </a:xfrm>
          <a:prstGeom prst="rect">
            <a:avLst/>
          </a:prstGeom>
        </p:spPr>
        <p:txBody>
          <a:bodyPr vert="horz" lIns="99075" tIns="49538" rIns="99075" bIns="49538" rtlCol="0"/>
          <a:lstStyle>
            <a:lvl1pPr algn="l">
              <a:defRPr sz="1300"/>
            </a:lvl1pPr>
          </a:lstStyle>
          <a:p>
            <a:endParaRPr lang="en-US"/>
          </a:p>
        </p:txBody>
      </p:sp>
      <p:sp>
        <p:nvSpPr>
          <p:cNvPr id="3" name="Date Placeholder 2"/>
          <p:cNvSpPr>
            <a:spLocks noGrp="1"/>
          </p:cNvSpPr>
          <p:nvPr>
            <p:ph type="dt" idx="1"/>
          </p:nvPr>
        </p:nvSpPr>
        <p:spPr>
          <a:xfrm>
            <a:off x="4023992" y="0"/>
            <a:ext cx="3078427" cy="513508"/>
          </a:xfrm>
          <a:prstGeom prst="rect">
            <a:avLst/>
          </a:prstGeom>
        </p:spPr>
        <p:txBody>
          <a:bodyPr vert="horz" lIns="99075" tIns="49538" rIns="99075" bIns="49538" rtlCol="0"/>
          <a:lstStyle>
            <a:lvl1pPr algn="r">
              <a:defRPr sz="1300"/>
            </a:lvl1pPr>
          </a:lstStyle>
          <a:p>
            <a:fld id="{3BD72F6E-7BEA-4811-A32F-EB50B2D03A67}" type="datetimeFigureOut">
              <a:rPr lang="en-US" smtClean="0"/>
              <a:t>9/16/2026</a:t>
            </a:fld>
            <a:endParaRPr lang="en-US"/>
          </a:p>
        </p:txBody>
      </p:sp>
      <p:sp>
        <p:nvSpPr>
          <p:cNvPr id="4" name="Slide Image Placeholder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9075" tIns="49538" rIns="99075" bIns="49538" rtlCol="0" anchor="ctr"/>
          <a:lstStyle/>
          <a:p>
            <a:endParaRPr lang="en-US"/>
          </a:p>
        </p:txBody>
      </p:sp>
      <p:sp>
        <p:nvSpPr>
          <p:cNvPr id="5" name="Notes Placeholder 4"/>
          <p:cNvSpPr>
            <a:spLocks noGrp="1"/>
          </p:cNvSpPr>
          <p:nvPr>
            <p:ph type="body" sz="quarter" idx="3"/>
          </p:nvPr>
        </p:nvSpPr>
        <p:spPr>
          <a:xfrm>
            <a:off x="710407" y="4925407"/>
            <a:ext cx="5683250" cy="4029879"/>
          </a:xfrm>
          <a:prstGeom prst="rect">
            <a:avLst/>
          </a:prstGeom>
        </p:spPr>
        <p:txBody>
          <a:bodyPr vert="horz" lIns="99075" tIns="49538" rIns="99075" bIns="49538"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9721107"/>
            <a:ext cx="3078427" cy="513507"/>
          </a:xfrm>
          <a:prstGeom prst="rect">
            <a:avLst/>
          </a:prstGeom>
        </p:spPr>
        <p:txBody>
          <a:bodyPr vert="horz" lIns="99075" tIns="49538" rIns="99075" bIns="49538" rtlCol="0" anchor="b"/>
          <a:lstStyle>
            <a:lvl1pPr algn="l">
              <a:defRPr sz="1300"/>
            </a:lvl1pPr>
          </a:lstStyle>
          <a:p>
            <a:endParaRPr lang="en-US"/>
          </a:p>
        </p:txBody>
      </p:sp>
      <p:sp>
        <p:nvSpPr>
          <p:cNvPr id="7" name="Slide Number Placeholder 6"/>
          <p:cNvSpPr>
            <a:spLocks noGrp="1"/>
          </p:cNvSpPr>
          <p:nvPr>
            <p:ph type="sldNum" sz="quarter" idx="5"/>
          </p:nvPr>
        </p:nvSpPr>
        <p:spPr>
          <a:xfrm>
            <a:off x="4023992" y="9721107"/>
            <a:ext cx="3078427" cy="513507"/>
          </a:xfrm>
          <a:prstGeom prst="rect">
            <a:avLst/>
          </a:prstGeom>
        </p:spPr>
        <p:txBody>
          <a:bodyPr vert="horz" lIns="99075" tIns="49538" rIns="99075" bIns="49538" rtlCol="0" anchor="b"/>
          <a:lstStyle>
            <a:lvl1pPr algn="r">
              <a:defRPr sz="1300"/>
            </a:lvl1pPr>
          </a:lstStyle>
          <a:p>
            <a:fld id="{24BD1F29-6D9C-4F9A-84F0-0549FD512D9F}" type="slidenum">
              <a:rPr lang="en-US" smtClean="0"/>
              <a:t>‹#›</a:t>
            </a:fld>
            <a:endParaRPr lang="en-US"/>
          </a:p>
        </p:txBody>
      </p:sp>
    </p:spTree>
    <p:extLst>
      <p:ext uri="{BB962C8B-B14F-4D97-AF65-F5344CB8AC3E}">
        <p14:creationId xmlns:p14="http://schemas.microsoft.com/office/powerpoint/2010/main" val="1300862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Good morning and welcome to my project presentation. My name is Zidene Aourdache, and today I am going to present to you my project about 5G network performance. Why did I chose this subject?</a:t>
            </a: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sym typeface="Wingdings" panose="05000000000000000000" pitchFamily="2" charset="2"/>
              </a:rPr>
              <a:t></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Nowadays, Mobile connectivity has become an essential part of everyday digital activity. Users increasingly rely on mobile networks for web browsing, video streaming, file transfers and professional applications. However, network quality is not uniform across territories. Differences in infrastructure deployment, radio conditions, population distribution and operator strategies may contribute to variations in measured performance.</a:t>
            </a:r>
          </a:p>
          <a:p>
            <a:r>
              <a:rPr lang="en-US" sz="1200" kern="1200" dirty="0">
                <a:solidFill>
                  <a:schemeClr val="tx1"/>
                </a:solidFill>
                <a:effectLst/>
                <a:latin typeface="+mn-lt"/>
                <a:ea typeface="+mn-ea"/>
                <a:cs typeface="+mn-cs"/>
              </a:rPr>
              <a:t>“This project investigates 5G mobile network performance in metropolitan France. The objective is to identify whether significant territorial disparities exist and to investigate which factors could help explain them</a:t>
            </a:r>
          </a:p>
          <a:p>
            <a:endParaRPr lang="en-US" dirty="0"/>
          </a:p>
        </p:txBody>
      </p:sp>
      <p:sp>
        <p:nvSpPr>
          <p:cNvPr id="4" name="Slide Number Placeholder 3"/>
          <p:cNvSpPr>
            <a:spLocks noGrp="1"/>
          </p:cNvSpPr>
          <p:nvPr>
            <p:ph type="sldNum" sz="quarter" idx="5"/>
          </p:nvPr>
        </p:nvSpPr>
        <p:spPr/>
        <p:txBody>
          <a:bodyPr/>
          <a:lstStyle/>
          <a:p>
            <a:fld id="{24BD1F29-6D9C-4F9A-84F0-0549FD512D9F}" type="slidenum">
              <a:rPr lang="en-US" smtClean="0"/>
              <a:t>1</a:t>
            </a:fld>
            <a:endParaRPr lang="en-US"/>
          </a:p>
        </p:txBody>
      </p:sp>
    </p:spTree>
    <p:extLst>
      <p:ext uri="{BB962C8B-B14F-4D97-AF65-F5344CB8AC3E}">
        <p14:creationId xmlns:p14="http://schemas.microsoft.com/office/powerpoint/2010/main" val="17174677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project starts from a simple business question: are there significant territorial inequalities in mobile network performance in France, and what could explain these disparities?</a:t>
            </a:r>
          </a:p>
          <a:p>
            <a:r>
              <a:rPr lang="en-US" sz="1200" kern="1200" dirty="0">
                <a:solidFill>
                  <a:schemeClr val="tx1"/>
                </a:solidFill>
                <a:effectLst/>
                <a:latin typeface="+mn-lt"/>
                <a:ea typeface="+mn-ea"/>
                <a:cs typeface="+mn-cs"/>
              </a:rPr>
              <a:t>To answer it, I structured the analysis around three objectives. First, Understand the 5G performance using the main QoS indicators. Second, identify differences between operators and territories. And finally, explore potential factors that could be associated with these differences.</a:t>
            </a:r>
          </a:p>
          <a:p>
            <a:r>
              <a:rPr lang="en-US" sz="1200" kern="1200" dirty="0">
                <a:solidFill>
                  <a:schemeClr val="tx1"/>
                </a:solidFill>
                <a:effectLst/>
                <a:latin typeface="+mn-lt"/>
                <a:ea typeface="+mn-ea"/>
                <a:cs typeface="+mn-cs"/>
              </a:rPr>
              <a:t>The analysis focuses on metropolitan France, using 2025 data and four mobile operators.”</a:t>
            </a:r>
          </a:p>
          <a:p>
            <a:endParaRPr lang="en-US" dirty="0"/>
          </a:p>
        </p:txBody>
      </p:sp>
      <p:sp>
        <p:nvSpPr>
          <p:cNvPr id="4" name="Slide Number Placeholder 3"/>
          <p:cNvSpPr>
            <a:spLocks noGrp="1"/>
          </p:cNvSpPr>
          <p:nvPr>
            <p:ph type="sldNum" sz="quarter" idx="5"/>
          </p:nvPr>
        </p:nvSpPr>
        <p:spPr/>
        <p:txBody>
          <a:bodyPr/>
          <a:lstStyle/>
          <a:p>
            <a:fld id="{24BD1F29-6D9C-4F9A-84F0-0549FD512D9F}" type="slidenum">
              <a:rPr lang="en-US" smtClean="0"/>
              <a:t>3</a:t>
            </a:fld>
            <a:endParaRPr lang="en-US"/>
          </a:p>
        </p:txBody>
      </p:sp>
    </p:spTree>
    <p:extLst>
      <p:ext uri="{BB962C8B-B14F-4D97-AF65-F5344CB8AC3E}">
        <p14:creationId xmlns:p14="http://schemas.microsoft.com/office/powerpoint/2010/main" val="34292276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analysis is based on 4 </a:t>
            </a:r>
            <a:r>
              <a:rPr lang="en-US" sz="1200" kern="1200" dirty="0" err="1">
                <a:solidFill>
                  <a:schemeClr val="tx1"/>
                </a:solidFill>
                <a:effectLst/>
                <a:latin typeface="+mn-lt"/>
                <a:ea typeface="+mn-ea"/>
                <a:cs typeface="+mn-cs"/>
              </a:rPr>
              <a:t>dastasets</a:t>
            </a:r>
            <a:r>
              <a:rPr lang="en-US" sz="1200" kern="1200" dirty="0">
                <a:solidFill>
                  <a:schemeClr val="tx1"/>
                </a:solidFill>
                <a:effectLst/>
                <a:latin typeface="+mn-lt"/>
                <a:ea typeface="+mn-ea"/>
                <a:cs typeface="+mn-cs"/>
              </a:rPr>
              <a:t> from 2 public data sources.</a:t>
            </a:r>
          </a:p>
          <a:p>
            <a:r>
              <a:rPr lang="en-US" sz="1200" kern="1200" dirty="0">
                <a:solidFill>
                  <a:schemeClr val="tx1"/>
                </a:solidFill>
                <a:effectLst/>
                <a:latin typeface="+mn-lt"/>
                <a:ea typeface="+mn-ea"/>
                <a:cs typeface="+mn-cs"/>
              </a:rPr>
              <a:t>First, ARCEP Mobile QoS, which provides the network measurements used to evaluate performance. Used collection Method: WEB Scraping</a:t>
            </a:r>
          </a:p>
          <a:p>
            <a:r>
              <a:rPr lang="en-US" sz="1200" kern="1200" dirty="0">
                <a:solidFill>
                  <a:schemeClr val="tx1"/>
                </a:solidFill>
                <a:effectLst/>
                <a:latin typeface="+mn-lt"/>
                <a:ea typeface="+mn-ea"/>
                <a:cs typeface="+mn-cs"/>
              </a:rPr>
              <a:t>Second, ARCEP Mobile Sites, which provides information about network infrastructure and 5G deployment.</a:t>
            </a:r>
          </a:p>
          <a:p>
            <a:r>
              <a:rPr lang="en-US" sz="1200" kern="1200" dirty="0">
                <a:solidFill>
                  <a:schemeClr val="tx1"/>
                </a:solidFill>
                <a:effectLst/>
                <a:latin typeface="+mn-lt"/>
                <a:ea typeface="+mn-ea"/>
                <a:cs typeface="+mn-cs"/>
              </a:rPr>
              <a:t>3</a:t>
            </a:r>
            <a:r>
              <a:rPr lang="en-US" sz="1200" kern="1200" baseline="30000" dirty="0">
                <a:solidFill>
                  <a:schemeClr val="tx1"/>
                </a:solidFill>
                <a:effectLst/>
                <a:latin typeface="+mn-lt"/>
                <a:ea typeface="+mn-ea"/>
                <a:cs typeface="+mn-cs"/>
              </a:rPr>
              <a:t>rd</a:t>
            </a:r>
            <a:r>
              <a:rPr lang="en-US" sz="1200" kern="1200" dirty="0">
                <a:solidFill>
                  <a:schemeClr val="tx1"/>
                </a:solidFill>
                <a:effectLst/>
                <a:latin typeface="+mn-lt"/>
                <a:ea typeface="+mn-ea"/>
                <a:cs typeface="+mn-cs"/>
              </a:rPr>
              <a:t>, I used INSEE population data to add territorial context.</a:t>
            </a:r>
          </a:p>
          <a:p>
            <a:r>
              <a:rPr lang="en-US" sz="1200" kern="1200" dirty="0">
                <a:solidFill>
                  <a:schemeClr val="tx1"/>
                </a:solidFill>
                <a:effectLst/>
                <a:latin typeface="+mn-lt"/>
                <a:ea typeface="+mn-ea"/>
                <a:cs typeface="+mn-cs"/>
              </a:rPr>
              <a:t>4</a:t>
            </a:r>
            <a:r>
              <a:rPr lang="en-US" sz="1200" kern="1200" baseline="30000" dirty="0">
                <a:solidFill>
                  <a:schemeClr val="tx1"/>
                </a:solidFill>
                <a:effectLst/>
                <a:latin typeface="+mn-lt"/>
                <a:ea typeface="+mn-ea"/>
                <a:cs typeface="+mn-cs"/>
              </a:rPr>
              <a:t>th</a:t>
            </a:r>
            <a:r>
              <a:rPr lang="en-US" sz="1200" kern="1200" dirty="0">
                <a:solidFill>
                  <a:schemeClr val="tx1"/>
                </a:solidFill>
                <a:effectLst/>
                <a:latin typeface="+mn-lt"/>
                <a:ea typeface="+mn-ea"/>
                <a:cs typeface="+mn-cs"/>
              </a:rPr>
              <a:t>, Geographic data for administrative territories.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rgbClr val="7030A0"/>
                </a:solidFill>
                <a:effectLst/>
                <a:latin typeface="+mn-lt"/>
                <a:ea typeface="+mn-ea"/>
                <a:cs typeface="+mn-cs"/>
              </a:rPr>
              <a:t>How did I deal </a:t>
            </a:r>
            <a:r>
              <a:rPr lang="en-US" sz="1200" b="1" kern="1200" dirty="0">
                <a:solidFill>
                  <a:srgbClr val="7030A0"/>
                </a:solidFill>
                <a:effectLst/>
                <a:highlight>
                  <a:srgbClr val="FF00FF"/>
                </a:highlight>
                <a:latin typeface="+mn-lt"/>
                <a:ea typeface="+mn-ea"/>
                <a:cs typeface="+mn-cs"/>
              </a:rPr>
              <a:t>with</a:t>
            </a:r>
            <a:r>
              <a:rPr lang="en-US" sz="1200" b="1" kern="1200" dirty="0">
                <a:solidFill>
                  <a:srgbClr val="7030A0"/>
                </a:solidFill>
                <a:effectLst/>
                <a:latin typeface="+mn-lt"/>
                <a:ea typeface="+mn-ea"/>
                <a:cs typeface="+mn-cs"/>
              </a:rPr>
              <a:t> data?</a:t>
            </a:r>
            <a:endParaRPr lang="en-US" sz="1200" kern="1200" dirty="0">
              <a:solidFill>
                <a:srgbClr val="7030A0"/>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24BD1F29-6D9C-4F9A-84F0-0549FD512D9F}" type="slidenum">
              <a:rPr lang="en-US" smtClean="0"/>
              <a:t>4</a:t>
            </a:fld>
            <a:endParaRPr lang="en-US"/>
          </a:p>
        </p:txBody>
      </p:sp>
    </p:spTree>
    <p:extLst>
      <p:ext uri="{BB962C8B-B14F-4D97-AF65-F5344CB8AC3E}">
        <p14:creationId xmlns:p14="http://schemas.microsoft.com/office/powerpoint/2010/main" val="3231313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4BD1F29-6D9C-4F9A-84F0-0549FD512D9F}" type="slidenum">
              <a:rPr lang="en-US" smtClean="0"/>
              <a:t>13</a:t>
            </a:fld>
            <a:endParaRPr lang="en-US"/>
          </a:p>
        </p:txBody>
      </p:sp>
    </p:spTree>
    <p:extLst>
      <p:ext uri="{BB962C8B-B14F-4D97-AF65-F5344CB8AC3E}">
        <p14:creationId xmlns:p14="http://schemas.microsoft.com/office/powerpoint/2010/main" val="4446230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GB"/>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dirty="0"/>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509A250-FF31-4206-8172-F9D3106AACB1}" type="datetimeFigureOut">
              <a:rPr lang="en-US" dirty="0"/>
              <a:t>9/15/2026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509A250-FF31-4206-8172-F9D3106AACB1}" type="datetimeFigureOut">
              <a:rPr lang="en-US" dirty="0"/>
              <a:t>9/15/2026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7" name="Date Placeholder 2"/>
          <p:cNvSpPr>
            <a:spLocks noGrp="1"/>
          </p:cNvSpPr>
          <p:nvPr>
            <p:ph type="dt" sz="half" idx="10"/>
          </p:nvPr>
        </p:nvSpPr>
        <p:spPr/>
        <p:txBody>
          <a:bodyPr/>
          <a:lstStyle/>
          <a:p>
            <a:fld id="{4509A250-FF31-4206-8172-F9D3106AACB1}" type="datetimeFigureOut">
              <a:rPr lang="en-US" dirty="0"/>
              <a:t>9/15/2026</a:t>
            </a:fld>
            <a:endParaRPr lang="en-US" dirty="0"/>
          </a:p>
        </p:txBody>
      </p:sp>
      <p:sp>
        <p:nvSpPr>
          <p:cNvPr id="5" name="Footer Placeholder 3"/>
          <p:cNvSpPr>
            <a:spLocks noGrp="1"/>
          </p:cNvSpPr>
          <p:nvPr>
            <p:ph type="ftr" sz="quarter" idx="11"/>
          </p:nvPr>
        </p:nvSpPr>
        <p:spPr/>
        <p:txBody>
          <a:bodyPr/>
          <a:lstStyle/>
          <a:p>
            <a:endParaRPr lang="en-US" dirty="0"/>
          </a:p>
        </p:txBody>
      </p:sp>
      <p:sp>
        <p:nvSpPr>
          <p:cNvPr id="6" name="Slide Number Placeholder 4"/>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4509A250-FF31-4206-8172-F9D3106AACB1}" type="datetimeFigureOut">
              <a:rPr lang="en-US" dirty="0"/>
              <a:t>9/15/2026</a:t>
            </a:fld>
            <a:endParaRPr lang="en-US" dirty="0"/>
          </a:p>
        </p:txBody>
      </p:sp>
      <p:sp>
        <p:nvSpPr>
          <p:cNvPr id="5" name="Footer Placeholder 2"/>
          <p:cNvSpPr>
            <a:spLocks noGrp="1"/>
          </p:cNvSpPr>
          <p:nvPr>
            <p:ph type="ftr" sz="quarter" idx="11"/>
          </p:nvPr>
        </p:nvSpPr>
        <p:spPr/>
        <p:txBody>
          <a:bodyPr/>
          <a:lstStyle/>
          <a:p>
            <a:endParaRPr lang="en-US" dirty="0"/>
          </a:p>
        </p:txBody>
      </p:sp>
      <p:sp>
        <p:nvSpPr>
          <p:cNvPr id="6" name="Slide Number Placeholder 3"/>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3401064" cy="1447800"/>
          </a:xfrm>
        </p:spPr>
        <p:txBody>
          <a:bodyPr anchor="b"/>
          <a:lstStyle>
            <a:lvl1pPr algn="l">
              <a:defRPr sz="2400" b="0"/>
            </a:lvl1pPr>
          </a:lstStyle>
          <a:p>
            <a:r>
              <a:rPr lang="en-GB"/>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154954"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7" name="Date Placeholder 4"/>
          <p:cNvSpPr>
            <a:spLocks noGrp="1"/>
          </p:cNvSpPr>
          <p:nvPr>
            <p:ph type="dt" sz="half" idx="10"/>
          </p:nvPr>
        </p:nvSpPr>
        <p:spPr/>
        <p:txBody>
          <a:bodyPr/>
          <a:lstStyle/>
          <a:p>
            <a:fld id="{4509A250-FF31-4206-8172-F9D3106AACB1}" type="datetimeFigureOut">
              <a:rPr lang="en-US" dirty="0"/>
              <a:t>9/15/2026</a:t>
            </a:fld>
            <a:endParaRPr lang="en-US" dirty="0"/>
          </a:p>
        </p:txBody>
      </p:sp>
      <p:sp>
        <p:nvSpPr>
          <p:cNvPr id="5" name="Footer Placeholder 5"/>
          <p:cNvSpPr>
            <a:spLocks noGrp="1"/>
          </p:cNvSpPr>
          <p:nvPr>
            <p:ph type="ftr" sz="quarter" idx="11"/>
          </p:nvPr>
        </p:nvSpPr>
        <p:spPr/>
        <p:txBody>
          <a:bodyPr/>
          <a:lstStyle/>
          <a:p>
            <a:endParaRPr lang="en-US" dirty="0"/>
          </a:p>
        </p:txBody>
      </p:sp>
      <p:sp>
        <p:nvSpPr>
          <p:cNvPr id="6"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dirty="0"/>
              <a:t>9/15/2026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dirty="0"/>
              <a:t>9/15/2026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GB"/>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GB"/>
              <a:t>Click to edit Master title style</a:t>
            </a:r>
            <a:endParaRPr lang="en-US" dirty="0"/>
          </a:p>
        </p:txBody>
      </p:sp>
      <p:sp>
        <p:nvSpPr>
          <p:cNvPr id="14" name="Text Placeholder 3"/>
          <p:cNvSpPr>
            <a:spLocks noGrp="1"/>
          </p:cNvSpPr>
          <p:nvPr>
            <p:ph type="body" sz="half" idx="13"/>
          </p:nvPr>
        </p:nvSpPr>
        <p:spPr>
          <a:xfrm>
            <a:off x="1930400" y="3771174"/>
            <a:ext cx="7279649" cy="342174"/>
          </a:xfrm>
        </p:spPr>
        <p:txBody>
          <a:bodyPr anchor="t">
            <a:normAutofit/>
          </a:bodyPr>
          <a:lstStyle>
            <a:lvl1pPr marL="0" indent="0">
              <a:buNone/>
              <a:defRPr lang="en-US" sz="1400" b="0" i="0" kern="1200" cap="small" dirty="0">
                <a:solidFill>
                  <a:schemeClr val="accent1"/>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
        <p:nvSpPr>
          <p:cNvPr id="9" name="TextBox 8"/>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accent1"/>
                </a:solidFill>
                <a:latin typeface="Arial"/>
                <a:ea typeface="+mj-ea"/>
                <a:cs typeface="+mj-cs"/>
              </a:defRPr>
            </a:lvl1pPr>
          </a:lstStyle>
          <a:p>
            <a:pPr lvl="0"/>
            <a:r>
              <a:rPr lang="en-US" dirty="0"/>
              <a:t>“</a:t>
            </a:r>
          </a:p>
        </p:txBody>
      </p:sp>
      <p:sp>
        <p:nvSpPr>
          <p:cNvPr id="13" name="TextBox 12"/>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accent1"/>
                </a:solidFill>
                <a:latin typeface="Arial"/>
                <a:ea typeface="+mj-ea"/>
                <a:cs typeface="+mj-cs"/>
              </a:defRPr>
            </a:lvl1pPr>
          </a:lstStyle>
          <a:p>
            <a:pPr lvl="0"/>
            <a:r>
              <a:rPr lang="en-US" dirty="0"/>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t>9/15/2026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t>9/15/2026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GB"/>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40000"/>
                  <a:lumOff val="60000"/>
                  <a:alpha val="7000"/>
                </a:schemeClr>
              </a:gs>
              <a:gs pos="69000">
                <a:schemeClr val="bg2">
                  <a:lumMod val="40000"/>
                  <a:lumOff val="60000"/>
                  <a:alpha val="0"/>
                </a:schemeClr>
              </a:gs>
              <a:gs pos="36000">
                <a:schemeClr val="bg2">
                  <a:lumMod val="40000"/>
                  <a:lumOff val="6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9012"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GB"/>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4509A250-FF31-4206-8172-F9D3106AACB1}" type="datetimeFigureOut">
              <a:rPr lang="en-US" dirty="0"/>
              <a:t>9/15/2026</a:t>
            </a:fld>
            <a:endParaRPr lang="en-US" dirty="0"/>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dirty="0"/>
          </a:p>
        </p:txBody>
      </p:sp>
      <p:sp>
        <p:nvSpPr>
          <p:cNvPr id="6" name="Slide Number Placeholder 5"/>
          <p:cNvSpPr>
            <a:spLocks noGrp="1"/>
          </p:cNvSpPr>
          <p:nvPr>
            <p:ph type="sldNum" sz="quarter" idx="4"/>
          </p:nvPr>
        </p:nvSpPr>
        <p:spPr>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57F1E4F-1CFF-5643-939E-02111984F565}" type="slidenum">
              <a:rPr lang="en-US" dirty="0"/>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8" r:id="rId9"/>
    <p:sldLayoutId id="2147483667" r:id="rId10"/>
    <p:sldLayoutId id="2147483661" r:id="rId11"/>
    <p:sldLayoutId id="2147483664" r:id="rId12"/>
    <p:sldLayoutId id="2147483662" r:id="rId13"/>
    <p:sldLayoutId id="2147483669" r:id="rId14"/>
    <p:sldLayoutId id="2147483670" r:id="rId15"/>
    <p:sldLayoutId id="2147483658" r:id="rId16"/>
    <p:sldLayoutId id="2147483659" r:id="rId17"/>
  </p:sldLayoutIdLst>
  <p:hf sldNum="0" hdr="0" ftr="0" dt="0"/>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0.tmp"/><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tmp"/><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2000"/>
                <a:hueMod val="108000"/>
                <a:satMod val="164000"/>
                <a:lumMod val="69000"/>
              </a:schemeClr>
              <a:schemeClr val="bg2">
                <a:tint val="96000"/>
                <a:hueMod val="90000"/>
                <a:satMod val="130000"/>
                <a:lumMod val="134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071A0F-AD3E-3998-6079-4D760581048B}"/>
              </a:ext>
            </a:extLst>
          </p:cNvPr>
          <p:cNvSpPr>
            <a:spLocks noGrp="1"/>
          </p:cNvSpPr>
          <p:nvPr>
            <p:ph type="ctrTitle"/>
          </p:nvPr>
        </p:nvSpPr>
        <p:spPr>
          <a:xfrm>
            <a:off x="533401" y="1054986"/>
            <a:ext cx="6837650" cy="1464378"/>
          </a:xfrm>
        </p:spPr>
        <p:txBody>
          <a:bodyPr>
            <a:normAutofit/>
          </a:bodyPr>
          <a:lstStyle/>
          <a:p>
            <a:r>
              <a:rPr lang="en-US" sz="4400" b="1" dirty="0"/>
              <a:t>5G Mobile Network Performance in France</a:t>
            </a:r>
          </a:p>
        </p:txBody>
      </p:sp>
      <p:sp>
        <p:nvSpPr>
          <p:cNvPr id="3" name="Subtitle 2">
            <a:extLst>
              <a:ext uri="{FF2B5EF4-FFF2-40B4-BE49-F238E27FC236}">
                <a16:creationId xmlns:a16="http://schemas.microsoft.com/office/drawing/2014/main" id="{DF78CE50-17C1-A898-C0AE-BF54F32A3405}"/>
              </a:ext>
            </a:extLst>
          </p:cNvPr>
          <p:cNvSpPr>
            <a:spLocks noGrp="1"/>
          </p:cNvSpPr>
          <p:nvPr>
            <p:ph type="subTitle" idx="1"/>
          </p:nvPr>
        </p:nvSpPr>
        <p:spPr>
          <a:xfrm>
            <a:off x="533401" y="3225949"/>
            <a:ext cx="7051963" cy="961587"/>
          </a:xfrm>
        </p:spPr>
        <p:txBody>
          <a:bodyPr>
            <a:normAutofit/>
          </a:bodyPr>
          <a:lstStyle/>
          <a:p>
            <a:r>
              <a:rPr lang="en-US" sz="2400" b="1" dirty="0">
                <a:solidFill>
                  <a:schemeClr val="tx1"/>
                </a:solidFill>
              </a:rPr>
              <a:t>Territorial disparities and potential explanatory factors</a:t>
            </a:r>
          </a:p>
        </p:txBody>
      </p:sp>
      <p:pic>
        <p:nvPicPr>
          <p:cNvPr id="5" name="Picture 4" descr="Cell towers">
            <a:extLst>
              <a:ext uri="{FF2B5EF4-FFF2-40B4-BE49-F238E27FC236}">
                <a16:creationId xmlns:a16="http://schemas.microsoft.com/office/drawing/2014/main" id="{F19B2EB2-D9F6-20A0-07A2-AB5FFCBA7A5A}"/>
              </a:ext>
            </a:extLst>
          </p:cNvPr>
          <p:cNvPicPr>
            <a:picLocks noChangeAspect="1"/>
          </p:cNvPicPr>
          <p:nvPr/>
        </p:nvPicPr>
        <p:blipFill>
          <a:blip r:embed="rId4"/>
          <a:srcRect l="60494" r="-1" b="-1"/>
          <a:stretch>
            <a:fillRect/>
          </a:stretch>
        </p:blipFill>
        <p:spPr>
          <a:xfrm>
            <a:off x="8133050" y="10"/>
            <a:ext cx="4058950" cy="6857990"/>
          </a:xfrm>
          <a:prstGeom prst="rect">
            <a:avLst/>
          </a:prstGeom>
        </p:spPr>
      </p:pic>
      <p:sp>
        <p:nvSpPr>
          <p:cNvPr id="27" name="Rectangle 26">
            <a:extLst>
              <a:ext uri="{FF2B5EF4-FFF2-40B4-BE49-F238E27FC236}">
                <a16:creationId xmlns:a16="http://schemas.microsoft.com/office/drawing/2014/main" id="{252FB517-FF87-4FC2-ACB8-95ECAD68BD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 name="TextBox 6">
            <a:extLst>
              <a:ext uri="{FF2B5EF4-FFF2-40B4-BE49-F238E27FC236}">
                <a16:creationId xmlns:a16="http://schemas.microsoft.com/office/drawing/2014/main" id="{E6671DED-CDC0-D8BB-11C6-7C6C84078201}"/>
              </a:ext>
            </a:extLst>
          </p:cNvPr>
          <p:cNvSpPr txBox="1"/>
          <p:nvPr/>
        </p:nvSpPr>
        <p:spPr>
          <a:xfrm>
            <a:off x="316057" y="4970689"/>
            <a:ext cx="4307898" cy="646331"/>
          </a:xfrm>
          <a:prstGeom prst="rect">
            <a:avLst/>
          </a:prstGeom>
          <a:noFill/>
        </p:spPr>
        <p:txBody>
          <a:bodyPr wrap="square">
            <a:spAutoFit/>
          </a:bodyPr>
          <a:lstStyle/>
          <a:p>
            <a:r>
              <a:rPr lang="en-US" dirty="0"/>
              <a:t>RNCP 37827 · Data Analyst Project</a:t>
            </a:r>
          </a:p>
          <a:p>
            <a:r>
              <a:rPr lang="en-US" dirty="0" err="1"/>
              <a:t>Ironhack</a:t>
            </a:r>
            <a:r>
              <a:rPr lang="en-US" dirty="0"/>
              <a:t> Data Analytics </a:t>
            </a:r>
          </a:p>
        </p:txBody>
      </p:sp>
      <p:sp>
        <p:nvSpPr>
          <p:cNvPr id="9" name="TextBox 8">
            <a:extLst>
              <a:ext uri="{FF2B5EF4-FFF2-40B4-BE49-F238E27FC236}">
                <a16:creationId xmlns:a16="http://schemas.microsoft.com/office/drawing/2014/main" id="{915C4751-8333-5A08-1BEA-E4B3B700CC67}"/>
              </a:ext>
            </a:extLst>
          </p:cNvPr>
          <p:cNvSpPr txBox="1"/>
          <p:nvPr/>
        </p:nvSpPr>
        <p:spPr>
          <a:xfrm>
            <a:off x="4187535" y="5756935"/>
            <a:ext cx="3564515" cy="646331"/>
          </a:xfrm>
          <a:prstGeom prst="rect">
            <a:avLst/>
          </a:prstGeom>
          <a:noFill/>
        </p:spPr>
        <p:txBody>
          <a:bodyPr wrap="square">
            <a:spAutoFit/>
          </a:bodyPr>
          <a:lstStyle/>
          <a:p>
            <a:r>
              <a:rPr lang="en-US" dirty="0"/>
              <a:t>Zidène Aourdache</a:t>
            </a:r>
          </a:p>
          <a:p>
            <a:r>
              <a:rPr lang="en-US" dirty="0"/>
              <a:t>Sept. 2026</a:t>
            </a:r>
          </a:p>
        </p:txBody>
      </p:sp>
    </p:spTree>
    <p:extLst>
      <p:ext uri="{BB962C8B-B14F-4D97-AF65-F5344CB8AC3E}">
        <p14:creationId xmlns:p14="http://schemas.microsoft.com/office/powerpoint/2010/main" val="2957064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117F0-1E7A-947C-17B7-267D97183308}"/>
              </a:ext>
            </a:extLst>
          </p:cNvPr>
          <p:cNvSpPr>
            <a:spLocks noGrp="1"/>
          </p:cNvSpPr>
          <p:nvPr>
            <p:ph type="title"/>
          </p:nvPr>
        </p:nvSpPr>
        <p:spPr/>
        <p:txBody>
          <a:bodyPr/>
          <a:lstStyle/>
          <a:p>
            <a:r>
              <a:rPr lang="fr-FR" b="1" dirty="0"/>
              <a:t>Agenda</a:t>
            </a:r>
            <a:endParaRPr lang="en-US" b="1" dirty="0"/>
          </a:p>
        </p:txBody>
      </p:sp>
      <p:sp>
        <p:nvSpPr>
          <p:cNvPr id="3" name="Content Placeholder 2">
            <a:extLst>
              <a:ext uri="{FF2B5EF4-FFF2-40B4-BE49-F238E27FC236}">
                <a16:creationId xmlns:a16="http://schemas.microsoft.com/office/drawing/2014/main" id="{250212C8-1912-A313-3DE7-2775F79B9967}"/>
              </a:ext>
            </a:extLst>
          </p:cNvPr>
          <p:cNvSpPr>
            <a:spLocks noGrp="1"/>
          </p:cNvSpPr>
          <p:nvPr>
            <p:ph idx="1"/>
          </p:nvPr>
        </p:nvSpPr>
        <p:spPr>
          <a:xfrm>
            <a:off x="2039475" y="1080656"/>
            <a:ext cx="8946541" cy="5538354"/>
          </a:xfrm>
        </p:spPr>
        <p:txBody>
          <a:bodyPr>
            <a:normAutofit fontScale="92500" lnSpcReduction="10000"/>
          </a:bodyPr>
          <a:lstStyle/>
          <a:p>
            <a:r>
              <a:rPr lang="en-US" b="1" dirty="0"/>
              <a:t>01 — Business Question &amp; Objectives</a:t>
            </a:r>
            <a:endParaRPr lang="en-US" dirty="0"/>
          </a:p>
          <a:p>
            <a:r>
              <a:rPr lang="en-US" b="1" dirty="0"/>
              <a:t>02 — Data Sources</a:t>
            </a:r>
            <a:endParaRPr lang="en-US" dirty="0"/>
          </a:p>
          <a:p>
            <a:r>
              <a:rPr lang="en-US" b="1" dirty="0"/>
              <a:t>03 — End-to-End Data Pipeline Architecture</a:t>
            </a:r>
            <a:endParaRPr lang="en-US" dirty="0"/>
          </a:p>
          <a:p>
            <a:r>
              <a:rPr lang="en-US" b="1" dirty="0"/>
              <a:t>04 — MySQL Relational Database</a:t>
            </a:r>
            <a:endParaRPr lang="en-US" dirty="0"/>
          </a:p>
          <a:p>
            <a:r>
              <a:rPr lang="en-US" b="1" dirty="0"/>
              <a:t>05 — </a:t>
            </a:r>
            <a:r>
              <a:rPr lang="en-US" b="1" dirty="0" err="1"/>
              <a:t>BigQuery</a:t>
            </a:r>
            <a:r>
              <a:rPr lang="en-US" b="1" dirty="0"/>
              <a:t>: Analytical Data Layer</a:t>
            </a:r>
            <a:endParaRPr lang="en-US" dirty="0"/>
          </a:p>
          <a:p>
            <a:r>
              <a:rPr lang="en-US" b="1" dirty="0"/>
              <a:t>06 — Measurement Coverage &amp; Balance</a:t>
            </a:r>
            <a:endParaRPr lang="en-US" dirty="0"/>
          </a:p>
          <a:p>
            <a:r>
              <a:rPr lang="en-US" b="1" dirty="0"/>
              <a:t>07 — What Are the Performance Disparities?</a:t>
            </a:r>
            <a:endParaRPr lang="en-US" dirty="0"/>
          </a:p>
          <a:p>
            <a:r>
              <a:rPr lang="en-US" b="1" dirty="0"/>
              <a:t>08 — Statistical Evidence: Do the Differences Hold?</a:t>
            </a:r>
          </a:p>
          <a:p>
            <a:r>
              <a:rPr lang="en-US" b="1" dirty="0"/>
              <a:t>09 — What Could Explain the Differences?</a:t>
            </a:r>
            <a:endParaRPr lang="en-US" dirty="0"/>
          </a:p>
          <a:p>
            <a:pPr lvl="1"/>
            <a:r>
              <a:rPr lang="en-US" b="1" dirty="0"/>
              <a:t>09.1 — Interpretation</a:t>
            </a:r>
            <a:endParaRPr lang="en-US" dirty="0"/>
          </a:p>
          <a:p>
            <a:r>
              <a:rPr lang="en-US" b="1" dirty="0"/>
              <a:t>10 —  ML Process</a:t>
            </a:r>
          </a:p>
          <a:p>
            <a:r>
              <a:rPr lang="en-US" b="1" dirty="0"/>
              <a:t>11 — Final Conclusion</a:t>
            </a:r>
            <a:endParaRPr lang="en-US" dirty="0"/>
          </a:p>
          <a:p>
            <a:r>
              <a:rPr lang="en-US" b="1" dirty="0"/>
              <a:t>12 — Challenges &amp; Next Steps</a:t>
            </a:r>
          </a:p>
          <a:p>
            <a:r>
              <a:rPr lang="en-US" b="1" dirty="0"/>
              <a:t>12 — Power BI Dashboard</a:t>
            </a:r>
          </a:p>
        </p:txBody>
      </p:sp>
    </p:spTree>
    <p:extLst>
      <p:ext uri="{BB962C8B-B14F-4D97-AF65-F5344CB8AC3E}">
        <p14:creationId xmlns:p14="http://schemas.microsoft.com/office/powerpoint/2010/main" val="29543465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386D6-7DAF-BCAC-3FDA-4437780BB4EF}"/>
              </a:ext>
            </a:extLst>
          </p:cNvPr>
          <p:cNvSpPr>
            <a:spLocks noGrp="1"/>
          </p:cNvSpPr>
          <p:nvPr>
            <p:ph type="title"/>
          </p:nvPr>
        </p:nvSpPr>
        <p:spPr>
          <a:xfrm>
            <a:off x="646111" y="452718"/>
            <a:ext cx="9404723" cy="887709"/>
          </a:xfrm>
        </p:spPr>
        <p:txBody>
          <a:bodyPr/>
          <a:lstStyle/>
          <a:p>
            <a:r>
              <a:rPr lang="en-US" b="1" dirty="0"/>
              <a:t>1. Business Question &amp; Objectives</a:t>
            </a:r>
          </a:p>
        </p:txBody>
      </p:sp>
      <p:sp>
        <p:nvSpPr>
          <p:cNvPr id="3" name="Content Placeholder 2">
            <a:extLst>
              <a:ext uri="{FF2B5EF4-FFF2-40B4-BE49-F238E27FC236}">
                <a16:creationId xmlns:a16="http://schemas.microsoft.com/office/drawing/2014/main" id="{70B4B548-16FD-0E29-1727-FF913F3046EF}"/>
              </a:ext>
            </a:extLst>
          </p:cNvPr>
          <p:cNvSpPr>
            <a:spLocks noGrp="1"/>
          </p:cNvSpPr>
          <p:nvPr>
            <p:ph idx="1"/>
          </p:nvPr>
        </p:nvSpPr>
        <p:spPr>
          <a:xfrm>
            <a:off x="1104293" y="2017262"/>
            <a:ext cx="8946541" cy="887709"/>
          </a:xfrm>
        </p:spPr>
        <p:txBody>
          <a:bodyPr/>
          <a:lstStyle/>
          <a:p>
            <a:r>
              <a:rPr lang="en-US" b="1" dirty="0"/>
              <a:t>Are there significant territorial inequalities in mobile network performance in France, and what can explain these disparities?</a:t>
            </a:r>
          </a:p>
        </p:txBody>
      </p:sp>
      <p:sp>
        <p:nvSpPr>
          <p:cNvPr id="6" name="Subtitle 2">
            <a:extLst>
              <a:ext uri="{FF2B5EF4-FFF2-40B4-BE49-F238E27FC236}">
                <a16:creationId xmlns:a16="http://schemas.microsoft.com/office/drawing/2014/main" id="{0B654BB1-9296-7F8F-29F2-1A9E80205032}"/>
              </a:ext>
            </a:extLst>
          </p:cNvPr>
          <p:cNvSpPr txBox="1">
            <a:spLocks/>
          </p:cNvSpPr>
          <p:nvPr/>
        </p:nvSpPr>
        <p:spPr>
          <a:xfrm>
            <a:off x="803564" y="2904971"/>
            <a:ext cx="2070765" cy="4348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a:lstStyle>
          <a:p>
            <a:pPr marL="0" indent="0">
              <a:buNone/>
            </a:pPr>
            <a:r>
              <a:rPr lang="fr-FR" sz="2200" b="1" dirty="0"/>
              <a:t>OBJECTIVES:</a:t>
            </a:r>
            <a:endParaRPr lang="en-US" sz="2200" b="1" dirty="0"/>
          </a:p>
        </p:txBody>
      </p:sp>
      <p:sp>
        <p:nvSpPr>
          <p:cNvPr id="8" name="Subtitle 2">
            <a:extLst>
              <a:ext uri="{FF2B5EF4-FFF2-40B4-BE49-F238E27FC236}">
                <a16:creationId xmlns:a16="http://schemas.microsoft.com/office/drawing/2014/main" id="{9505EF17-E0C4-699B-FB79-483C1BA69C4F}"/>
              </a:ext>
            </a:extLst>
          </p:cNvPr>
          <p:cNvSpPr txBox="1">
            <a:spLocks/>
          </p:cNvSpPr>
          <p:nvPr/>
        </p:nvSpPr>
        <p:spPr>
          <a:xfrm>
            <a:off x="803563" y="1327939"/>
            <a:ext cx="2916381" cy="560966"/>
          </a:xfrm>
          <a:prstGeom prst="rect">
            <a:avLst/>
          </a:prstGeom>
        </p:spPr>
        <p:txBody>
          <a:bodyPr vert="horz" lIns="91440" tIns="45720" rIns="91440" bIns="45720" rtlCol="0">
            <a:normAutofit fontScale="925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a:lstStyle>
          <a:p>
            <a:pPr marL="0" indent="0">
              <a:buNone/>
            </a:pPr>
            <a:r>
              <a:rPr lang="fr-FR" sz="2400" b="1" dirty="0"/>
              <a:t>BUSINESS QUESTION:</a:t>
            </a:r>
            <a:endParaRPr lang="en-US" sz="2400" b="1" dirty="0"/>
          </a:p>
        </p:txBody>
      </p:sp>
      <p:sp>
        <p:nvSpPr>
          <p:cNvPr id="9" name="Rectangle: Rounded Corners 8">
            <a:extLst>
              <a:ext uri="{FF2B5EF4-FFF2-40B4-BE49-F238E27FC236}">
                <a16:creationId xmlns:a16="http://schemas.microsoft.com/office/drawing/2014/main" id="{BAA576EF-7B8D-F02A-B01A-E2E73BD5CD4A}"/>
              </a:ext>
            </a:extLst>
          </p:cNvPr>
          <p:cNvSpPr/>
          <p:nvPr/>
        </p:nvSpPr>
        <p:spPr>
          <a:xfrm>
            <a:off x="526471" y="3678381"/>
            <a:ext cx="3470564" cy="1497574"/>
          </a:xfrm>
          <a:prstGeom prst="round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72C78373-96D0-09B6-86BB-7A7413FC1964}"/>
              </a:ext>
            </a:extLst>
          </p:cNvPr>
          <p:cNvSpPr/>
          <p:nvPr/>
        </p:nvSpPr>
        <p:spPr>
          <a:xfrm>
            <a:off x="8194965" y="3678381"/>
            <a:ext cx="3470564" cy="1497574"/>
          </a:xfrm>
          <a:prstGeom prst="round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6265E91A-7D05-5D7B-F8AF-48AC2AB85FB8}"/>
              </a:ext>
            </a:extLst>
          </p:cNvPr>
          <p:cNvSpPr txBox="1"/>
          <p:nvPr/>
        </p:nvSpPr>
        <p:spPr>
          <a:xfrm>
            <a:off x="1104293" y="3699291"/>
            <a:ext cx="1709122" cy="369332"/>
          </a:xfrm>
          <a:prstGeom prst="rect">
            <a:avLst/>
          </a:prstGeom>
          <a:noFill/>
        </p:spPr>
        <p:txBody>
          <a:bodyPr wrap="none" rtlCol="0">
            <a:spAutoFit/>
          </a:bodyPr>
          <a:lstStyle/>
          <a:p>
            <a:r>
              <a:rPr lang="en-US" b="1" dirty="0"/>
              <a:t>01 — Analyze</a:t>
            </a:r>
          </a:p>
        </p:txBody>
      </p:sp>
      <p:sp>
        <p:nvSpPr>
          <p:cNvPr id="15" name="TextBox 14">
            <a:extLst>
              <a:ext uri="{FF2B5EF4-FFF2-40B4-BE49-F238E27FC236}">
                <a16:creationId xmlns:a16="http://schemas.microsoft.com/office/drawing/2014/main" id="{D1557A51-241E-EC2F-E21E-8E93EE410090}"/>
              </a:ext>
            </a:extLst>
          </p:cNvPr>
          <p:cNvSpPr txBox="1"/>
          <p:nvPr/>
        </p:nvSpPr>
        <p:spPr>
          <a:xfrm>
            <a:off x="646111" y="4191068"/>
            <a:ext cx="3307776" cy="646331"/>
          </a:xfrm>
          <a:prstGeom prst="rect">
            <a:avLst/>
          </a:prstGeom>
          <a:noFill/>
        </p:spPr>
        <p:txBody>
          <a:bodyPr wrap="square" rtlCol="0">
            <a:spAutoFit/>
          </a:bodyPr>
          <a:lstStyle/>
          <a:p>
            <a:pPr algn="ctr"/>
            <a:r>
              <a:rPr lang="en-US" dirty="0"/>
              <a:t>5G network performance across key QoS indicators</a:t>
            </a:r>
          </a:p>
        </p:txBody>
      </p:sp>
      <p:sp>
        <p:nvSpPr>
          <p:cNvPr id="17" name="Rectangle: Rounded Corners 16">
            <a:extLst>
              <a:ext uri="{FF2B5EF4-FFF2-40B4-BE49-F238E27FC236}">
                <a16:creationId xmlns:a16="http://schemas.microsoft.com/office/drawing/2014/main" id="{AAAFEDD3-861F-13D0-A389-BF5761ED592C}"/>
              </a:ext>
            </a:extLst>
          </p:cNvPr>
          <p:cNvSpPr/>
          <p:nvPr/>
        </p:nvSpPr>
        <p:spPr>
          <a:xfrm>
            <a:off x="4360718" y="3678381"/>
            <a:ext cx="3470564" cy="1497574"/>
          </a:xfrm>
          <a:prstGeom prst="round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85C6E234-F5EE-B399-F63F-DB3E1742C458}"/>
              </a:ext>
            </a:extLst>
          </p:cNvPr>
          <p:cNvSpPr txBox="1"/>
          <p:nvPr/>
        </p:nvSpPr>
        <p:spPr>
          <a:xfrm>
            <a:off x="4970692" y="3699291"/>
            <a:ext cx="1624163" cy="369332"/>
          </a:xfrm>
          <a:prstGeom prst="rect">
            <a:avLst/>
          </a:prstGeom>
          <a:noFill/>
        </p:spPr>
        <p:txBody>
          <a:bodyPr wrap="none" rtlCol="0">
            <a:spAutoFit/>
          </a:bodyPr>
          <a:lstStyle/>
          <a:p>
            <a:r>
              <a:rPr lang="en-US" b="1" dirty="0"/>
              <a:t>02 — Identify</a:t>
            </a:r>
          </a:p>
        </p:txBody>
      </p:sp>
      <p:sp>
        <p:nvSpPr>
          <p:cNvPr id="21" name="TextBox 20">
            <a:extLst>
              <a:ext uri="{FF2B5EF4-FFF2-40B4-BE49-F238E27FC236}">
                <a16:creationId xmlns:a16="http://schemas.microsoft.com/office/drawing/2014/main" id="{0AC2D5BF-D51F-DDA9-EECF-0F1652D9E596}"/>
              </a:ext>
            </a:extLst>
          </p:cNvPr>
          <p:cNvSpPr txBox="1"/>
          <p:nvPr/>
        </p:nvSpPr>
        <p:spPr>
          <a:xfrm>
            <a:off x="4512510" y="4191068"/>
            <a:ext cx="3307776" cy="646331"/>
          </a:xfrm>
          <a:prstGeom prst="rect">
            <a:avLst/>
          </a:prstGeom>
          <a:noFill/>
        </p:spPr>
        <p:txBody>
          <a:bodyPr wrap="square" rtlCol="0">
            <a:spAutoFit/>
          </a:bodyPr>
          <a:lstStyle/>
          <a:p>
            <a:pPr algn="ctr"/>
            <a:r>
              <a:rPr lang="en-US" dirty="0"/>
              <a:t>Territorial and operator-level disparities</a:t>
            </a:r>
          </a:p>
        </p:txBody>
      </p:sp>
      <p:sp>
        <p:nvSpPr>
          <p:cNvPr id="23" name="TextBox 22">
            <a:extLst>
              <a:ext uri="{FF2B5EF4-FFF2-40B4-BE49-F238E27FC236}">
                <a16:creationId xmlns:a16="http://schemas.microsoft.com/office/drawing/2014/main" id="{584EDA3A-026F-F130-D842-3152C9EF0519}"/>
              </a:ext>
            </a:extLst>
          </p:cNvPr>
          <p:cNvSpPr txBox="1"/>
          <p:nvPr/>
        </p:nvSpPr>
        <p:spPr>
          <a:xfrm>
            <a:off x="8815935" y="3699291"/>
            <a:ext cx="1630575" cy="369332"/>
          </a:xfrm>
          <a:prstGeom prst="rect">
            <a:avLst/>
          </a:prstGeom>
          <a:noFill/>
        </p:spPr>
        <p:txBody>
          <a:bodyPr wrap="none" rtlCol="0">
            <a:spAutoFit/>
          </a:bodyPr>
          <a:lstStyle/>
          <a:p>
            <a:r>
              <a:rPr lang="en-US" b="1" dirty="0"/>
              <a:t>03 — Explore</a:t>
            </a:r>
          </a:p>
        </p:txBody>
      </p:sp>
      <p:sp>
        <p:nvSpPr>
          <p:cNvPr id="25" name="TextBox 24">
            <a:extLst>
              <a:ext uri="{FF2B5EF4-FFF2-40B4-BE49-F238E27FC236}">
                <a16:creationId xmlns:a16="http://schemas.microsoft.com/office/drawing/2014/main" id="{F91178EF-D160-833E-D462-12FBA4B51586}"/>
              </a:ext>
            </a:extLst>
          </p:cNvPr>
          <p:cNvSpPr txBox="1"/>
          <p:nvPr/>
        </p:nvSpPr>
        <p:spPr>
          <a:xfrm>
            <a:off x="8238113" y="4052568"/>
            <a:ext cx="3307776" cy="923330"/>
          </a:xfrm>
          <a:prstGeom prst="rect">
            <a:avLst/>
          </a:prstGeom>
          <a:noFill/>
        </p:spPr>
        <p:txBody>
          <a:bodyPr wrap="square" rtlCol="0">
            <a:spAutoFit/>
          </a:bodyPr>
          <a:lstStyle/>
          <a:p>
            <a:pPr algn="ctr"/>
            <a:r>
              <a:rPr lang="en-US" dirty="0"/>
              <a:t>Potential factors associated with performance difference</a:t>
            </a:r>
          </a:p>
        </p:txBody>
      </p:sp>
      <p:sp>
        <p:nvSpPr>
          <p:cNvPr id="27" name="Subtitle 2">
            <a:extLst>
              <a:ext uri="{FF2B5EF4-FFF2-40B4-BE49-F238E27FC236}">
                <a16:creationId xmlns:a16="http://schemas.microsoft.com/office/drawing/2014/main" id="{7FC84E5E-B126-1769-7891-363D4535DB6F}"/>
              </a:ext>
            </a:extLst>
          </p:cNvPr>
          <p:cNvSpPr txBox="1">
            <a:spLocks/>
          </p:cNvSpPr>
          <p:nvPr/>
        </p:nvSpPr>
        <p:spPr>
          <a:xfrm>
            <a:off x="877133" y="5471215"/>
            <a:ext cx="2070765" cy="4348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a:lstStyle>
          <a:p>
            <a:pPr marL="0" indent="0">
              <a:buNone/>
            </a:pPr>
            <a:r>
              <a:rPr lang="fr-FR" sz="2200" b="1" dirty="0"/>
              <a:t>SCOPE:</a:t>
            </a:r>
            <a:endParaRPr lang="en-US" sz="2200" b="1" dirty="0"/>
          </a:p>
        </p:txBody>
      </p:sp>
      <p:sp>
        <p:nvSpPr>
          <p:cNvPr id="29" name="TextBox 28">
            <a:extLst>
              <a:ext uri="{FF2B5EF4-FFF2-40B4-BE49-F238E27FC236}">
                <a16:creationId xmlns:a16="http://schemas.microsoft.com/office/drawing/2014/main" id="{71424EC0-1E2A-6B4E-19CE-5871A1C88317}"/>
              </a:ext>
            </a:extLst>
          </p:cNvPr>
          <p:cNvSpPr txBox="1"/>
          <p:nvPr/>
        </p:nvSpPr>
        <p:spPr>
          <a:xfrm>
            <a:off x="1923557" y="5906069"/>
            <a:ext cx="6892377" cy="369332"/>
          </a:xfrm>
          <a:prstGeom prst="rect">
            <a:avLst/>
          </a:prstGeom>
          <a:noFill/>
        </p:spPr>
        <p:txBody>
          <a:bodyPr wrap="square">
            <a:spAutoFit/>
          </a:bodyPr>
          <a:lstStyle/>
          <a:p>
            <a:r>
              <a:rPr lang="en-US" dirty="0"/>
              <a:t>Metropolitan France · 2025(T3) · 4 * 5G QoS · 4 operators</a:t>
            </a:r>
          </a:p>
        </p:txBody>
      </p:sp>
    </p:spTree>
    <p:extLst>
      <p:ext uri="{BB962C8B-B14F-4D97-AF65-F5344CB8AC3E}">
        <p14:creationId xmlns:p14="http://schemas.microsoft.com/office/powerpoint/2010/main" val="7499914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B037B9-6064-E947-BFE6-555E1D42FD8E}"/>
              </a:ext>
            </a:extLst>
          </p:cNvPr>
          <p:cNvSpPr>
            <a:spLocks noGrp="1"/>
          </p:cNvSpPr>
          <p:nvPr>
            <p:ph type="title"/>
          </p:nvPr>
        </p:nvSpPr>
        <p:spPr>
          <a:xfrm>
            <a:off x="646110" y="329139"/>
            <a:ext cx="7791307" cy="717374"/>
          </a:xfrm>
        </p:spPr>
        <p:txBody>
          <a:bodyPr/>
          <a:lstStyle/>
          <a:p>
            <a:r>
              <a:rPr lang="en-US" b="1" dirty="0"/>
              <a:t>2. Data sources &amp; Collection</a:t>
            </a:r>
          </a:p>
        </p:txBody>
      </p:sp>
      <p:sp>
        <p:nvSpPr>
          <p:cNvPr id="5" name="Flowchart: Document 4">
            <a:extLst>
              <a:ext uri="{FF2B5EF4-FFF2-40B4-BE49-F238E27FC236}">
                <a16:creationId xmlns:a16="http://schemas.microsoft.com/office/drawing/2014/main" id="{49CA1F66-32C2-7987-B642-0E921884CA0F}"/>
              </a:ext>
            </a:extLst>
          </p:cNvPr>
          <p:cNvSpPr/>
          <p:nvPr/>
        </p:nvSpPr>
        <p:spPr>
          <a:xfrm>
            <a:off x="809297" y="1408388"/>
            <a:ext cx="3596448" cy="2060147"/>
          </a:xfrm>
          <a:prstGeom prst="flowChartDocumen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0E128987-19E8-100E-07C0-8A48FF288AEE}"/>
              </a:ext>
            </a:extLst>
          </p:cNvPr>
          <p:cNvSpPr txBox="1"/>
          <p:nvPr/>
        </p:nvSpPr>
        <p:spPr>
          <a:xfrm>
            <a:off x="809297" y="1764270"/>
            <a:ext cx="3565400" cy="369332"/>
          </a:xfrm>
          <a:prstGeom prst="rect">
            <a:avLst/>
          </a:prstGeom>
          <a:noFill/>
        </p:spPr>
        <p:txBody>
          <a:bodyPr wrap="none" rtlCol="0">
            <a:spAutoFit/>
          </a:bodyPr>
          <a:lstStyle/>
          <a:p>
            <a:r>
              <a:rPr lang="fr-FR" b="1" dirty="0"/>
              <a:t>File1: </a:t>
            </a:r>
            <a:r>
              <a:rPr lang="fr-FR" i="1" dirty="0"/>
              <a:t>5G_Mobile_QoS: </a:t>
            </a:r>
            <a:r>
              <a:rPr lang="en-US" b="1" dirty="0">
                <a:highlight>
                  <a:srgbClr val="808000"/>
                </a:highlight>
              </a:rPr>
              <a:t>317,998</a:t>
            </a:r>
          </a:p>
        </p:txBody>
      </p:sp>
      <p:sp>
        <p:nvSpPr>
          <p:cNvPr id="9" name="TextBox 8">
            <a:extLst>
              <a:ext uri="{FF2B5EF4-FFF2-40B4-BE49-F238E27FC236}">
                <a16:creationId xmlns:a16="http://schemas.microsoft.com/office/drawing/2014/main" id="{2E2FF9CF-FC64-DC74-109B-303A3C822599}"/>
              </a:ext>
            </a:extLst>
          </p:cNvPr>
          <p:cNvSpPr txBox="1"/>
          <p:nvPr/>
        </p:nvSpPr>
        <p:spPr>
          <a:xfrm>
            <a:off x="809297" y="1454871"/>
            <a:ext cx="963757" cy="369332"/>
          </a:xfrm>
          <a:prstGeom prst="rect">
            <a:avLst/>
          </a:prstGeom>
          <a:noFill/>
        </p:spPr>
        <p:txBody>
          <a:bodyPr wrap="square">
            <a:spAutoFit/>
          </a:bodyPr>
          <a:lstStyle/>
          <a:p>
            <a:r>
              <a:rPr lang="fr-FR" sz="1800" b="1" dirty="0"/>
              <a:t>ARCEP</a:t>
            </a:r>
            <a:endParaRPr lang="en-US" b="1" dirty="0"/>
          </a:p>
        </p:txBody>
      </p:sp>
      <p:sp>
        <p:nvSpPr>
          <p:cNvPr id="10" name="TextBox 9">
            <a:extLst>
              <a:ext uri="{FF2B5EF4-FFF2-40B4-BE49-F238E27FC236}">
                <a16:creationId xmlns:a16="http://schemas.microsoft.com/office/drawing/2014/main" id="{4A5BB98F-A00A-A9CD-460A-8E18C260A7B8}"/>
              </a:ext>
            </a:extLst>
          </p:cNvPr>
          <p:cNvSpPr txBox="1"/>
          <p:nvPr/>
        </p:nvSpPr>
        <p:spPr>
          <a:xfrm>
            <a:off x="809297" y="2073668"/>
            <a:ext cx="3471757" cy="1200329"/>
          </a:xfrm>
          <a:prstGeom prst="rect">
            <a:avLst/>
          </a:prstGeom>
          <a:noFill/>
        </p:spPr>
        <p:txBody>
          <a:bodyPr wrap="square" rtlCol="0">
            <a:spAutoFit/>
          </a:bodyPr>
          <a:lstStyle/>
          <a:p>
            <a:r>
              <a:rPr lang="fr-FR" b="1" dirty="0"/>
              <a:t>Source</a:t>
            </a:r>
            <a:r>
              <a:rPr lang="fr-FR" dirty="0"/>
              <a:t>:  "https://data.arcep.fr/mobile/</a:t>
            </a:r>
            <a:r>
              <a:rPr lang="fr-FR" dirty="0" err="1"/>
              <a:t>mesures_qualite_arcep</a:t>
            </a:r>
            <a:r>
              <a:rPr lang="fr-FR" dirty="0"/>
              <a:t>/2025/</a:t>
            </a:r>
            <a:r>
              <a:rPr lang="fr-FR" dirty="0" err="1"/>
              <a:t>Metropole</a:t>
            </a:r>
            <a:r>
              <a:rPr lang="fr-FR" dirty="0"/>
              <a:t>/"</a:t>
            </a:r>
            <a:endParaRPr lang="en-US" dirty="0"/>
          </a:p>
        </p:txBody>
      </p:sp>
      <p:sp>
        <p:nvSpPr>
          <p:cNvPr id="12" name="Flowchart: Document 11">
            <a:extLst>
              <a:ext uri="{FF2B5EF4-FFF2-40B4-BE49-F238E27FC236}">
                <a16:creationId xmlns:a16="http://schemas.microsoft.com/office/drawing/2014/main" id="{D8082410-3BCC-4FFA-A17A-23747747AD64}"/>
              </a:ext>
            </a:extLst>
          </p:cNvPr>
          <p:cNvSpPr/>
          <p:nvPr/>
        </p:nvSpPr>
        <p:spPr>
          <a:xfrm>
            <a:off x="5450969" y="1408387"/>
            <a:ext cx="3596448" cy="2060147"/>
          </a:xfrm>
          <a:prstGeom prst="flowChartDocumen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8F4FB69D-8E10-D52F-5ACC-648B486EE79F}"/>
              </a:ext>
            </a:extLst>
          </p:cNvPr>
          <p:cNvSpPr txBox="1"/>
          <p:nvPr/>
        </p:nvSpPr>
        <p:spPr>
          <a:xfrm>
            <a:off x="5450969" y="1482138"/>
            <a:ext cx="963757" cy="369332"/>
          </a:xfrm>
          <a:prstGeom prst="rect">
            <a:avLst/>
          </a:prstGeom>
          <a:noFill/>
        </p:spPr>
        <p:txBody>
          <a:bodyPr wrap="square">
            <a:spAutoFit/>
          </a:bodyPr>
          <a:lstStyle/>
          <a:p>
            <a:r>
              <a:rPr lang="fr-FR" sz="1800" b="1" dirty="0"/>
              <a:t>ARCEP</a:t>
            </a:r>
            <a:endParaRPr lang="en-US" b="1" dirty="0"/>
          </a:p>
        </p:txBody>
      </p:sp>
      <p:sp>
        <p:nvSpPr>
          <p:cNvPr id="18" name="TextBox 17">
            <a:extLst>
              <a:ext uri="{FF2B5EF4-FFF2-40B4-BE49-F238E27FC236}">
                <a16:creationId xmlns:a16="http://schemas.microsoft.com/office/drawing/2014/main" id="{F6D874F8-D429-9289-117B-2F9C118C7C18}"/>
              </a:ext>
            </a:extLst>
          </p:cNvPr>
          <p:cNvSpPr txBox="1"/>
          <p:nvPr/>
        </p:nvSpPr>
        <p:spPr>
          <a:xfrm>
            <a:off x="5450969" y="1764270"/>
            <a:ext cx="3719288" cy="369332"/>
          </a:xfrm>
          <a:prstGeom prst="rect">
            <a:avLst/>
          </a:prstGeom>
          <a:noFill/>
        </p:spPr>
        <p:txBody>
          <a:bodyPr wrap="none" rtlCol="0">
            <a:spAutoFit/>
          </a:bodyPr>
          <a:lstStyle/>
          <a:p>
            <a:r>
              <a:rPr lang="fr-FR" b="1" dirty="0"/>
              <a:t>File2:  </a:t>
            </a:r>
            <a:r>
              <a:rPr lang="fr-FR" i="1" dirty="0" err="1"/>
              <a:t>Operators</a:t>
            </a:r>
            <a:r>
              <a:rPr lang="fr-FR" b="1" i="1" dirty="0"/>
              <a:t>’</a:t>
            </a:r>
            <a:r>
              <a:rPr lang="fr-FR" i="1" dirty="0"/>
              <a:t> sites: </a:t>
            </a:r>
            <a:r>
              <a:rPr lang="en-US" b="1" dirty="0">
                <a:highlight>
                  <a:srgbClr val="808000"/>
                </a:highlight>
              </a:rPr>
              <a:t>118,087 </a:t>
            </a:r>
          </a:p>
        </p:txBody>
      </p:sp>
      <p:sp>
        <p:nvSpPr>
          <p:cNvPr id="20" name="TextBox 19">
            <a:extLst>
              <a:ext uri="{FF2B5EF4-FFF2-40B4-BE49-F238E27FC236}">
                <a16:creationId xmlns:a16="http://schemas.microsoft.com/office/drawing/2014/main" id="{CA70FD54-6884-22F1-BF64-60C8D5F45789}"/>
              </a:ext>
            </a:extLst>
          </p:cNvPr>
          <p:cNvSpPr txBox="1"/>
          <p:nvPr/>
        </p:nvSpPr>
        <p:spPr>
          <a:xfrm>
            <a:off x="5450969" y="2133683"/>
            <a:ext cx="1078057" cy="369332"/>
          </a:xfrm>
          <a:prstGeom prst="rect">
            <a:avLst/>
          </a:prstGeom>
          <a:noFill/>
        </p:spPr>
        <p:txBody>
          <a:bodyPr wrap="square">
            <a:spAutoFit/>
          </a:bodyPr>
          <a:lstStyle/>
          <a:p>
            <a:r>
              <a:rPr lang="fr-FR" sz="1800" b="1" dirty="0"/>
              <a:t>Source</a:t>
            </a:r>
            <a:r>
              <a:rPr lang="fr-FR" sz="1800" dirty="0"/>
              <a:t>: </a:t>
            </a:r>
            <a:endParaRPr lang="en-US" dirty="0"/>
          </a:p>
        </p:txBody>
      </p:sp>
      <p:sp>
        <p:nvSpPr>
          <p:cNvPr id="23" name="TextBox 22">
            <a:extLst>
              <a:ext uri="{FF2B5EF4-FFF2-40B4-BE49-F238E27FC236}">
                <a16:creationId xmlns:a16="http://schemas.microsoft.com/office/drawing/2014/main" id="{8FEB48F7-FBF0-5CD2-BAAA-2644FDB5E370}"/>
              </a:ext>
            </a:extLst>
          </p:cNvPr>
          <p:cNvSpPr txBox="1"/>
          <p:nvPr/>
        </p:nvSpPr>
        <p:spPr>
          <a:xfrm>
            <a:off x="5450969" y="2460328"/>
            <a:ext cx="2986449" cy="646331"/>
          </a:xfrm>
          <a:prstGeom prst="rect">
            <a:avLst/>
          </a:prstGeom>
          <a:noFill/>
        </p:spPr>
        <p:txBody>
          <a:bodyPr wrap="square" rtlCol="0">
            <a:spAutoFit/>
          </a:bodyPr>
          <a:lstStyle/>
          <a:p>
            <a:r>
              <a:rPr lang="fr-FR" dirty="0"/>
              <a:t>"https://data.arcep.fr/mobile/sites/"</a:t>
            </a:r>
            <a:endParaRPr lang="en-US" dirty="0"/>
          </a:p>
        </p:txBody>
      </p:sp>
      <p:sp>
        <p:nvSpPr>
          <p:cNvPr id="25" name="Flowchart: Document 24">
            <a:extLst>
              <a:ext uri="{FF2B5EF4-FFF2-40B4-BE49-F238E27FC236}">
                <a16:creationId xmlns:a16="http://schemas.microsoft.com/office/drawing/2014/main" id="{B8F4CCFA-D9B7-D6B0-973B-E7FA4733A58E}"/>
              </a:ext>
            </a:extLst>
          </p:cNvPr>
          <p:cNvSpPr/>
          <p:nvPr/>
        </p:nvSpPr>
        <p:spPr>
          <a:xfrm>
            <a:off x="746951" y="3595987"/>
            <a:ext cx="3596448" cy="2060147"/>
          </a:xfrm>
          <a:prstGeom prst="flowChartDocumen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7E845B9B-BEE7-0D89-D8B0-C0532BEBBD6C}"/>
              </a:ext>
            </a:extLst>
          </p:cNvPr>
          <p:cNvSpPr txBox="1"/>
          <p:nvPr/>
        </p:nvSpPr>
        <p:spPr>
          <a:xfrm>
            <a:off x="746951" y="3889967"/>
            <a:ext cx="2018501" cy="369332"/>
          </a:xfrm>
          <a:prstGeom prst="rect">
            <a:avLst/>
          </a:prstGeom>
          <a:noFill/>
        </p:spPr>
        <p:txBody>
          <a:bodyPr wrap="none" rtlCol="0">
            <a:spAutoFit/>
          </a:bodyPr>
          <a:lstStyle/>
          <a:p>
            <a:r>
              <a:rPr lang="fr-FR" b="1" dirty="0"/>
              <a:t>File3: </a:t>
            </a:r>
            <a:r>
              <a:rPr lang="fr-FR" dirty="0"/>
              <a:t>Population</a:t>
            </a:r>
            <a:endParaRPr lang="en-US" dirty="0"/>
          </a:p>
        </p:txBody>
      </p:sp>
      <p:sp>
        <p:nvSpPr>
          <p:cNvPr id="29" name="TextBox 28">
            <a:extLst>
              <a:ext uri="{FF2B5EF4-FFF2-40B4-BE49-F238E27FC236}">
                <a16:creationId xmlns:a16="http://schemas.microsoft.com/office/drawing/2014/main" id="{F80653F7-260F-DCE5-6D12-E62657F37DFC}"/>
              </a:ext>
            </a:extLst>
          </p:cNvPr>
          <p:cNvSpPr txBox="1"/>
          <p:nvPr/>
        </p:nvSpPr>
        <p:spPr>
          <a:xfrm>
            <a:off x="746951" y="3580568"/>
            <a:ext cx="963757" cy="369332"/>
          </a:xfrm>
          <a:prstGeom prst="rect">
            <a:avLst/>
          </a:prstGeom>
          <a:noFill/>
        </p:spPr>
        <p:txBody>
          <a:bodyPr wrap="square">
            <a:spAutoFit/>
          </a:bodyPr>
          <a:lstStyle/>
          <a:p>
            <a:r>
              <a:rPr lang="fr-FR" sz="1800" b="1" dirty="0"/>
              <a:t>INSEE</a:t>
            </a:r>
            <a:endParaRPr lang="en-US" b="1" dirty="0"/>
          </a:p>
        </p:txBody>
      </p:sp>
      <p:sp>
        <p:nvSpPr>
          <p:cNvPr id="31" name="TextBox 30">
            <a:extLst>
              <a:ext uri="{FF2B5EF4-FFF2-40B4-BE49-F238E27FC236}">
                <a16:creationId xmlns:a16="http://schemas.microsoft.com/office/drawing/2014/main" id="{E1831E57-4A74-C92E-F991-0458AD3E59CB}"/>
              </a:ext>
            </a:extLst>
          </p:cNvPr>
          <p:cNvSpPr txBox="1"/>
          <p:nvPr/>
        </p:nvSpPr>
        <p:spPr>
          <a:xfrm>
            <a:off x="746951" y="4199365"/>
            <a:ext cx="3471757" cy="923330"/>
          </a:xfrm>
          <a:prstGeom prst="rect">
            <a:avLst/>
          </a:prstGeom>
          <a:noFill/>
        </p:spPr>
        <p:txBody>
          <a:bodyPr wrap="square" rtlCol="0">
            <a:spAutoFit/>
          </a:bodyPr>
          <a:lstStyle/>
          <a:p>
            <a:r>
              <a:rPr lang="fr-FR" b="1" dirty="0"/>
              <a:t>Source</a:t>
            </a:r>
            <a:r>
              <a:rPr lang="fr-FR" dirty="0"/>
              <a:t>:  "https://api.insee.fr/</a:t>
            </a:r>
            <a:r>
              <a:rPr lang="fr-FR" dirty="0" err="1"/>
              <a:t>melodi</a:t>
            </a:r>
            <a:r>
              <a:rPr lang="fr-FR" dirty="0"/>
              <a:t>/data/</a:t>
            </a:r>
            <a:endParaRPr lang="en-US" dirty="0"/>
          </a:p>
        </p:txBody>
      </p:sp>
      <p:sp>
        <p:nvSpPr>
          <p:cNvPr id="33" name="Flowchart: Document 32">
            <a:extLst>
              <a:ext uri="{FF2B5EF4-FFF2-40B4-BE49-F238E27FC236}">
                <a16:creationId xmlns:a16="http://schemas.microsoft.com/office/drawing/2014/main" id="{A84C7154-DC3A-8BBC-14F3-D517D674B72E}"/>
              </a:ext>
            </a:extLst>
          </p:cNvPr>
          <p:cNvSpPr/>
          <p:nvPr/>
        </p:nvSpPr>
        <p:spPr>
          <a:xfrm>
            <a:off x="5450969" y="3685407"/>
            <a:ext cx="3596448" cy="2060147"/>
          </a:xfrm>
          <a:prstGeom prst="flowChartDocument">
            <a:avLst/>
          </a:pr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TextBox 34">
            <a:extLst>
              <a:ext uri="{FF2B5EF4-FFF2-40B4-BE49-F238E27FC236}">
                <a16:creationId xmlns:a16="http://schemas.microsoft.com/office/drawing/2014/main" id="{254DBA41-147D-39C8-D643-970A6E6E7A39}"/>
              </a:ext>
            </a:extLst>
          </p:cNvPr>
          <p:cNvSpPr txBox="1"/>
          <p:nvPr/>
        </p:nvSpPr>
        <p:spPr>
          <a:xfrm>
            <a:off x="5450969" y="3979387"/>
            <a:ext cx="3382657" cy="369332"/>
          </a:xfrm>
          <a:prstGeom prst="rect">
            <a:avLst/>
          </a:prstGeom>
          <a:noFill/>
        </p:spPr>
        <p:txBody>
          <a:bodyPr wrap="none" rtlCol="0">
            <a:spAutoFit/>
          </a:bodyPr>
          <a:lstStyle/>
          <a:p>
            <a:r>
              <a:rPr lang="fr-FR" b="1" dirty="0"/>
              <a:t>File4: </a:t>
            </a:r>
            <a:r>
              <a:rPr lang="fr-FR" dirty="0"/>
              <a:t>Insee Geo: </a:t>
            </a:r>
            <a:r>
              <a:rPr lang="en-US" b="1" dirty="0">
                <a:highlight>
                  <a:srgbClr val="808000"/>
                </a:highlight>
              </a:rPr>
              <a:t>34,875</a:t>
            </a:r>
            <a:r>
              <a:rPr lang="en-US" dirty="0">
                <a:highlight>
                  <a:srgbClr val="808000"/>
                </a:highlight>
              </a:rPr>
              <a:t> </a:t>
            </a:r>
            <a:r>
              <a:rPr lang="en-US" b="1" dirty="0">
                <a:highlight>
                  <a:srgbClr val="808000"/>
                </a:highlight>
              </a:rPr>
              <a:t>com</a:t>
            </a:r>
          </a:p>
        </p:txBody>
      </p:sp>
      <p:sp>
        <p:nvSpPr>
          <p:cNvPr id="37" name="TextBox 36">
            <a:extLst>
              <a:ext uri="{FF2B5EF4-FFF2-40B4-BE49-F238E27FC236}">
                <a16:creationId xmlns:a16="http://schemas.microsoft.com/office/drawing/2014/main" id="{9DF69BFA-D28B-4F99-793A-327A29D88141}"/>
              </a:ext>
            </a:extLst>
          </p:cNvPr>
          <p:cNvSpPr txBox="1"/>
          <p:nvPr/>
        </p:nvSpPr>
        <p:spPr>
          <a:xfrm>
            <a:off x="5450969" y="3669988"/>
            <a:ext cx="963757" cy="369332"/>
          </a:xfrm>
          <a:prstGeom prst="rect">
            <a:avLst/>
          </a:prstGeom>
          <a:noFill/>
        </p:spPr>
        <p:txBody>
          <a:bodyPr wrap="square">
            <a:spAutoFit/>
          </a:bodyPr>
          <a:lstStyle/>
          <a:p>
            <a:r>
              <a:rPr lang="fr-FR" sz="1800" b="1" dirty="0"/>
              <a:t>INSEE</a:t>
            </a:r>
            <a:endParaRPr lang="en-US" b="1" dirty="0"/>
          </a:p>
        </p:txBody>
      </p:sp>
      <p:sp>
        <p:nvSpPr>
          <p:cNvPr id="39" name="TextBox 38">
            <a:extLst>
              <a:ext uri="{FF2B5EF4-FFF2-40B4-BE49-F238E27FC236}">
                <a16:creationId xmlns:a16="http://schemas.microsoft.com/office/drawing/2014/main" id="{20E10A13-ADA5-6EC4-26AC-40ED13EE09BD}"/>
              </a:ext>
            </a:extLst>
          </p:cNvPr>
          <p:cNvSpPr txBox="1"/>
          <p:nvPr/>
        </p:nvSpPr>
        <p:spPr>
          <a:xfrm>
            <a:off x="5450969" y="4288785"/>
            <a:ext cx="3471757" cy="646331"/>
          </a:xfrm>
          <a:prstGeom prst="rect">
            <a:avLst/>
          </a:prstGeom>
          <a:noFill/>
        </p:spPr>
        <p:txBody>
          <a:bodyPr wrap="square" rtlCol="0">
            <a:spAutoFit/>
          </a:bodyPr>
          <a:lstStyle/>
          <a:p>
            <a:r>
              <a:rPr lang="fr-FR" b="1" dirty="0"/>
              <a:t>flat file  ‘.csv’</a:t>
            </a:r>
            <a:r>
              <a:rPr lang="fr-FR" dirty="0"/>
              <a:t>)</a:t>
            </a:r>
          </a:p>
          <a:p>
            <a:r>
              <a:rPr lang="fr-FR" dirty="0"/>
              <a:t>Source: "https://www.insee.fr/</a:t>
            </a:r>
            <a:endParaRPr lang="en-US" dirty="0"/>
          </a:p>
        </p:txBody>
      </p:sp>
      <p:sp>
        <p:nvSpPr>
          <p:cNvPr id="43" name="Content Placeholder 2">
            <a:extLst>
              <a:ext uri="{FF2B5EF4-FFF2-40B4-BE49-F238E27FC236}">
                <a16:creationId xmlns:a16="http://schemas.microsoft.com/office/drawing/2014/main" id="{4DC0BB59-7C35-E370-013A-D442036EDA67}"/>
              </a:ext>
            </a:extLst>
          </p:cNvPr>
          <p:cNvSpPr>
            <a:spLocks noGrp="1"/>
          </p:cNvSpPr>
          <p:nvPr>
            <p:ph idx="1"/>
          </p:nvPr>
        </p:nvSpPr>
        <p:spPr>
          <a:xfrm>
            <a:off x="1849909" y="5995019"/>
            <a:ext cx="5680444" cy="545630"/>
          </a:xfrm>
        </p:spPr>
        <p:txBody>
          <a:bodyPr>
            <a:normAutofit/>
          </a:bodyPr>
          <a:lstStyle/>
          <a:p>
            <a:pPr lvl="0"/>
            <a:r>
              <a:rPr lang="en-US" b="1" dirty="0"/>
              <a:t>Common Geographic key: </a:t>
            </a:r>
            <a:r>
              <a:rPr lang="en-US" b="1" dirty="0" err="1"/>
              <a:t>insee_com</a:t>
            </a:r>
            <a:endParaRPr lang="en-US" b="1" dirty="0"/>
          </a:p>
          <a:p>
            <a:endParaRPr lang="en-US" b="1" dirty="0"/>
          </a:p>
        </p:txBody>
      </p:sp>
      <p:pic>
        <p:nvPicPr>
          <p:cNvPr id="53" name="Picture 52">
            <a:extLst>
              <a:ext uri="{FF2B5EF4-FFF2-40B4-BE49-F238E27FC236}">
                <a16:creationId xmlns:a16="http://schemas.microsoft.com/office/drawing/2014/main" id="{9A923F92-E9EE-D856-C50C-77A3A296EDBE}"/>
              </a:ext>
            </a:extLst>
          </p:cNvPr>
          <p:cNvPicPr>
            <a:picLocks noChangeAspect="1"/>
          </p:cNvPicPr>
          <p:nvPr/>
        </p:nvPicPr>
        <p:blipFill>
          <a:blip r:embed="rId3"/>
          <a:stretch>
            <a:fillRect/>
          </a:stretch>
        </p:blipFill>
        <p:spPr>
          <a:xfrm rot="20362349">
            <a:off x="3361601" y="1062565"/>
            <a:ext cx="1112044" cy="591074"/>
          </a:xfrm>
          <a:prstGeom prst="rect">
            <a:avLst/>
          </a:prstGeom>
        </p:spPr>
      </p:pic>
      <p:pic>
        <p:nvPicPr>
          <p:cNvPr id="55" name="Picture 54">
            <a:extLst>
              <a:ext uri="{FF2B5EF4-FFF2-40B4-BE49-F238E27FC236}">
                <a16:creationId xmlns:a16="http://schemas.microsoft.com/office/drawing/2014/main" id="{09740C07-A936-2941-2597-C308E057BCD7}"/>
              </a:ext>
            </a:extLst>
          </p:cNvPr>
          <p:cNvPicPr>
            <a:picLocks noChangeAspect="1"/>
          </p:cNvPicPr>
          <p:nvPr/>
        </p:nvPicPr>
        <p:blipFill>
          <a:blip r:embed="rId3"/>
          <a:stretch>
            <a:fillRect/>
          </a:stretch>
        </p:blipFill>
        <p:spPr>
          <a:xfrm rot="20362349">
            <a:off x="8586130" y="907957"/>
            <a:ext cx="1112044" cy="591074"/>
          </a:xfrm>
          <a:prstGeom prst="rect">
            <a:avLst/>
          </a:prstGeom>
        </p:spPr>
      </p:pic>
      <p:pic>
        <p:nvPicPr>
          <p:cNvPr id="57" name="Picture 56">
            <a:extLst>
              <a:ext uri="{FF2B5EF4-FFF2-40B4-BE49-F238E27FC236}">
                <a16:creationId xmlns:a16="http://schemas.microsoft.com/office/drawing/2014/main" id="{4FE023A3-A0F9-5A42-DD49-CC5EFD4EA786}"/>
              </a:ext>
            </a:extLst>
          </p:cNvPr>
          <p:cNvPicPr>
            <a:picLocks noChangeAspect="1"/>
          </p:cNvPicPr>
          <p:nvPr/>
        </p:nvPicPr>
        <p:blipFill>
          <a:blip r:embed="rId4"/>
          <a:stretch>
            <a:fillRect/>
          </a:stretch>
        </p:blipFill>
        <p:spPr>
          <a:xfrm>
            <a:off x="3498975" y="3646052"/>
            <a:ext cx="782079" cy="799459"/>
          </a:xfrm>
          <a:prstGeom prst="rect">
            <a:avLst/>
          </a:prstGeom>
        </p:spPr>
      </p:pic>
      <p:pic>
        <p:nvPicPr>
          <p:cNvPr id="59" name="Picture 58">
            <a:extLst>
              <a:ext uri="{FF2B5EF4-FFF2-40B4-BE49-F238E27FC236}">
                <a16:creationId xmlns:a16="http://schemas.microsoft.com/office/drawing/2014/main" id="{65C51772-373A-1C6D-E6DD-8CF5F9F4D616}"/>
              </a:ext>
            </a:extLst>
          </p:cNvPr>
          <p:cNvPicPr>
            <a:picLocks noChangeAspect="1"/>
          </p:cNvPicPr>
          <p:nvPr/>
        </p:nvPicPr>
        <p:blipFill>
          <a:blip r:embed="rId5"/>
          <a:stretch>
            <a:fillRect/>
          </a:stretch>
        </p:blipFill>
        <p:spPr>
          <a:xfrm>
            <a:off x="8922725" y="3708712"/>
            <a:ext cx="772792" cy="674137"/>
          </a:xfrm>
          <a:prstGeom prst="rect">
            <a:avLst/>
          </a:prstGeom>
        </p:spPr>
      </p:pic>
    </p:spTree>
    <p:extLst>
      <p:ext uri="{BB962C8B-B14F-4D97-AF65-F5344CB8AC3E}">
        <p14:creationId xmlns:p14="http://schemas.microsoft.com/office/powerpoint/2010/main" val="32786101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52BEFF1-896C-45B1-B02C-96A6A1BC38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0" name="Freeform 36">
            <a:extLst>
              <a:ext uri="{FF2B5EF4-FFF2-40B4-BE49-F238E27FC236}">
                <a16:creationId xmlns:a16="http://schemas.microsoft.com/office/drawing/2014/main" id="{BB237A14-61B1-4C00-A670-5D8D68A866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44637" y="0"/>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2">
              <a:alpha val="20000"/>
            </a:schemeClr>
          </a:solidFill>
          <a:ln>
            <a:noFill/>
          </a:ln>
        </p:spPr>
        <p:txBody>
          <a:bodyPr rtlCol="0" anchor="ctr"/>
          <a:lstStyle/>
          <a:p>
            <a:pPr algn="ctr"/>
            <a:endParaRPr lang="en-US"/>
          </a:p>
        </p:txBody>
      </p:sp>
      <p:sp>
        <p:nvSpPr>
          <p:cNvPr id="12" name="Freeform: Shape 11">
            <a:extLst>
              <a:ext uri="{FF2B5EF4-FFF2-40B4-BE49-F238E27FC236}">
                <a16:creationId xmlns:a16="http://schemas.microsoft.com/office/drawing/2014/main" id="{8598F259-6F54-47A3-8D13-1603D786A3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990911" cy="6858001"/>
          </a:xfrm>
          <a:custGeom>
            <a:avLst/>
            <a:gdLst>
              <a:gd name="connsiteX0" fmla="*/ 3646196 w 4990911"/>
              <a:gd name="connsiteY0" fmla="*/ 0 h 6858001"/>
              <a:gd name="connsiteX1" fmla="*/ 4989734 w 4990911"/>
              <a:gd name="connsiteY1" fmla="*/ 0 h 6858001"/>
              <a:gd name="connsiteX2" fmla="*/ 4964689 w 4990911"/>
              <a:gd name="connsiteY2" fmla="*/ 155677 h 6858001"/>
              <a:gd name="connsiteX3" fmla="*/ 4940820 w 4990911"/>
              <a:gd name="connsiteY3" fmla="*/ 310668 h 6858001"/>
              <a:gd name="connsiteX4" fmla="*/ 4917456 w 4990911"/>
              <a:gd name="connsiteY4" fmla="*/ 466344 h 6858001"/>
              <a:gd name="connsiteX5" fmla="*/ 4897453 w 4990911"/>
              <a:gd name="connsiteY5" fmla="*/ 622707 h 6858001"/>
              <a:gd name="connsiteX6" fmla="*/ 4877282 w 4990911"/>
              <a:gd name="connsiteY6" fmla="*/ 778383 h 6858001"/>
              <a:gd name="connsiteX7" fmla="*/ 4858456 w 4990911"/>
              <a:gd name="connsiteY7" fmla="*/ 934746 h 6858001"/>
              <a:gd name="connsiteX8" fmla="*/ 4842320 w 4990911"/>
              <a:gd name="connsiteY8" fmla="*/ 1089051 h 6858001"/>
              <a:gd name="connsiteX9" fmla="*/ 4827024 w 4990911"/>
              <a:gd name="connsiteY9" fmla="*/ 1245413 h 6858001"/>
              <a:gd name="connsiteX10" fmla="*/ 4813072 w 4990911"/>
              <a:gd name="connsiteY10" fmla="*/ 1401090 h 6858001"/>
              <a:gd name="connsiteX11" fmla="*/ 4800970 w 4990911"/>
              <a:gd name="connsiteY11" fmla="*/ 1554023 h 6858001"/>
              <a:gd name="connsiteX12" fmla="*/ 4788867 w 4990911"/>
              <a:gd name="connsiteY12" fmla="*/ 1709014 h 6858001"/>
              <a:gd name="connsiteX13" fmla="*/ 4778782 w 4990911"/>
              <a:gd name="connsiteY13" fmla="*/ 1861947 h 6858001"/>
              <a:gd name="connsiteX14" fmla="*/ 4770882 w 4990911"/>
              <a:gd name="connsiteY14" fmla="*/ 2014881 h 6858001"/>
              <a:gd name="connsiteX15" fmla="*/ 4762645 w 4990911"/>
              <a:gd name="connsiteY15" fmla="*/ 2167128 h 6858001"/>
              <a:gd name="connsiteX16" fmla="*/ 4755754 w 4990911"/>
              <a:gd name="connsiteY16" fmla="*/ 2318004 h 6858001"/>
              <a:gd name="connsiteX17" fmla="*/ 4750879 w 4990911"/>
              <a:gd name="connsiteY17" fmla="*/ 2467509 h 6858001"/>
              <a:gd name="connsiteX18" fmla="*/ 4746677 w 4990911"/>
              <a:gd name="connsiteY18" fmla="*/ 2617013 h 6858001"/>
              <a:gd name="connsiteX19" fmla="*/ 4742643 w 4990911"/>
              <a:gd name="connsiteY19" fmla="*/ 2765146 h 6858001"/>
              <a:gd name="connsiteX20" fmla="*/ 4740794 w 4990911"/>
              <a:gd name="connsiteY20" fmla="*/ 2911221 h 6858001"/>
              <a:gd name="connsiteX21" fmla="*/ 4738777 w 4990911"/>
              <a:gd name="connsiteY21" fmla="*/ 3057297 h 6858001"/>
              <a:gd name="connsiteX22" fmla="*/ 4737768 w 4990911"/>
              <a:gd name="connsiteY22" fmla="*/ 3201315 h 6858001"/>
              <a:gd name="connsiteX23" fmla="*/ 4738777 w 4990911"/>
              <a:gd name="connsiteY23" fmla="*/ 3343961 h 6858001"/>
              <a:gd name="connsiteX24" fmla="*/ 4738777 w 4990911"/>
              <a:gd name="connsiteY24" fmla="*/ 3485236 h 6858001"/>
              <a:gd name="connsiteX25" fmla="*/ 4740794 w 4990911"/>
              <a:gd name="connsiteY25" fmla="*/ 3625139 h 6858001"/>
              <a:gd name="connsiteX26" fmla="*/ 4743819 w 4990911"/>
              <a:gd name="connsiteY26" fmla="*/ 3762299 h 6858001"/>
              <a:gd name="connsiteX27" fmla="*/ 4746677 w 4990911"/>
              <a:gd name="connsiteY27" fmla="*/ 3898087 h 6858001"/>
              <a:gd name="connsiteX28" fmla="*/ 4749871 w 4990911"/>
              <a:gd name="connsiteY28" fmla="*/ 4031133 h 6858001"/>
              <a:gd name="connsiteX29" fmla="*/ 4754745 w 4990911"/>
              <a:gd name="connsiteY29" fmla="*/ 4163492 h 6858001"/>
              <a:gd name="connsiteX30" fmla="*/ 4759956 w 4990911"/>
              <a:gd name="connsiteY30" fmla="*/ 4293793 h 6858001"/>
              <a:gd name="connsiteX31" fmla="*/ 4764662 w 4990911"/>
              <a:gd name="connsiteY31" fmla="*/ 4421352 h 6858001"/>
              <a:gd name="connsiteX32" fmla="*/ 4777942 w 4990911"/>
              <a:gd name="connsiteY32" fmla="*/ 4670298 h 6858001"/>
              <a:gd name="connsiteX33" fmla="*/ 4792061 w 4990911"/>
              <a:gd name="connsiteY33" fmla="*/ 4908956 h 6858001"/>
              <a:gd name="connsiteX34" fmla="*/ 4806853 w 4990911"/>
              <a:gd name="connsiteY34" fmla="*/ 5138013 h 6858001"/>
              <a:gd name="connsiteX35" fmla="*/ 4823158 w 4990911"/>
              <a:gd name="connsiteY35" fmla="*/ 5354726 h 6858001"/>
              <a:gd name="connsiteX36" fmla="*/ 4840135 w 4990911"/>
              <a:gd name="connsiteY36" fmla="*/ 5561838 h 6858001"/>
              <a:gd name="connsiteX37" fmla="*/ 4858456 w 4990911"/>
              <a:gd name="connsiteY37" fmla="*/ 5753862 h 6858001"/>
              <a:gd name="connsiteX38" fmla="*/ 4876442 w 4990911"/>
              <a:gd name="connsiteY38" fmla="*/ 5934227 h 6858001"/>
              <a:gd name="connsiteX39" fmla="*/ 4894427 w 4990911"/>
              <a:gd name="connsiteY39" fmla="*/ 6100191 h 6858001"/>
              <a:gd name="connsiteX40" fmla="*/ 4911404 w 4990911"/>
              <a:gd name="connsiteY40" fmla="*/ 6252438 h 6858001"/>
              <a:gd name="connsiteX41" fmla="*/ 4927541 w 4990911"/>
              <a:gd name="connsiteY41" fmla="*/ 6387541 h 6858001"/>
              <a:gd name="connsiteX42" fmla="*/ 4942837 w 4990911"/>
              <a:gd name="connsiteY42" fmla="*/ 6509613 h 6858001"/>
              <a:gd name="connsiteX43" fmla="*/ 4955612 w 4990911"/>
              <a:gd name="connsiteY43" fmla="*/ 6612483 h 6858001"/>
              <a:gd name="connsiteX44" fmla="*/ 4967714 w 4990911"/>
              <a:gd name="connsiteY44" fmla="*/ 6698894 h 6858001"/>
              <a:gd name="connsiteX45" fmla="*/ 4985028 w 4990911"/>
              <a:gd name="connsiteY45" fmla="*/ 6817538 h 6858001"/>
              <a:gd name="connsiteX46" fmla="*/ 4990911 w 4990911"/>
              <a:gd name="connsiteY46" fmla="*/ 6858000 h 6858001"/>
              <a:gd name="connsiteX47" fmla="*/ 4085557 w 4990911"/>
              <a:gd name="connsiteY47" fmla="*/ 6858000 h 6858001"/>
              <a:gd name="connsiteX48" fmla="*/ 4085557 w 4990911"/>
              <a:gd name="connsiteY48" fmla="*/ 6858001 h 6858001"/>
              <a:gd name="connsiteX49" fmla="*/ 0 w 4990911"/>
              <a:gd name="connsiteY49" fmla="*/ 6858001 h 6858001"/>
              <a:gd name="connsiteX50" fmla="*/ 0 w 4990911"/>
              <a:gd name="connsiteY50" fmla="*/ 1 h 6858001"/>
              <a:gd name="connsiteX51" fmla="*/ 3646196 w 4990911"/>
              <a:gd name="connsiteY51" fmla="*/ 1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4990911" h="6858001">
                <a:moveTo>
                  <a:pt x="3646196" y="0"/>
                </a:moveTo>
                <a:lnTo>
                  <a:pt x="4989734" y="0"/>
                </a:lnTo>
                <a:lnTo>
                  <a:pt x="4964689" y="155677"/>
                </a:lnTo>
                <a:lnTo>
                  <a:pt x="4940820" y="310668"/>
                </a:lnTo>
                <a:lnTo>
                  <a:pt x="4917456" y="466344"/>
                </a:lnTo>
                <a:lnTo>
                  <a:pt x="4897453" y="622707"/>
                </a:lnTo>
                <a:lnTo>
                  <a:pt x="4877282" y="778383"/>
                </a:lnTo>
                <a:lnTo>
                  <a:pt x="4858456" y="934746"/>
                </a:lnTo>
                <a:lnTo>
                  <a:pt x="4842320" y="1089051"/>
                </a:lnTo>
                <a:lnTo>
                  <a:pt x="4827024" y="1245413"/>
                </a:lnTo>
                <a:lnTo>
                  <a:pt x="4813072" y="1401090"/>
                </a:lnTo>
                <a:lnTo>
                  <a:pt x="4800970" y="1554023"/>
                </a:lnTo>
                <a:lnTo>
                  <a:pt x="4788867" y="1709014"/>
                </a:lnTo>
                <a:lnTo>
                  <a:pt x="4778782" y="1861947"/>
                </a:lnTo>
                <a:lnTo>
                  <a:pt x="4770882" y="2014881"/>
                </a:lnTo>
                <a:lnTo>
                  <a:pt x="4762645" y="2167128"/>
                </a:lnTo>
                <a:lnTo>
                  <a:pt x="4755754" y="2318004"/>
                </a:lnTo>
                <a:lnTo>
                  <a:pt x="4750879" y="2467509"/>
                </a:lnTo>
                <a:lnTo>
                  <a:pt x="4746677" y="2617013"/>
                </a:lnTo>
                <a:lnTo>
                  <a:pt x="4742643" y="2765146"/>
                </a:lnTo>
                <a:lnTo>
                  <a:pt x="4740794" y="2911221"/>
                </a:lnTo>
                <a:lnTo>
                  <a:pt x="4738777" y="3057297"/>
                </a:lnTo>
                <a:lnTo>
                  <a:pt x="4737768" y="3201315"/>
                </a:lnTo>
                <a:lnTo>
                  <a:pt x="4738777" y="3343961"/>
                </a:lnTo>
                <a:lnTo>
                  <a:pt x="4738777" y="3485236"/>
                </a:lnTo>
                <a:lnTo>
                  <a:pt x="4740794" y="3625139"/>
                </a:lnTo>
                <a:lnTo>
                  <a:pt x="4743819" y="3762299"/>
                </a:lnTo>
                <a:lnTo>
                  <a:pt x="4746677" y="3898087"/>
                </a:lnTo>
                <a:lnTo>
                  <a:pt x="4749871" y="4031133"/>
                </a:lnTo>
                <a:lnTo>
                  <a:pt x="4754745" y="4163492"/>
                </a:lnTo>
                <a:lnTo>
                  <a:pt x="4759956" y="4293793"/>
                </a:lnTo>
                <a:lnTo>
                  <a:pt x="4764662" y="4421352"/>
                </a:lnTo>
                <a:lnTo>
                  <a:pt x="4777942" y="4670298"/>
                </a:lnTo>
                <a:lnTo>
                  <a:pt x="4792061" y="4908956"/>
                </a:lnTo>
                <a:lnTo>
                  <a:pt x="4806853" y="5138013"/>
                </a:lnTo>
                <a:lnTo>
                  <a:pt x="4823158" y="5354726"/>
                </a:lnTo>
                <a:lnTo>
                  <a:pt x="4840135" y="5561838"/>
                </a:lnTo>
                <a:lnTo>
                  <a:pt x="4858456" y="5753862"/>
                </a:lnTo>
                <a:lnTo>
                  <a:pt x="4876442" y="5934227"/>
                </a:lnTo>
                <a:lnTo>
                  <a:pt x="4894427" y="6100191"/>
                </a:lnTo>
                <a:lnTo>
                  <a:pt x="4911404" y="6252438"/>
                </a:lnTo>
                <a:lnTo>
                  <a:pt x="4927541" y="6387541"/>
                </a:lnTo>
                <a:lnTo>
                  <a:pt x="4942837" y="6509613"/>
                </a:lnTo>
                <a:lnTo>
                  <a:pt x="4955612" y="6612483"/>
                </a:lnTo>
                <a:lnTo>
                  <a:pt x="4967714" y="6698894"/>
                </a:lnTo>
                <a:lnTo>
                  <a:pt x="4985028" y="6817538"/>
                </a:lnTo>
                <a:lnTo>
                  <a:pt x="4990911" y="6858000"/>
                </a:lnTo>
                <a:lnTo>
                  <a:pt x="4085557" y="6858000"/>
                </a:lnTo>
                <a:lnTo>
                  <a:pt x="4085557" y="6858001"/>
                </a:lnTo>
                <a:lnTo>
                  <a:pt x="0" y="6858001"/>
                </a:lnTo>
                <a:lnTo>
                  <a:pt x="0" y="1"/>
                </a:lnTo>
                <a:lnTo>
                  <a:pt x="3646196" y="1"/>
                </a:lnTo>
                <a:close/>
              </a:path>
            </a:pathLst>
          </a:cu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BA768A8-4FED-4ED8-9E46-6BE72188EC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40AD9A12-4589-EAB6-7243-EF9486F3BAC3}"/>
              </a:ext>
            </a:extLst>
          </p:cNvPr>
          <p:cNvSpPr>
            <a:spLocks noGrp="1"/>
          </p:cNvSpPr>
          <p:nvPr>
            <p:ph type="title"/>
          </p:nvPr>
        </p:nvSpPr>
        <p:spPr>
          <a:xfrm>
            <a:off x="653143" y="1645920"/>
            <a:ext cx="3522879" cy="4470821"/>
          </a:xfrm>
        </p:spPr>
        <p:txBody>
          <a:bodyPr>
            <a:normAutofit/>
          </a:bodyPr>
          <a:lstStyle/>
          <a:p>
            <a:pPr algn="r"/>
            <a:r>
              <a:rPr lang="en-US" b="1" dirty="0">
                <a:solidFill>
                  <a:srgbClr val="FFFFFF"/>
                </a:solidFill>
              </a:rPr>
              <a:t>3. End-to-End Data Pipeline Architecture</a:t>
            </a:r>
          </a:p>
        </p:txBody>
      </p:sp>
      <p:pic>
        <p:nvPicPr>
          <p:cNvPr id="11" name="Picture 10">
            <a:extLst>
              <a:ext uri="{FF2B5EF4-FFF2-40B4-BE49-F238E27FC236}">
                <a16:creationId xmlns:a16="http://schemas.microsoft.com/office/drawing/2014/main" id="{79C9D6A0-61E4-0417-30B3-D1C78B62268D}"/>
              </a:ext>
            </a:extLst>
          </p:cNvPr>
          <p:cNvPicPr>
            <a:picLocks/>
          </p:cNvPicPr>
          <p:nvPr/>
        </p:nvPicPr>
        <p:blipFill>
          <a:blip r:embed="rId2"/>
          <a:srcRect l="16742" t="4441" r="16956" b="38492"/>
          <a:stretch>
            <a:fillRect/>
          </a:stretch>
        </p:blipFill>
        <p:spPr>
          <a:xfrm>
            <a:off x="5523535" y="228600"/>
            <a:ext cx="6241557" cy="6400800"/>
          </a:xfrm>
          <a:prstGeom prst="rect">
            <a:avLst/>
          </a:prstGeom>
        </p:spPr>
      </p:pic>
      <p:sp>
        <p:nvSpPr>
          <p:cNvPr id="18" name="Call-out: Line 17">
            <a:extLst>
              <a:ext uri="{FF2B5EF4-FFF2-40B4-BE49-F238E27FC236}">
                <a16:creationId xmlns:a16="http://schemas.microsoft.com/office/drawing/2014/main" id="{59283CA5-8A32-FC44-1E71-1C42D6D4EE2A}"/>
              </a:ext>
            </a:extLst>
          </p:cNvPr>
          <p:cNvSpPr/>
          <p:nvPr/>
        </p:nvSpPr>
        <p:spPr>
          <a:xfrm>
            <a:off x="5026997" y="349804"/>
            <a:ext cx="1499755" cy="595700"/>
          </a:xfrm>
          <a:prstGeom prst="borderCallout1">
            <a:avLst>
              <a:gd name="adj1" fmla="val 103992"/>
              <a:gd name="adj2" fmla="val 50872"/>
              <a:gd name="adj3" fmla="val 214370"/>
              <a:gd name="adj4" fmla="val 68793"/>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dirty="0"/>
              <a:t>File </a:t>
            </a:r>
            <a:r>
              <a:rPr lang="fr-FR" sz="1400" b="1" dirty="0" err="1"/>
              <a:t>names</a:t>
            </a:r>
            <a:r>
              <a:rPr lang="fr-FR" sz="1400" b="1" dirty="0"/>
              <a:t>: </a:t>
            </a:r>
            <a:r>
              <a:rPr lang="fr-FR" sz="1400" b="1" dirty="0" err="1"/>
              <a:t>refer</a:t>
            </a:r>
            <a:r>
              <a:rPr lang="fr-FR" sz="1400" b="1" dirty="0"/>
              <a:t> to slide4</a:t>
            </a:r>
            <a:endParaRPr lang="en-US" sz="1400" b="1" dirty="0"/>
          </a:p>
          <a:p>
            <a:pPr algn="ctr"/>
            <a:endParaRPr lang="en-US" sz="1400" b="1" dirty="0"/>
          </a:p>
        </p:txBody>
      </p:sp>
      <p:sp>
        <p:nvSpPr>
          <p:cNvPr id="22" name="Call-out: Line 21">
            <a:extLst>
              <a:ext uri="{FF2B5EF4-FFF2-40B4-BE49-F238E27FC236}">
                <a16:creationId xmlns:a16="http://schemas.microsoft.com/office/drawing/2014/main" id="{86B9FE9F-0C45-83E9-C2B4-EF33CF35FC9E}"/>
              </a:ext>
            </a:extLst>
          </p:cNvPr>
          <p:cNvSpPr/>
          <p:nvPr/>
        </p:nvSpPr>
        <p:spPr>
          <a:xfrm>
            <a:off x="10274481" y="3113942"/>
            <a:ext cx="1819181" cy="595700"/>
          </a:xfrm>
          <a:prstGeom prst="borderCallout1">
            <a:avLst>
              <a:gd name="adj1" fmla="val 53337"/>
              <a:gd name="adj2" fmla="val 877"/>
              <a:gd name="adj3" fmla="val 68545"/>
              <a:gd name="adj4" fmla="val -2693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b="1" dirty="0"/>
              <a:t>“mobile_5g_network_fr”</a:t>
            </a:r>
            <a:endParaRPr lang="en-US" sz="900" b="1" dirty="0"/>
          </a:p>
        </p:txBody>
      </p:sp>
    </p:spTree>
    <p:extLst>
      <p:ext uri="{BB962C8B-B14F-4D97-AF65-F5344CB8AC3E}">
        <p14:creationId xmlns:p14="http://schemas.microsoft.com/office/powerpoint/2010/main" val="350071725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4CD14DB-BB81-479F-A1FC-1C75640E9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entury Gothic" panose="020B0502020202020204"/>
              <a:ea typeface="+mn-ea"/>
              <a:cs typeface="+mn-cs"/>
            </a:endParaRPr>
          </a:p>
        </p:txBody>
      </p:sp>
      <p:sp>
        <p:nvSpPr>
          <p:cNvPr id="10" name="Rectangle 9">
            <a:extLst>
              <a:ext uri="{FF2B5EF4-FFF2-40B4-BE49-F238E27FC236}">
                <a16:creationId xmlns:a16="http://schemas.microsoft.com/office/drawing/2014/main" id="{C943A91B-7CA7-4592-A975-73B1BF8C4C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2" name="Freeform 7">
            <a:extLst>
              <a:ext uri="{FF2B5EF4-FFF2-40B4-BE49-F238E27FC236}">
                <a16:creationId xmlns:a16="http://schemas.microsoft.com/office/drawing/2014/main" id="{EC471314-E46A-414B-8D91-74880E84F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entury Gothic" panose="020B0502020202020204"/>
              <a:ea typeface="+mn-ea"/>
              <a:cs typeface="+mn-cs"/>
            </a:endParaRPr>
          </a:p>
        </p:txBody>
      </p:sp>
      <p:sp useBgFill="1">
        <p:nvSpPr>
          <p:cNvPr id="14" name="Freeform: Shape 13">
            <a:extLst>
              <a:ext uri="{FF2B5EF4-FFF2-40B4-BE49-F238E27FC236}">
                <a16:creationId xmlns:a16="http://schemas.microsoft.com/office/drawing/2014/main" id="{6A681326-1C9D-44A3-A627-3871BDAE41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7" cy="5095933"/>
          </a:xfrm>
          <a:custGeom>
            <a:avLst/>
            <a:gdLst>
              <a:gd name="connsiteX0" fmla="*/ 0 w 12192417"/>
              <a:gd name="connsiteY0" fmla="*/ 0 h 5095933"/>
              <a:gd name="connsiteX1" fmla="*/ 71931 w 12192417"/>
              <a:gd name="connsiteY1" fmla="*/ 12261 h 5095933"/>
              <a:gd name="connsiteX2" fmla="*/ 282848 w 12192417"/>
              <a:gd name="connsiteY2" fmla="*/ 48343 h 5095933"/>
              <a:gd name="connsiteX3" fmla="*/ 436463 w 12192417"/>
              <a:gd name="connsiteY3" fmla="*/ 73565 h 5095933"/>
              <a:gd name="connsiteX4" fmla="*/ 619338 w 12192417"/>
              <a:gd name="connsiteY4" fmla="*/ 100188 h 5095933"/>
              <a:gd name="connsiteX5" fmla="*/ 836350 w 12192417"/>
              <a:gd name="connsiteY5" fmla="*/ 132066 h 5095933"/>
              <a:gd name="connsiteX6" fmla="*/ 1076527 w 12192417"/>
              <a:gd name="connsiteY6" fmla="*/ 165696 h 5095933"/>
              <a:gd name="connsiteX7" fmla="*/ 1347183 w 12192417"/>
              <a:gd name="connsiteY7" fmla="*/ 201077 h 5095933"/>
              <a:gd name="connsiteX8" fmla="*/ 1642222 w 12192417"/>
              <a:gd name="connsiteY8" fmla="*/ 238560 h 5095933"/>
              <a:gd name="connsiteX9" fmla="*/ 1962863 w 12192417"/>
              <a:gd name="connsiteY9" fmla="*/ 276043 h 5095933"/>
              <a:gd name="connsiteX10" fmla="*/ 2304231 w 12192417"/>
              <a:gd name="connsiteY10" fmla="*/ 314227 h 5095933"/>
              <a:gd name="connsiteX11" fmla="*/ 2672420 w 12192417"/>
              <a:gd name="connsiteY11" fmla="*/ 349608 h 5095933"/>
              <a:gd name="connsiteX12" fmla="*/ 3057677 w 12192417"/>
              <a:gd name="connsiteY12" fmla="*/ 383588 h 5095933"/>
              <a:gd name="connsiteX13" fmla="*/ 3464880 w 12192417"/>
              <a:gd name="connsiteY13" fmla="*/ 414415 h 5095933"/>
              <a:gd name="connsiteX14" fmla="*/ 3889151 w 12192417"/>
              <a:gd name="connsiteY14" fmla="*/ 443841 h 5095933"/>
              <a:gd name="connsiteX15" fmla="*/ 4331709 w 12192417"/>
              <a:gd name="connsiteY15" fmla="*/ 471515 h 5095933"/>
              <a:gd name="connsiteX16" fmla="*/ 4558475 w 12192417"/>
              <a:gd name="connsiteY16" fmla="*/ 481324 h 5095933"/>
              <a:gd name="connsiteX17" fmla="*/ 4790117 w 12192417"/>
              <a:gd name="connsiteY17" fmla="*/ 492183 h 5095933"/>
              <a:gd name="connsiteX18" fmla="*/ 5025417 w 12192417"/>
              <a:gd name="connsiteY18" fmla="*/ 502342 h 5095933"/>
              <a:gd name="connsiteX19" fmla="*/ 5261936 w 12192417"/>
              <a:gd name="connsiteY19" fmla="*/ 508998 h 5095933"/>
              <a:gd name="connsiteX20" fmla="*/ 5503331 w 12192417"/>
              <a:gd name="connsiteY20" fmla="*/ 514953 h 5095933"/>
              <a:gd name="connsiteX21" fmla="*/ 5747166 w 12192417"/>
              <a:gd name="connsiteY21" fmla="*/ 521259 h 5095933"/>
              <a:gd name="connsiteX22" fmla="*/ 5995876 w 12192417"/>
              <a:gd name="connsiteY22" fmla="*/ 525463 h 5095933"/>
              <a:gd name="connsiteX23" fmla="*/ 6247025 w 12192417"/>
              <a:gd name="connsiteY23" fmla="*/ 525463 h 5095933"/>
              <a:gd name="connsiteX24" fmla="*/ 6500612 w 12192417"/>
              <a:gd name="connsiteY24" fmla="*/ 527565 h 5095933"/>
              <a:gd name="connsiteX25" fmla="*/ 6756638 w 12192417"/>
              <a:gd name="connsiteY25" fmla="*/ 525463 h 5095933"/>
              <a:gd name="connsiteX26" fmla="*/ 7016321 w 12192417"/>
              <a:gd name="connsiteY26" fmla="*/ 521259 h 5095933"/>
              <a:gd name="connsiteX27" fmla="*/ 7276004 w 12192417"/>
              <a:gd name="connsiteY27" fmla="*/ 517406 h 5095933"/>
              <a:gd name="connsiteX28" fmla="*/ 7539344 w 12192417"/>
              <a:gd name="connsiteY28" fmla="*/ 508998 h 5095933"/>
              <a:gd name="connsiteX29" fmla="*/ 7805123 w 12192417"/>
              <a:gd name="connsiteY29" fmla="*/ 500241 h 5095933"/>
              <a:gd name="connsiteX30" fmla="*/ 8070902 w 12192417"/>
              <a:gd name="connsiteY30" fmla="*/ 490082 h 5095933"/>
              <a:gd name="connsiteX31" fmla="*/ 8339120 w 12192417"/>
              <a:gd name="connsiteY31" fmla="*/ 475719 h 5095933"/>
              <a:gd name="connsiteX32" fmla="*/ 8609775 w 12192417"/>
              <a:gd name="connsiteY32" fmla="*/ 458554 h 5095933"/>
              <a:gd name="connsiteX33" fmla="*/ 8881650 w 12192417"/>
              <a:gd name="connsiteY33" fmla="*/ 442089 h 5095933"/>
              <a:gd name="connsiteX34" fmla="*/ 9153525 w 12192417"/>
              <a:gd name="connsiteY34" fmla="*/ 421071 h 5095933"/>
              <a:gd name="connsiteX35" fmla="*/ 9429057 w 12192417"/>
              <a:gd name="connsiteY35" fmla="*/ 395849 h 5095933"/>
              <a:gd name="connsiteX36" fmla="*/ 9700932 w 12192417"/>
              <a:gd name="connsiteY36" fmla="*/ 370626 h 5095933"/>
              <a:gd name="connsiteX37" fmla="*/ 9977683 w 12192417"/>
              <a:gd name="connsiteY37" fmla="*/ 341551 h 5095933"/>
              <a:gd name="connsiteX38" fmla="*/ 10255654 w 12192417"/>
              <a:gd name="connsiteY38" fmla="*/ 309673 h 5095933"/>
              <a:gd name="connsiteX39" fmla="*/ 10529967 w 12192417"/>
              <a:gd name="connsiteY39" fmla="*/ 276043 h 5095933"/>
              <a:gd name="connsiteX40" fmla="*/ 10807938 w 12192417"/>
              <a:gd name="connsiteY40" fmla="*/ 236809 h 5095933"/>
              <a:gd name="connsiteX41" fmla="*/ 11084689 w 12192417"/>
              <a:gd name="connsiteY41" fmla="*/ 194772 h 5095933"/>
              <a:gd name="connsiteX42" fmla="*/ 11362660 w 12192417"/>
              <a:gd name="connsiteY42" fmla="*/ 153085 h 5095933"/>
              <a:gd name="connsiteX43" fmla="*/ 11639411 w 12192417"/>
              <a:gd name="connsiteY43" fmla="*/ 104392 h 5095933"/>
              <a:gd name="connsiteX44" fmla="*/ 11914944 w 12192417"/>
              <a:gd name="connsiteY44" fmla="*/ 54648 h 5095933"/>
              <a:gd name="connsiteX45" fmla="*/ 12191695 w 12192417"/>
              <a:gd name="connsiteY45" fmla="*/ 2452 h 5095933"/>
              <a:gd name="connsiteX46" fmla="*/ 12191695 w 12192417"/>
              <a:gd name="connsiteY46" fmla="*/ 2162231 h 5095933"/>
              <a:gd name="connsiteX47" fmla="*/ 12192417 w 12192417"/>
              <a:gd name="connsiteY47" fmla="*/ 2162231 h 5095933"/>
              <a:gd name="connsiteX48" fmla="*/ 12192417 w 12192417"/>
              <a:gd name="connsiteY48" fmla="*/ 5095933 h 5095933"/>
              <a:gd name="connsiteX49" fmla="*/ 0 w 12192417"/>
              <a:gd name="connsiteY49" fmla="*/ 5095933 h 5095933"/>
              <a:gd name="connsiteX50" fmla="*/ 0 w 12192417"/>
              <a:gd name="connsiteY50" fmla="*/ 2791958 h 5095933"/>
              <a:gd name="connsiteX51" fmla="*/ 0 w 12192417"/>
              <a:gd name="connsiteY51" fmla="*/ 2162231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417" h="5095933">
                <a:moveTo>
                  <a:pt x="0" y="0"/>
                </a:moveTo>
                <a:lnTo>
                  <a:pt x="71931" y="12261"/>
                </a:lnTo>
                <a:lnTo>
                  <a:pt x="282848" y="48343"/>
                </a:lnTo>
                <a:lnTo>
                  <a:pt x="436463" y="73565"/>
                </a:lnTo>
                <a:lnTo>
                  <a:pt x="619338" y="100188"/>
                </a:lnTo>
                <a:lnTo>
                  <a:pt x="836350" y="132066"/>
                </a:lnTo>
                <a:lnTo>
                  <a:pt x="1076527" y="165696"/>
                </a:lnTo>
                <a:lnTo>
                  <a:pt x="1347183" y="201077"/>
                </a:lnTo>
                <a:lnTo>
                  <a:pt x="1642222" y="238560"/>
                </a:lnTo>
                <a:lnTo>
                  <a:pt x="1962863" y="276043"/>
                </a:lnTo>
                <a:lnTo>
                  <a:pt x="2304231" y="314227"/>
                </a:lnTo>
                <a:lnTo>
                  <a:pt x="2672420" y="349608"/>
                </a:lnTo>
                <a:lnTo>
                  <a:pt x="3057677" y="383588"/>
                </a:lnTo>
                <a:lnTo>
                  <a:pt x="3464880" y="414415"/>
                </a:lnTo>
                <a:lnTo>
                  <a:pt x="3889151" y="443841"/>
                </a:lnTo>
                <a:lnTo>
                  <a:pt x="4331709" y="471515"/>
                </a:lnTo>
                <a:lnTo>
                  <a:pt x="4558475" y="481324"/>
                </a:lnTo>
                <a:lnTo>
                  <a:pt x="4790117" y="492183"/>
                </a:lnTo>
                <a:lnTo>
                  <a:pt x="5025417" y="502342"/>
                </a:lnTo>
                <a:lnTo>
                  <a:pt x="5261936" y="508998"/>
                </a:lnTo>
                <a:lnTo>
                  <a:pt x="5503331" y="514953"/>
                </a:lnTo>
                <a:lnTo>
                  <a:pt x="5747166" y="521259"/>
                </a:lnTo>
                <a:lnTo>
                  <a:pt x="5995876" y="525463"/>
                </a:lnTo>
                <a:lnTo>
                  <a:pt x="6247025" y="525463"/>
                </a:lnTo>
                <a:lnTo>
                  <a:pt x="6500612" y="527565"/>
                </a:lnTo>
                <a:lnTo>
                  <a:pt x="6756638" y="525463"/>
                </a:lnTo>
                <a:lnTo>
                  <a:pt x="7016321" y="521259"/>
                </a:lnTo>
                <a:lnTo>
                  <a:pt x="7276004" y="517406"/>
                </a:lnTo>
                <a:lnTo>
                  <a:pt x="7539344" y="508998"/>
                </a:lnTo>
                <a:lnTo>
                  <a:pt x="7805123" y="500241"/>
                </a:lnTo>
                <a:lnTo>
                  <a:pt x="8070902" y="490082"/>
                </a:lnTo>
                <a:lnTo>
                  <a:pt x="8339120" y="475719"/>
                </a:lnTo>
                <a:lnTo>
                  <a:pt x="8609775" y="458554"/>
                </a:lnTo>
                <a:lnTo>
                  <a:pt x="8881650" y="442089"/>
                </a:lnTo>
                <a:lnTo>
                  <a:pt x="9153525" y="421071"/>
                </a:lnTo>
                <a:lnTo>
                  <a:pt x="9429057" y="395849"/>
                </a:lnTo>
                <a:lnTo>
                  <a:pt x="9700932" y="370626"/>
                </a:lnTo>
                <a:lnTo>
                  <a:pt x="9977683" y="341551"/>
                </a:lnTo>
                <a:lnTo>
                  <a:pt x="10255654" y="309673"/>
                </a:lnTo>
                <a:lnTo>
                  <a:pt x="10529967" y="276043"/>
                </a:lnTo>
                <a:lnTo>
                  <a:pt x="10807938" y="236809"/>
                </a:lnTo>
                <a:lnTo>
                  <a:pt x="11084689" y="194772"/>
                </a:lnTo>
                <a:lnTo>
                  <a:pt x="11362660" y="153085"/>
                </a:lnTo>
                <a:lnTo>
                  <a:pt x="11639411" y="104392"/>
                </a:lnTo>
                <a:lnTo>
                  <a:pt x="11914944" y="54648"/>
                </a:lnTo>
                <a:lnTo>
                  <a:pt x="12191695" y="2452"/>
                </a:lnTo>
                <a:lnTo>
                  <a:pt x="12191695" y="2162231"/>
                </a:lnTo>
                <a:lnTo>
                  <a:pt x="12192417" y="2162231"/>
                </a:lnTo>
                <a:lnTo>
                  <a:pt x="12192417" y="5095933"/>
                </a:lnTo>
                <a:lnTo>
                  <a:pt x="0" y="5095933"/>
                </a:lnTo>
                <a:lnTo>
                  <a:pt x="0" y="2791958"/>
                </a:lnTo>
                <a:lnTo>
                  <a:pt x="0" y="2162231"/>
                </a:lnTo>
                <a:close/>
              </a:path>
            </a:pathLst>
          </a:custGeom>
          <a:ln>
            <a:noFill/>
          </a:ln>
        </p:spPr>
        <p:txBody>
          <a:bodyPr/>
          <a:lstStyle/>
          <a:p>
            <a:endParaRPr lang="en-US"/>
          </a:p>
        </p:txBody>
      </p:sp>
      <p:pic>
        <p:nvPicPr>
          <p:cNvPr id="5" name="Picture 4">
            <a:extLst>
              <a:ext uri="{FF2B5EF4-FFF2-40B4-BE49-F238E27FC236}">
                <a16:creationId xmlns:a16="http://schemas.microsoft.com/office/drawing/2014/main" id="{6B81D47B-F406-7C15-9D9D-C7C67C023563}"/>
              </a:ext>
            </a:extLst>
          </p:cNvPr>
          <p:cNvPicPr>
            <a:picLocks noChangeAspect="1"/>
          </p:cNvPicPr>
          <p:nvPr/>
        </p:nvPicPr>
        <p:blipFill>
          <a:blip r:embed="rId2"/>
          <a:stretch>
            <a:fillRect/>
          </a:stretch>
        </p:blipFill>
        <p:spPr>
          <a:xfrm>
            <a:off x="1011859" y="1334814"/>
            <a:ext cx="8761795" cy="5379605"/>
          </a:xfrm>
          <a:prstGeom prst="rect">
            <a:avLst/>
          </a:prstGeom>
          <a:ln w="38100" cap="sq">
            <a:solidFill>
              <a:schemeClr val="accent4">
                <a:lumMod val="60000"/>
                <a:lumOff val="40000"/>
              </a:schemeClr>
            </a:solidFill>
            <a:prstDash val="solid"/>
            <a:miter lim="800000"/>
          </a:ln>
          <a:effectLst>
            <a:outerShdw blurRad="50800" dist="38100" dir="2700000" algn="tl" rotWithShape="0">
              <a:srgbClr val="000000">
                <a:alpha val="43000"/>
              </a:srgbClr>
            </a:outerShdw>
          </a:effectLst>
        </p:spPr>
      </p:pic>
      <p:sp>
        <p:nvSpPr>
          <p:cNvPr id="6" name="Title 1">
            <a:extLst>
              <a:ext uri="{FF2B5EF4-FFF2-40B4-BE49-F238E27FC236}">
                <a16:creationId xmlns:a16="http://schemas.microsoft.com/office/drawing/2014/main" id="{F27C8610-69B8-785A-4B4D-FF0762BB99D7}"/>
              </a:ext>
            </a:extLst>
          </p:cNvPr>
          <p:cNvSpPr>
            <a:spLocks noGrp="1"/>
          </p:cNvSpPr>
          <p:nvPr>
            <p:ph type="title"/>
          </p:nvPr>
        </p:nvSpPr>
        <p:spPr>
          <a:xfrm>
            <a:off x="1068388" y="148266"/>
            <a:ext cx="8947150" cy="745114"/>
          </a:xfrm>
        </p:spPr>
        <p:txBody>
          <a:bodyPr/>
          <a:lstStyle/>
          <a:p>
            <a:r>
              <a:rPr lang="en-US" b="1" dirty="0">
                <a:solidFill>
                  <a:schemeClr val="bg1"/>
                </a:solidFill>
              </a:rPr>
              <a:t>4. ERD &amp; Relational Database</a:t>
            </a:r>
          </a:p>
        </p:txBody>
      </p:sp>
      <p:sp>
        <p:nvSpPr>
          <p:cNvPr id="9" name="Title 1">
            <a:extLst>
              <a:ext uri="{FF2B5EF4-FFF2-40B4-BE49-F238E27FC236}">
                <a16:creationId xmlns:a16="http://schemas.microsoft.com/office/drawing/2014/main" id="{8B34AFD6-5A39-9CA4-72DA-72FCD55522D3}"/>
              </a:ext>
            </a:extLst>
          </p:cNvPr>
          <p:cNvSpPr txBox="1">
            <a:spLocks/>
          </p:cNvSpPr>
          <p:nvPr/>
        </p:nvSpPr>
        <p:spPr>
          <a:xfrm>
            <a:off x="2042244" y="814462"/>
            <a:ext cx="7327180" cy="657075"/>
          </a:xfrm>
          <a:prstGeom prst="rect">
            <a:avLst/>
          </a:prstGeom>
        </p:spPr>
        <p:txBody>
          <a:bodyPr vert="horz" lIns="91440" tIns="45720" rIns="91440" bIns="45720" rtlCol="0" anchor="t">
            <a:no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b="1">
                <a:solidFill>
                  <a:schemeClr val="bg1"/>
                </a:solidFill>
              </a:rPr>
              <a:t>From clean data to relational database</a:t>
            </a:r>
            <a:endParaRPr lang="en-US" sz="2800" b="1" dirty="0">
              <a:solidFill>
                <a:schemeClr val="bg1"/>
              </a:solidFill>
            </a:endParaRPr>
          </a:p>
        </p:txBody>
      </p:sp>
      <p:sp>
        <p:nvSpPr>
          <p:cNvPr id="11" name="TextBox 10">
            <a:extLst>
              <a:ext uri="{FF2B5EF4-FFF2-40B4-BE49-F238E27FC236}">
                <a16:creationId xmlns:a16="http://schemas.microsoft.com/office/drawing/2014/main" id="{ADCD03B1-5159-3BC0-973B-A92F5B93E820}"/>
              </a:ext>
            </a:extLst>
          </p:cNvPr>
          <p:cNvSpPr txBox="1"/>
          <p:nvPr/>
        </p:nvSpPr>
        <p:spPr>
          <a:xfrm>
            <a:off x="7148945" y="1471537"/>
            <a:ext cx="1166763" cy="461665"/>
          </a:xfrm>
          <a:prstGeom prst="rect">
            <a:avLst/>
          </a:prstGeom>
          <a:noFill/>
        </p:spPr>
        <p:txBody>
          <a:bodyPr wrap="square" rtlCol="0">
            <a:spAutoFit/>
          </a:bodyPr>
          <a:lstStyle/>
          <a:p>
            <a:r>
              <a:rPr lang="fr-FR" sz="2400" b="1" dirty="0"/>
              <a:t>ERD</a:t>
            </a:r>
            <a:endParaRPr lang="en-US" sz="2400" b="1" dirty="0"/>
          </a:p>
        </p:txBody>
      </p:sp>
    </p:spTree>
    <p:extLst>
      <p:ext uri="{BB962C8B-B14F-4D97-AF65-F5344CB8AC3E}">
        <p14:creationId xmlns:p14="http://schemas.microsoft.com/office/powerpoint/2010/main" val="4039852974"/>
      </p:ext>
    </p:extLst>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52BEFF1-896C-45B1-B02C-96A6A1BC38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0" name="Freeform 36">
            <a:extLst>
              <a:ext uri="{FF2B5EF4-FFF2-40B4-BE49-F238E27FC236}">
                <a16:creationId xmlns:a16="http://schemas.microsoft.com/office/drawing/2014/main" id="{BB237A14-61B1-4C00-A670-5D8D68A866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44637" y="0"/>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2">
              <a:alpha val="20000"/>
            </a:schemeClr>
          </a:solidFill>
          <a:ln>
            <a:noFill/>
          </a:ln>
        </p:spPr>
        <p:txBody>
          <a:bodyPr rtlCol="0" anchor="ctr"/>
          <a:lstStyle/>
          <a:p>
            <a:pPr algn="ctr"/>
            <a:endParaRPr lang="en-US"/>
          </a:p>
        </p:txBody>
      </p:sp>
      <p:sp>
        <p:nvSpPr>
          <p:cNvPr id="12" name="Freeform: Shape 11">
            <a:extLst>
              <a:ext uri="{FF2B5EF4-FFF2-40B4-BE49-F238E27FC236}">
                <a16:creationId xmlns:a16="http://schemas.microsoft.com/office/drawing/2014/main" id="{8598F259-6F54-47A3-8D13-1603D786A3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990911" cy="6858001"/>
          </a:xfrm>
          <a:custGeom>
            <a:avLst/>
            <a:gdLst>
              <a:gd name="connsiteX0" fmla="*/ 3646196 w 4990911"/>
              <a:gd name="connsiteY0" fmla="*/ 0 h 6858001"/>
              <a:gd name="connsiteX1" fmla="*/ 4989734 w 4990911"/>
              <a:gd name="connsiteY1" fmla="*/ 0 h 6858001"/>
              <a:gd name="connsiteX2" fmla="*/ 4964689 w 4990911"/>
              <a:gd name="connsiteY2" fmla="*/ 155677 h 6858001"/>
              <a:gd name="connsiteX3" fmla="*/ 4940820 w 4990911"/>
              <a:gd name="connsiteY3" fmla="*/ 310668 h 6858001"/>
              <a:gd name="connsiteX4" fmla="*/ 4917456 w 4990911"/>
              <a:gd name="connsiteY4" fmla="*/ 466344 h 6858001"/>
              <a:gd name="connsiteX5" fmla="*/ 4897453 w 4990911"/>
              <a:gd name="connsiteY5" fmla="*/ 622707 h 6858001"/>
              <a:gd name="connsiteX6" fmla="*/ 4877282 w 4990911"/>
              <a:gd name="connsiteY6" fmla="*/ 778383 h 6858001"/>
              <a:gd name="connsiteX7" fmla="*/ 4858456 w 4990911"/>
              <a:gd name="connsiteY7" fmla="*/ 934746 h 6858001"/>
              <a:gd name="connsiteX8" fmla="*/ 4842320 w 4990911"/>
              <a:gd name="connsiteY8" fmla="*/ 1089051 h 6858001"/>
              <a:gd name="connsiteX9" fmla="*/ 4827024 w 4990911"/>
              <a:gd name="connsiteY9" fmla="*/ 1245413 h 6858001"/>
              <a:gd name="connsiteX10" fmla="*/ 4813072 w 4990911"/>
              <a:gd name="connsiteY10" fmla="*/ 1401090 h 6858001"/>
              <a:gd name="connsiteX11" fmla="*/ 4800970 w 4990911"/>
              <a:gd name="connsiteY11" fmla="*/ 1554023 h 6858001"/>
              <a:gd name="connsiteX12" fmla="*/ 4788867 w 4990911"/>
              <a:gd name="connsiteY12" fmla="*/ 1709014 h 6858001"/>
              <a:gd name="connsiteX13" fmla="*/ 4778782 w 4990911"/>
              <a:gd name="connsiteY13" fmla="*/ 1861947 h 6858001"/>
              <a:gd name="connsiteX14" fmla="*/ 4770882 w 4990911"/>
              <a:gd name="connsiteY14" fmla="*/ 2014881 h 6858001"/>
              <a:gd name="connsiteX15" fmla="*/ 4762645 w 4990911"/>
              <a:gd name="connsiteY15" fmla="*/ 2167128 h 6858001"/>
              <a:gd name="connsiteX16" fmla="*/ 4755754 w 4990911"/>
              <a:gd name="connsiteY16" fmla="*/ 2318004 h 6858001"/>
              <a:gd name="connsiteX17" fmla="*/ 4750879 w 4990911"/>
              <a:gd name="connsiteY17" fmla="*/ 2467509 h 6858001"/>
              <a:gd name="connsiteX18" fmla="*/ 4746677 w 4990911"/>
              <a:gd name="connsiteY18" fmla="*/ 2617013 h 6858001"/>
              <a:gd name="connsiteX19" fmla="*/ 4742643 w 4990911"/>
              <a:gd name="connsiteY19" fmla="*/ 2765146 h 6858001"/>
              <a:gd name="connsiteX20" fmla="*/ 4740794 w 4990911"/>
              <a:gd name="connsiteY20" fmla="*/ 2911221 h 6858001"/>
              <a:gd name="connsiteX21" fmla="*/ 4738777 w 4990911"/>
              <a:gd name="connsiteY21" fmla="*/ 3057297 h 6858001"/>
              <a:gd name="connsiteX22" fmla="*/ 4737768 w 4990911"/>
              <a:gd name="connsiteY22" fmla="*/ 3201315 h 6858001"/>
              <a:gd name="connsiteX23" fmla="*/ 4738777 w 4990911"/>
              <a:gd name="connsiteY23" fmla="*/ 3343961 h 6858001"/>
              <a:gd name="connsiteX24" fmla="*/ 4738777 w 4990911"/>
              <a:gd name="connsiteY24" fmla="*/ 3485236 h 6858001"/>
              <a:gd name="connsiteX25" fmla="*/ 4740794 w 4990911"/>
              <a:gd name="connsiteY25" fmla="*/ 3625139 h 6858001"/>
              <a:gd name="connsiteX26" fmla="*/ 4743819 w 4990911"/>
              <a:gd name="connsiteY26" fmla="*/ 3762299 h 6858001"/>
              <a:gd name="connsiteX27" fmla="*/ 4746677 w 4990911"/>
              <a:gd name="connsiteY27" fmla="*/ 3898087 h 6858001"/>
              <a:gd name="connsiteX28" fmla="*/ 4749871 w 4990911"/>
              <a:gd name="connsiteY28" fmla="*/ 4031133 h 6858001"/>
              <a:gd name="connsiteX29" fmla="*/ 4754745 w 4990911"/>
              <a:gd name="connsiteY29" fmla="*/ 4163492 h 6858001"/>
              <a:gd name="connsiteX30" fmla="*/ 4759956 w 4990911"/>
              <a:gd name="connsiteY30" fmla="*/ 4293793 h 6858001"/>
              <a:gd name="connsiteX31" fmla="*/ 4764662 w 4990911"/>
              <a:gd name="connsiteY31" fmla="*/ 4421352 h 6858001"/>
              <a:gd name="connsiteX32" fmla="*/ 4777942 w 4990911"/>
              <a:gd name="connsiteY32" fmla="*/ 4670298 h 6858001"/>
              <a:gd name="connsiteX33" fmla="*/ 4792061 w 4990911"/>
              <a:gd name="connsiteY33" fmla="*/ 4908956 h 6858001"/>
              <a:gd name="connsiteX34" fmla="*/ 4806853 w 4990911"/>
              <a:gd name="connsiteY34" fmla="*/ 5138013 h 6858001"/>
              <a:gd name="connsiteX35" fmla="*/ 4823158 w 4990911"/>
              <a:gd name="connsiteY35" fmla="*/ 5354726 h 6858001"/>
              <a:gd name="connsiteX36" fmla="*/ 4840135 w 4990911"/>
              <a:gd name="connsiteY36" fmla="*/ 5561838 h 6858001"/>
              <a:gd name="connsiteX37" fmla="*/ 4858456 w 4990911"/>
              <a:gd name="connsiteY37" fmla="*/ 5753862 h 6858001"/>
              <a:gd name="connsiteX38" fmla="*/ 4876442 w 4990911"/>
              <a:gd name="connsiteY38" fmla="*/ 5934227 h 6858001"/>
              <a:gd name="connsiteX39" fmla="*/ 4894427 w 4990911"/>
              <a:gd name="connsiteY39" fmla="*/ 6100191 h 6858001"/>
              <a:gd name="connsiteX40" fmla="*/ 4911404 w 4990911"/>
              <a:gd name="connsiteY40" fmla="*/ 6252438 h 6858001"/>
              <a:gd name="connsiteX41" fmla="*/ 4927541 w 4990911"/>
              <a:gd name="connsiteY41" fmla="*/ 6387541 h 6858001"/>
              <a:gd name="connsiteX42" fmla="*/ 4942837 w 4990911"/>
              <a:gd name="connsiteY42" fmla="*/ 6509613 h 6858001"/>
              <a:gd name="connsiteX43" fmla="*/ 4955612 w 4990911"/>
              <a:gd name="connsiteY43" fmla="*/ 6612483 h 6858001"/>
              <a:gd name="connsiteX44" fmla="*/ 4967714 w 4990911"/>
              <a:gd name="connsiteY44" fmla="*/ 6698894 h 6858001"/>
              <a:gd name="connsiteX45" fmla="*/ 4985028 w 4990911"/>
              <a:gd name="connsiteY45" fmla="*/ 6817538 h 6858001"/>
              <a:gd name="connsiteX46" fmla="*/ 4990911 w 4990911"/>
              <a:gd name="connsiteY46" fmla="*/ 6858000 h 6858001"/>
              <a:gd name="connsiteX47" fmla="*/ 4085557 w 4990911"/>
              <a:gd name="connsiteY47" fmla="*/ 6858000 h 6858001"/>
              <a:gd name="connsiteX48" fmla="*/ 4085557 w 4990911"/>
              <a:gd name="connsiteY48" fmla="*/ 6858001 h 6858001"/>
              <a:gd name="connsiteX49" fmla="*/ 0 w 4990911"/>
              <a:gd name="connsiteY49" fmla="*/ 6858001 h 6858001"/>
              <a:gd name="connsiteX50" fmla="*/ 0 w 4990911"/>
              <a:gd name="connsiteY50" fmla="*/ 1 h 6858001"/>
              <a:gd name="connsiteX51" fmla="*/ 3646196 w 4990911"/>
              <a:gd name="connsiteY51" fmla="*/ 1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4990911" h="6858001">
                <a:moveTo>
                  <a:pt x="3646196" y="0"/>
                </a:moveTo>
                <a:lnTo>
                  <a:pt x="4989734" y="0"/>
                </a:lnTo>
                <a:lnTo>
                  <a:pt x="4964689" y="155677"/>
                </a:lnTo>
                <a:lnTo>
                  <a:pt x="4940820" y="310668"/>
                </a:lnTo>
                <a:lnTo>
                  <a:pt x="4917456" y="466344"/>
                </a:lnTo>
                <a:lnTo>
                  <a:pt x="4897453" y="622707"/>
                </a:lnTo>
                <a:lnTo>
                  <a:pt x="4877282" y="778383"/>
                </a:lnTo>
                <a:lnTo>
                  <a:pt x="4858456" y="934746"/>
                </a:lnTo>
                <a:lnTo>
                  <a:pt x="4842320" y="1089051"/>
                </a:lnTo>
                <a:lnTo>
                  <a:pt x="4827024" y="1245413"/>
                </a:lnTo>
                <a:lnTo>
                  <a:pt x="4813072" y="1401090"/>
                </a:lnTo>
                <a:lnTo>
                  <a:pt x="4800970" y="1554023"/>
                </a:lnTo>
                <a:lnTo>
                  <a:pt x="4788867" y="1709014"/>
                </a:lnTo>
                <a:lnTo>
                  <a:pt x="4778782" y="1861947"/>
                </a:lnTo>
                <a:lnTo>
                  <a:pt x="4770882" y="2014881"/>
                </a:lnTo>
                <a:lnTo>
                  <a:pt x="4762645" y="2167128"/>
                </a:lnTo>
                <a:lnTo>
                  <a:pt x="4755754" y="2318004"/>
                </a:lnTo>
                <a:lnTo>
                  <a:pt x="4750879" y="2467509"/>
                </a:lnTo>
                <a:lnTo>
                  <a:pt x="4746677" y="2617013"/>
                </a:lnTo>
                <a:lnTo>
                  <a:pt x="4742643" y="2765146"/>
                </a:lnTo>
                <a:lnTo>
                  <a:pt x="4740794" y="2911221"/>
                </a:lnTo>
                <a:lnTo>
                  <a:pt x="4738777" y="3057297"/>
                </a:lnTo>
                <a:lnTo>
                  <a:pt x="4737768" y="3201315"/>
                </a:lnTo>
                <a:lnTo>
                  <a:pt x="4738777" y="3343961"/>
                </a:lnTo>
                <a:lnTo>
                  <a:pt x="4738777" y="3485236"/>
                </a:lnTo>
                <a:lnTo>
                  <a:pt x="4740794" y="3625139"/>
                </a:lnTo>
                <a:lnTo>
                  <a:pt x="4743819" y="3762299"/>
                </a:lnTo>
                <a:lnTo>
                  <a:pt x="4746677" y="3898087"/>
                </a:lnTo>
                <a:lnTo>
                  <a:pt x="4749871" y="4031133"/>
                </a:lnTo>
                <a:lnTo>
                  <a:pt x="4754745" y="4163492"/>
                </a:lnTo>
                <a:lnTo>
                  <a:pt x="4759956" y="4293793"/>
                </a:lnTo>
                <a:lnTo>
                  <a:pt x="4764662" y="4421352"/>
                </a:lnTo>
                <a:lnTo>
                  <a:pt x="4777942" y="4670298"/>
                </a:lnTo>
                <a:lnTo>
                  <a:pt x="4792061" y="4908956"/>
                </a:lnTo>
                <a:lnTo>
                  <a:pt x="4806853" y="5138013"/>
                </a:lnTo>
                <a:lnTo>
                  <a:pt x="4823158" y="5354726"/>
                </a:lnTo>
                <a:lnTo>
                  <a:pt x="4840135" y="5561838"/>
                </a:lnTo>
                <a:lnTo>
                  <a:pt x="4858456" y="5753862"/>
                </a:lnTo>
                <a:lnTo>
                  <a:pt x="4876442" y="5934227"/>
                </a:lnTo>
                <a:lnTo>
                  <a:pt x="4894427" y="6100191"/>
                </a:lnTo>
                <a:lnTo>
                  <a:pt x="4911404" y="6252438"/>
                </a:lnTo>
                <a:lnTo>
                  <a:pt x="4927541" y="6387541"/>
                </a:lnTo>
                <a:lnTo>
                  <a:pt x="4942837" y="6509613"/>
                </a:lnTo>
                <a:lnTo>
                  <a:pt x="4955612" y="6612483"/>
                </a:lnTo>
                <a:lnTo>
                  <a:pt x="4967714" y="6698894"/>
                </a:lnTo>
                <a:lnTo>
                  <a:pt x="4985028" y="6817538"/>
                </a:lnTo>
                <a:lnTo>
                  <a:pt x="4990911" y="6858000"/>
                </a:lnTo>
                <a:lnTo>
                  <a:pt x="4085557" y="6858000"/>
                </a:lnTo>
                <a:lnTo>
                  <a:pt x="4085557" y="6858001"/>
                </a:lnTo>
                <a:lnTo>
                  <a:pt x="0" y="6858001"/>
                </a:lnTo>
                <a:lnTo>
                  <a:pt x="0" y="1"/>
                </a:lnTo>
                <a:lnTo>
                  <a:pt x="3646196" y="1"/>
                </a:lnTo>
                <a:close/>
              </a:path>
            </a:pathLst>
          </a:cu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BA768A8-4FED-4ED8-9E46-6BE72188EC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9CBF07BA-88C1-C0D0-752F-629891C7BC5A}"/>
              </a:ext>
            </a:extLst>
          </p:cNvPr>
          <p:cNvSpPr>
            <a:spLocks noGrp="1"/>
          </p:cNvSpPr>
          <p:nvPr>
            <p:ph type="title"/>
          </p:nvPr>
        </p:nvSpPr>
        <p:spPr>
          <a:xfrm>
            <a:off x="498489" y="2128207"/>
            <a:ext cx="3522879" cy="2337501"/>
          </a:xfrm>
        </p:spPr>
        <p:txBody>
          <a:bodyPr>
            <a:normAutofit/>
          </a:bodyPr>
          <a:lstStyle/>
          <a:p>
            <a:pPr algn="r"/>
            <a:r>
              <a:rPr lang="fr-FR" b="1" dirty="0">
                <a:solidFill>
                  <a:srgbClr val="FFFFFF"/>
                </a:solidFill>
              </a:rPr>
              <a:t>5. </a:t>
            </a:r>
            <a:r>
              <a:rPr lang="en-US" b="1" dirty="0" err="1">
                <a:solidFill>
                  <a:srgbClr val="FFFFFF"/>
                </a:solidFill>
              </a:rPr>
              <a:t>BigQuery</a:t>
            </a:r>
            <a:r>
              <a:rPr lang="en-US" b="1" dirty="0">
                <a:solidFill>
                  <a:srgbClr val="FFFFFF"/>
                </a:solidFill>
              </a:rPr>
              <a:t>: Analytical Data Layer</a:t>
            </a:r>
          </a:p>
        </p:txBody>
      </p:sp>
      <p:pic>
        <p:nvPicPr>
          <p:cNvPr id="7" name="Picture 6">
            <a:extLst>
              <a:ext uri="{FF2B5EF4-FFF2-40B4-BE49-F238E27FC236}">
                <a16:creationId xmlns:a16="http://schemas.microsoft.com/office/drawing/2014/main" id="{FBEAAF2C-1997-BECA-AAF4-F1C55B247E3C}"/>
              </a:ext>
            </a:extLst>
          </p:cNvPr>
          <p:cNvPicPr>
            <a:picLocks/>
          </p:cNvPicPr>
          <p:nvPr/>
        </p:nvPicPr>
        <p:blipFill>
          <a:blip r:embed="rId2"/>
          <a:srcRect l="16742" t="61447" r="16956" b="15925"/>
          <a:stretch>
            <a:fillRect/>
          </a:stretch>
        </p:blipFill>
        <p:spPr>
          <a:xfrm>
            <a:off x="5288863" y="-25751"/>
            <a:ext cx="5946695" cy="2840421"/>
          </a:xfrm>
          <a:prstGeom prst="rect">
            <a:avLst/>
          </a:prstGeom>
          <a:ln w="38100" cap="sq">
            <a:solidFill>
              <a:schemeClr val="accent4">
                <a:lumMod val="60000"/>
                <a:lumOff val="40000"/>
              </a:schemeClr>
            </a:solidFill>
            <a:prstDash val="solid"/>
            <a:miter lim="800000"/>
          </a:ln>
          <a:effectLst>
            <a:outerShdw blurRad="50800" dist="38100" dir="2700000" algn="tl" rotWithShape="0">
              <a:srgbClr val="000000">
                <a:alpha val="43000"/>
              </a:srgbClr>
            </a:outerShdw>
          </a:effectLst>
        </p:spPr>
      </p:pic>
      <p:pic>
        <p:nvPicPr>
          <p:cNvPr id="11" name="Picture 10">
            <a:extLst>
              <a:ext uri="{FF2B5EF4-FFF2-40B4-BE49-F238E27FC236}">
                <a16:creationId xmlns:a16="http://schemas.microsoft.com/office/drawing/2014/main" id="{6696C199-9E00-B297-08B0-6A033D80137C}"/>
              </a:ext>
            </a:extLst>
          </p:cNvPr>
          <p:cNvPicPr>
            <a:picLocks noChangeAspect="1"/>
          </p:cNvPicPr>
          <p:nvPr/>
        </p:nvPicPr>
        <p:blipFill>
          <a:blip r:embed="rId3"/>
          <a:stretch>
            <a:fillRect/>
          </a:stretch>
        </p:blipFill>
        <p:spPr>
          <a:xfrm>
            <a:off x="4977811" y="2962999"/>
            <a:ext cx="3108904" cy="2655099"/>
          </a:xfrm>
          <a:prstGeom prst="rect">
            <a:avLst/>
          </a:prstGeom>
          <a:ln w="38100" cap="sq">
            <a:solidFill>
              <a:schemeClr val="accent4">
                <a:lumMod val="60000"/>
                <a:lumOff val="40000"/>
              </a:schemeClr>
            </a:solidFill>
            <a:prstDash val="solid"/>
            <a:miter lim="800000"/>
          </a:ln>
          <a:effectLst>
            <a:outerShdw blurRad="50800" dist="38100" dir="2700000" algn="tl" rotWithShape="0">
              <a:srgbClr val="000000">
                <a:alpha val="43000"/>
              </a:srgbClr>
            </a:outerShdw>
          </a:effectLst>
        </p:spPr>
      </p:pic>
      <p:pic>
        <p:nvPicPr>
          <p:cNvPr id="26" name="Picture 25">
            <a:extLst>
              <a:ext uri="{FF2B5EF4-FFF2-40B4-BE49-F238E27FC236}">
                <a16:creationId xmlns:a16="http://schemas.microsoft.com/office/drawing/2014/main" id="{7F701572-2596-A8D0-A519-30E7D9714CEF}"/>
              </a:ext>
            </a:extLst>
          </p:cNvPr>
          <p:cNvPicPr>
            <a:picLocks/>
          </p:cNvPicPr>
          <p:nvPr/>
        </p:nvPicPr>
        <p:blipFill>
          <a:blip r:embed="rId2"/>
          <a:srcRect l="16742" t="61447" r="16956" b="15925"/>
          <a:stretch>
            <a:fillRect/>
          </a:stretch>
        </p:blipFill>
        <p:spPr>
          <a:xfrm>
            <a:off x="5288863" y="0"/>
            <a:ext cx="5946695" cy="2840421"/>
          </a:xfrm>
          <a:prstGeom prst="rect">
            <a:avLst/>
          </a:prstGeom>
          <a:ln w="38100" cap="sq">
            <a:solidFill>
              <a:schemeClr val="accent4">
                <a:lumMod val="60000"/>
                <a:lumOff val="40000"/>
              </a:schemeClr>
            </a:solidFill>
            <a:prstDash val="solid"/>
            <a:miter lim="800000"/>
          </a:ln>
          <a:effectLst>
            <a:outerShdw blurRad="50800" dist="38100" dir="2700000" algn="tl" rotWithShape="0">
              <a:srgbClr val="000000">
                <a:alpha val="43000"/>
              </a:srgbClr>
            </a:outerShdw>
          </a:effectLst>
        </p:spPr>
      </p:pic>
      <p:pic>
        <p:nvPicPr>
          <p:cNvPr id="30" name="Picture 29">
            <a:extLst>
              <a:ext uri="{FF2B5EF4-FFF2-40B4-BE49-F238E27FC236}">
                <a16:creationId xmlns:a16="http://schemas.microsoft.com/office/drawing/2014/main" id="{AF225D25-4777-06CA-C2EF-A99BDAEC0E0B}"/>
              </a:ext>
            </a:extLst>
          </p:cNvPr>
          <p:cNvPicPr>
            <a:picLocks noChangeAspect="1"/>
          </p:cNvPicPr>
          <p:nvPr/>
        </p:nvPicPr>
        <p:blipFill>
          <a:blip r:embed="rId4"/>
          <a:stretch>
            <a:fillRect/>
          </a:stretch>
        </p:blipFill>
        <p:spPr>
          <a:xfrm>
            <a:off x="8258348" y="2963000"/>
            <a:ext cx="3379900" cy="2655099"/>
          </a:xfrm>
          <a:prstGeom prst="rect">
            <a:avLst/>
          </a:prstGeom>
          <a:ln w="38100" cap="sq">
            <a:solidFill>
              <a:schemeClr val="accent4">
                <a:lumMod val="60000"/>
                <a:lumOff val="40000"/>
              </a:schemeClr>
            </a:solidFill>
            <a:prstDash val="solid"/>
            <a:miter lim="800000"/>
          </a:ln>
          <a:effectLst>
            <a:outerShdw blurRad="50800" dist="38100" dir="2700000" algn="tl" rotWithShape="0">
              <a:srgbClr val="000000">
                <a:alpha val="43000"/>
              </a:srgbClr>
            </a:outerShdw>
          </a:effectLst>
        </p:spPr>
      </p:pic>
      <p:pic>
        <p:nvPicPr>
          <p:cNvPr id="35" name="Picture 34">
            <a:extLst>
              <a:ext uri="{FF2B5EF4-FFF2-40B4-BE49-F238E27FC236}">
                <a16:creationId xmlns:a16="http://schemas.microsoft.com/office/drawing/2014/main" id="{941C9A69-7D84-433F-3FDB-5253ACE9500C}"/>
              </a:ext>
            </a:extLst>
          </p:cNvPr>
          <p:cNvPicPr>
            <a:picLocks noChangeAspect="1"/>
          </p:cNvPicPr>
          <p:nvPr/>
        </p:nvPicPr>
        <p:blipFill>
          <a:blip r:embed="rId5"/>
          <a:stretch>
            <a:fillRect/>
          </a:stretch>
        </p:blipFill>
        <p:spPr>
          <a:xfrm>
            <a:off x="6673642" y="5454697"/>
            <a:ext cx="3379900" cy="1348836"/>
          </a:xfrm>
          <a:prstGeom prst="rect">
            <a:avLst/>
          </a:prstGeom>
          <a:ln w="38100" cap="sq">
            <a:solidFill>
              <a:schemeClr val="accent4">
                <a:lumMod val="60000"/>
                <a:lumOff val="40000"/>
              </a:schemeClr>
            </a:solidFill>
            <a:prstDash val="solid"/>
            <a:miter lim="800000"/>
          </a:ln>
          <a:effectLst>
            <a:outerShdw blurRad="50800" dist="38100" dir="2700000" algn="tl" rotWithShape="0">
              <a:srgbClr val="000000">
                <a:alpha val="43000"/>
              </a:srgbClr>
            </a:outerShdw>
          </a:effectLst>
        </p:spPr>
      </p:pic>
      <p:sp>
        <p:nvSpPr>
          <p:cNvPr id="36" name="Rectangle 35">
            <a:extLst>
              <a:ext uri="{FF2B5EF4-FFF2-40B4-BE49-F238E27FC236}">
                <a16:creationId xmlns:a16="http://schemas.microsoft.com/office/drawing/2014/main" id="{457B4915-8E38-1D51-0F69-BB83FBAB4472}"/>
              </a:ext>
            </a:extLst>
          </p:cNvPr>
          <p:cNvSpPr/>
          <p:nvPr/>
        </p:nvSpPr>
        <p:spPr>
          <a:xfrm>
            <a:off x="4951927" y="5055221"/>
            <a:ext cx="1132609" cy="2286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81682AAD-4C5C-F924-D14A-9EAB6EB72A02}"/>
              </a:ext>
            </a:extLst>
          </p:cNvPr>
          <p:cNvSpPr/>
          <p:nvPr/>
        </p:nvSpPr>
        <p:spPr>
          <a:xfrm>
            <a:off x="6741842" y="5902036"/>
            <a:ext cx="1516506" cy="3221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3126301B-1FE7-ED36-6A0E-E9DE1FFDAE37}"/>
              </a:ext>
            </a:extLst>
          </p:cNvPr>
          <p:cNvSpPr/>
          <p:nvPr/>
        </p:nvSpPr>
        <p:spPr>
          <a:xfrm>
            <a:off x="6673642" y="6508092"/>
            <a:ext cx="2676067" cy="32119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8941755"/>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4CD14DB-BB81-479F-A1FC-1C75640E9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entury Gothic" panose="020B0502020202020204"/>
              <a:ea typeface="+mn-ea"/>
              <a:cs typeface="+mn-cs"/>
            </a:endParaRPr>
          </a:p>
        </p:txBody>
      </p:sp>
      <p:sp>
        <p:nvSpPr>
          <p:cNvPr id="10" name="Rectangle 9">
            <a:extLst>
              <a:ext uri="{FF2B5EF4-FFF2-40B4-BE49-F238E27FC236}">
                <a16:creationId xmlns:a16="http://schemas.microsoft.com/office/drawing/2014/main" id="{C943A91B-7CA7-4592-A975-73B1BF8C4C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2" name="Freeform 7">
            <a:extLst>
              <a:ext uri="{FF2B5EF4-FFF2-40B4-BE49-F238E27FC236}">
                <a16:creationId xmlns:a16="http://schemas.microsoft.com/office/drawing/2014/main" id="{EC471314-E46A-414B-8D91-74880E84F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entury Gothic" panose="020B0502020202020204"/>
              <a:ea typeface="+mn-ea"/>
              <a:cs typeface="+mn-cs"/>
            </a:endParaRPr>
          </a:p>
        </p:txBody>
      </p:sp>
      <p:sp useBgFill="1">
        <p:nvSpPr>
          <p:cNvPr id="14" name="Freeform: Shape 13">
            <a:extLst>
              <a:ext uri="{FF2B5EF4-FFF2-40B4-BE49-F238E27FC236}">
                <a16:creationId xmlns:a16="http://schemas.microsoft.com/office/drawing/2014/main" id="{6A681326-1C9D-44A3-A627-3871BDAE41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7" cy="5095933"/>
          </a:xfrm>
          <a:custGeom>
            <a:avLst/>
            <a:gdLst>
              <a:gd name="connsiteX0" fmla="*/ 0 w 12192417"/>
              <a:gd name="connsiteY0" fmla="*/ 0 h 5095933"/>
              <a:gd name="connsiteX1" fmla="*/ 71931 w 12192417"/>
              <a:gd name="connsiteY1" fmla="*/ 12261 h 5095933"/>
              <a:gd name="connsiteX2" fmla="*/ 282848 w 12192417"/>
              <a:gd name="connsiteY2" fmla="*/ 48343 h 5095933"/>
              <a:gd name="connsiteX3" fmla="*/ 436463 w 12192417"/>
              <a:gd name="connsiteY3" fmla="*/ 73565 h 5095933"/>
              <a:gd name="connsiteX4" fmla="*/ 619338 w 12192417"/>
              <a:gd name="connsiteY4" fmla="*/ 100188 h 5095933"/>
              <a:gd name="connsiteX5" fmla="*/ 836350 w 12192417"/>
              <a:gd name="connsiteY5" fmla="*/ 132066 h 5095933"/>
              <a:gd name="connsiteX6" fmla="*/ 1076527 w 12192417"/>
              <a:gd name="connsiteY6" fmla="*/ 165696 h 5095933"/>
              <a:gd name="connsiteX7" fmla="*/ 1347183 w 12192417"/>
              <a:gd name="connsiteY7" fmla="*/ 201077 h 5095933"/>
              <a:gd name="connsiteX8" fmla="*/ 1642222 w 12192417"/>
              <a:gd name="connsiteY8" fmla="*/ 238560 h 5095933"/>
              <a:gd name="connsiteX9" fmla="*/ 1962863 w 12192417"/>
              <a:gd name="connsiteY9" fmla="*/ 276043 h 5095933"/>
              <a:gd name="connsiteX10" fmla="*/ 2304231 w 12192417"/>
              <a:gd name="connsiteY10" fmla="*/ 314227 h 5095933"/>
              <a:gd name="connsiteX11" fmla="*/ 2672420 w 12192417"/>
              <a:gd name="connsiteY11" fmla="*/ 349608 h 5095933"/>
              <a:gd name="connsiteX12" fmla="*/ 3057677 w 12192417"/>
              <a:gd name="connsiteY12" fmla="*/ 383588 h 5095933"/>
              <a:gd name="connsiteX13" fmla="*/ 3464880 w 12192417"/>
              <a:gd name="connsiteY13" fmla="*/ 414415 h 5095933"/>
              <a:gd name="connsiteX14" fmla="*/ 3889151 w 12192417"/>
              <a:gd name="connsiteY14" fmla="*/ 443841 h 5095933"/>
              <a:gd name="connsiteX15" fmla="*/ 4331709 w 12192417"/>
              <a:gd name="connsiteY15" fmla="*/ 471515 h 5095933"/>
              <a:gd name="connsiteX16" fmla="*/ 4558475 w 12192417"/>
              <a:gd name="connsiteY16" fmla="*/ 481324 h 5095933"/>
              <a:gd name="connsiteX17" fmla="*/ 4790117 w 12192417"/>
              <a:gd name="connsiteY17" fmla="*/ 492183 h 5095933"/>
              <a:gd name="connsiteX18" fmla="*/ 5025417 w 12192417"/>
              <a:gd name="connsiteY18" fmla="*/ 502342 h 5095933"/>
              <a:gd name="connsiteX19" fmla="*/ 5261936 w 12192417"/>
              <a:gd name="connsiteY19" fmla="*/ 508998 h 5095933"/>
              <a:gd name="connsiteX20" fmla="*/ 5503331 w 12192417"/>
              <a:gd name="connsiteY20" fmla="*/ 514953 h 5095933"/>
              <a:gd name="connsiteX21" fmla="*/ 5747166 w 12192417"/>
              <a:gd name="connsiteY21" fmla="*/ 521259 h 5095933"/>
              <a:gd name="connsiteX22" fmla="*/ 5995876 w 12192417"/>
              <a:gd name="connsiteY22" fmla="*/ 525463 h 5095933"/>
              <a:gd name="connsiteX23" fmla="*/ 6247025 w 12192417"/>
              <a:gd name="connsiteY23" fmla="*/ 525463 h 5095933"/>
              <a:gd name="connsiteX24" fmla="*/ 6500612 w 12192417"/>
              <a:gd name="connsiteY24" fmla="*/ 527565 h 5095933"/>
              <a:gd name="connsiteX25" fmla="*/ 6756638 w 12192417"/>
              <a:gd name="connsiteY25" fmla="*/ 525463 h 5095933"/>
              <a:gd name="connsiteX26" fmla="*/ 7016321 w 12192417"/>
              <a:gd name="connsiteY26" fmla="*/ 521259 h 5095933"/>
              <a:gd name="connsiteX27" fmla="*/ 7276004 w 12192417"/>
              <a:gd name="connsiteY27" fmla="*/ 517406 h 5095933"/>
              <a:gd name="connsiteX28" fmla="*/ 7539344 w 12192417"/>
              <a:gd name="connsiteY28" fmla="*/ 508998 h 5095933"/>
              <a:gd name="connsiteX29" fmla="*/ 7805123 w 12192417"/>
              <a:gd name="connsiteY29" fmla="*/ 500241 h 5095933"/>
              <a:gd name="connsiteX30" fmla="*/ 8070902 w 12192417"/>
              <a:gd name="connsiteY30" fmla="*/ 490082 h 5095933"/>
              <a:gd name="connsiteX31" fmla="*/ 8339120 w 12192417"/>
              <a:gd name="connsiteY31" fmla="*/ 475719 h 5095933"/>
              <a:gd name="connsiteX32" fmla="*/ 8609775 w 12192417"/>
              <a:gd name="connsiteY32" fmla="*/ 458554 h 5095933"/>
              <a:gd name="connsiteX33" fmla="*/ 8881650 w 12192417"/>
              <a:gd name="connsiteY33" fmla="*/ 442089 h 5095933"/>
              <a:gd name="connsiteX34" fmla="*/ 9153525 w 12192417"/>
              <a:gd name="connsiteY34" fmla="*/ 421071 h 5095933"/>
              <a:gd name="connsiteX35" fmla="*/ 9429057 w 12192417"/>
              <a:gd name="connsiteY35" fmla="*/ 395849 h 5095933"/>
              <a:gd name="connsiteX36" fmla="*/ 9700932 w 12192417"/>
              <a:gd name="connsiteY36" fmla="*/ 370626 h 5095933"/>
              <a:gd name="connsiteX37" fmla="*/ 9977683 w 12192417"/>
              <a:gd name="connsiteY37" fmla="*/ 341551 h 5095933"/>
              <a:gd name="connsiteX38" fmla="*/ 10255654 w 12192417"/>
              <a:gd name="connsiteY38" fmla="*/ 309673 h 5095933"/>
              <a:gd name="connsiteX39" fmla="*/ 10529967 w 12192417"/>
              <a:gd name="connsiteY39" fmla="*/ 276043 h 5095933"/>
              <a:gd name="connsiteX40" fmla="*/ 10807938 w 12192417"/>
              <a:gd name="connsiteY40" fmla="*/ 236809 h 5095933"/>
              <a:gd name="connsiteX41" fmla="*/ 11084689 w 12192417"/>
              <a:gd name="connsiteY41" fmla="*/ 194772 h 5095933"/>
              <a:gd name="connsiteX42" fmla="*/ 11362660 w 12192417"/>
              <a:gd name="connsiteY42" fmla="*/ 153085 h 5095933"/>
              <a:gd name="connsiteX43" fmla="*/ 11639411 w 12192417"/>
              <a:gd name="connsiteY43" fmla="*/ 104392 h 5095933"/>
              <a:gd name="connsiteX44" fmla="*/ 11914944 w 12192417"/>
              <a:gd name="connsiteY44" fmla="*/ 54648 h 5095933"/>
              <a:gd name="connsiteX45" fmla="*/ 12191695 w 12192417"/>
              <a:gd name="connsiteY45" fmla="*/ 2452 h 5095933"/>
              <a:gd name="connsiteX46" fmla="*/ 12191695 w 12192417"/>
              <a:gd name="connsiteY46" fmla="*/ 2162231 h 5095933"/>
              <a:gd name="connsiteX47" fmla="*/ 12192417 w 12192417"/>
              <a:gd name="connsiteY47" fmla="*/ 2162231 h 5095933"/>
              <a:gd name="connsiteX48" fmla="*/ 12192417 w 12192417"/>
              <a:gd name="connsiteY48" fmla="*/ 5095933 h 5095933"/>
              <a:gd name="connsiteX49" fmla="*/ 0 w 12192417"/>
              <a:gd name="connsiteY49" fmla="*/ 5095933 h 5095933"/>
              <a:gd name="connsiteX50" fmla="*/ 0 w 12192417"/>
              <a:gd name="connsiteY50" fmla="*/ 2791958 h 5095933"/>
              <a:gd name="connsiteX51" fmla="*/ 0 w 12192417"/>
              <a:gd name="connsiteY51" fmla="*/ 2162231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417" h="5095933">
                <a:moveTo>
                  <a:pt x="0" y="0"/>
                </a:moveTo>
                <a:lnTo>
                  <a:pt x="71931" y="12261"/>
                </a:lnTo>
                <a:lnTo>
                  <a:pt x="282848" y="48343"/>
                </a:lnTo>
                <a:lnTo>
                  <a:pt x="436463" y="73565"/>
                </a:lnTo>
                <a:lnTo>
                  <a:pt x="619338" y="100188"/>
                </a:lnTo>
                <a:lnTo>
                  <a:pt x="836350" y="132066"/>
                </a:lnTo>
                <a:lnTo>
                  <a:pt x="1076527" y="165696"/>
                </a:lnTo>
                <a:lnTo>
                  <a:pt x="1347183" y="201077"/>
                </a:lnTo>
                <a:lnTo>
                  <a:pt x="1642222" y="238560"/>
                </a:lnTo>
                <a:lnTo>
                  <a:pt x="1962863" y="276043"/>
                </a:lnTo>
                <a:lnTo>
                  <a:pt x="2304231" y="314227"/>
                </a:lnTo>
                <a:lnTo>
                  <a:pt x="2672420" y="349608"/>
                </a:lnTo>
                <a:lnTo>
                  <a:pt x="3057677" y="383588"/>
                </a:lnTo>
                <a:lnTo>
                  <a:pt x="3464880" y="414415"/>
                </a:lnTo>
                <a:lnTo>
                  <a:pt x="3889151" y="443841"/>
                </a:lnTo>
                <a:lnTo>
                  <a:pt x="4331709" y="471515"/>
                </a:lnTo>
                <a:lnTo>
                  <a:pt x="4558475" y="481324"/>
                </a:lnTo>
                <a:lnTo>
                  <a:pt x="4790117" y="492183"/>
                </a:lnTo>
                <a:lnTo>
                  <a:pt x="5025417" y="502342"/>
                </a:lnTo>
                <a:lnTo>
                  <a:pt x="5261936" y="508998"/>
                </a:lnTo>
                <a:lnTo>
                  <a:pt x="5503331" y="514953"/>
                </a:lnTo>
                <a:lnTo>
                  <a:pt x="5747166" y="521259"/>
                </a:lnTo>
                <a:lnTo>
                  <a:pt x="5995876" y="525463"/>
                </a:lnTo>
                <a:lnTo>
                  <a:pt x="6247025" y="525463"/>
                </a:lnTo>
                <a:lnTo>
                  <a:pt x="6500612" y="527565"/>
                </a:lnTo>
                <a:lnTo>
                  <a:pt x="6756638" y="525463"/>
                </a:lnTo>
                <a:lnTo>
                  <a:pt x="7016321" y="521259"/>
                </a:lnTo>
                <a:lnTo>
                  <a:pt x="7276004" y="517406"/>
                </a:lnTo>
                <a:lnTo>
                  <a:pt x="7539344" y="508998"/>
                </a:lnTo>
                <a:lnTo>
                  <a:pt x="7805123" y="500241"/>
                </a:lnTo>
                <a:lnTo>
                  <a:pt x="8070902" y="490082"/>
                </a:lnTo>
                <a:lnTo>
                  <a:pt x="8339120" y="475719"/>
                </a:lnTo>
                <a:lnTo>
                  <a:pt x="8609775" y="458554"/>
                </a:lnTo>
                <a:lnTo>
                  <a:pt x="8881650" y="442089"/>
                </a:lnTo>
                <a:lnTo>
                  <a:pt x="9153525" y="421071"/>
                </a:lnTo>
                <a:lnTo>
                  <a:pt x="9429057" y="395849"/>
                </a:lnTo>
                <a:lnTo>
                  <a:pt x="9700932" y="370626"/>
                </a:lnTo>
                <a:lnTo>
                  <a:pt x="9977683" y="341551"/>
                </a:lnTo>
                <a:lnTo>
                  <a:pt x="10255654" y="309673"/>
                </a:lnTo>
                <a:lnTo>
                  <a:pt x="10529967" y="276043"/>
                </a:lnTo>
                <a:lnTo>
                  <a:pt x="10807938" y="236809"/>
                </a:lnTo>
                <a:lnTo>
                  <a:pt x="11084689" y="194772"/>
                </a:lnTo>
                <a:lnTo>
                  <a:pt x="11362660" y="153085"/>
                </a:lnTo>
                <a:lnTo>
                  <a:pt x="11639411" y="104392"/>
                </a:lnTo>
                <a:lnTo>
                  <a:pt x="11914944" y="54648"/>
                </a:lnTo>
                <a:lnTo>
                  <a:pt x="12191695" y="2452"/>
                </a:lnTo>
                <a:lnTo>
                  <a:pt x="12191695" y="2162231"/>
                </a:lnTo>
                <a:lnTo>
                  <a:pt x="12192417" y="2162231"/>
                </a:lnTo>
                <a:lnTo>
                  <a:pt x="12192417" y="5095933"/>
                </a:lnTo>
                <a:lnTo>
                  <a:pt x="0" y="5095933"/>
                </a:lnTo>
                <a:lnTo>
                  <a:pt x="0" y="2791958"/>
                </a:lnTo>
                <a:lnTo>
                  <a:pt x="0" y="2162231"/>
                </a:lnTo>
                <a:close/>
              </a:path>
            </a:pathLst>
          </a:custGeom>
          <a:ln>
            <a:noFill/>
          </a:ln>
        </p:spPr>
        <p:txBody>
          <a:bodyPr/>
          <a:lstStyle/>
          <a:p>
            <a:endParaRPr lang="en-US"/>
          </a:p>
        </p:txBody>
      </p:sp>
      <p:sp>
        <p:nvSpPr>
          <p:cNvPr id="2" name="Title 1">
            <a:extLst>
              <a:ext uri="{FF2B5EF4-FFF2-40B4-BE49-F238E27FC236}">
                <a16:creationId xmlns:a16="http://schemas.microsoft.com/office/drawing/2014/main" id="{A3C62671-3CB5-21D2-ACC2-4E7774584869}"/>
              </a:ext>
            </a:extLst>
          </p:cNvPr>
          <p:cNvSpPr>
            <a:spLocks noGrp="1"/>
          </p:cNvSpPr>
          <p:nvPr>
            <p:ph type="title"/>
          </p:nvPr>
        </p:nvSpPr>
        <p:spPr>
          <a:xfrm>
            <a:off x="1103312" y="452718"/>
            <a:ext cx="8947522" cy="1400530"/>
          </a:xfrm>
        </p:spPr>
        <p:txBody>
          <a:bodyPr anchor="ctr">
            <a:normAutofit fontScale="90000"/>
          </a:bodyPr>
          <a:lstStyle/>
          <a:p>
            <a:r>
              <a:rPr lang="en-US" sz="4400" b="1" dirty="0">
                <a:solidFill>
                  <a:srgbClr val="FFFFFF"/>
                </a:solidFill>
              </a:rPr>
              <a:t>6. Initial EDA: Measurement Coverage &amp; Balance 1/2</a:t>
            </a:r>
            <a:endParaRPr lang="en-US" dirty="0">
              <a:solidFill>
                <a:srgbClr val="FFFFFF"/>
              </a:solidFill>
            </a:endParaRPr>
          </a:p>
        </p:txBody>
      </p:sp>
      <p:pic>
        <p:nvPicPr>
          <p:cNvPr id="4" name="Content Placeholder 4">
            <a:extLst>
              <a:ext uri="{FF2B5EF4-FFF2-40B4-BE49-F238E27FC236}">
                <a16:creationId xmlns:a16="http://schemas.microsoft.com/office/drawing/2014/main" id="{FE59CBA0-F2E4-D896-CD73-184FD5BCD383}"/>
              </a:ext>
            </a:extLst>
          </p:cNvPr>
          <p:cNvPicPr>
            <a:picLocks noGrp="1" noChangeAspect="1"/>
          </p:cNvPicPr>
          <p:nvPr>
            <p:ph idx="1"/>
          </p:nvPr>
        </p:nvPicPr>
        <p:blipFill>
          <a:blip r:embed="rId2"/>
          <a:stretch>
            <a:fillRect/>
          </a:stretch>
        </p:blipFill>
        <p:spPr>
          <a:xfrm>
            <a:off x="6430807" y="2161698"/>
            <a:ext cx="4625478" cy="3917472"/>
          </a:xfrm>
          <a:prstGeom prst="rect">
            <a:avLst/>
          </a:prstGeom>
          <a:ln w="38100" cap="sq">
            <a:solidFill>
              <a:schemeClr val="accent4">
                <a:lumMod val="60000"/>
                <a:lumOff val="40000"/>
              </a:schemeClr>
            </a:solidFill>
            <a:prstDash val="solid"/>
            <a:miter lim="800000"/>
          </a:ln>
          <a:effectLst>
            <a:outerShdw blurRad="50800" dist="38100" dir="2700000" algn="tl" rotWithShape="0">
              <a:srgbClr val="000000">
                <a:alpha val="43000"/>
              </a:srgbClr>
            </a:outerShdw>
          </a:effectLst>
        </p:spPr>
      </p:pic>
      <p:sp>
        <p:nvSpPr>
          <p:cNvPr id="6" name="TextBox 5">
            <a:extLst>
              <a:ext uri="{FF2B5EF4-FFF2-40B4-BE49-F238E27FC236}">
                <a16:creationId xmlns:a16="http://schemas.microsoft.com/office/drawing/2014/main" id="{01DD21FF-6ACA-754E-A117-5D59BBFDF698}"/>
              </a:ext>
            </a:extLst>
          </p:cNvPr>
          <p:cNvSpPr txBox="1"/>
          <p:nvPr/>
        </p:nvSpPr>
        <p:spPr>
          <a:xfrm>
            <a:off x="8235690" y="4272833"/>
            <a:ext cx="1015711" cy="369332"/>
          </a:xfrm>
          <a:prstGeom prst="rect">
            <a:avLst/>
          </a:prstGeom>
          <a:noFill/>
        </p:spPr>
        <p:txBody>
          <a:bodyPr wrap="square">
            <a:spAutoFit/>
          </a:bodyPr>
          <a:lstStyle/>
          <a:p>
            <a:r>
              <a:rPr lang="en-US" b="1" dirty="0">
                <a:solidFill>
                  <a:schemeClr val="accent4">
                    <a:lumMod val="50000"/>
                  </a:schemeClr>
                </a:solidFill>
              </a:rPr>
              <a:t>299340</a:t>
            </a:r>
          </a:p>
        </p:txBody>
      </p:sp>
      <p:sp>
        <p:nvSpPr>
          <p:cNvPr id="9" name="TextBox 8">
            <a:extLst>
              <a:ext uri="{FF2B5EF4-FFF2-40B4-BE49-F238E27FC236}">
                <a16:creationId xmlns:a16="http://schemas.microsoft.com/office/drawing/2014/main" id="{146CEA09-2893-A3D5-BA00-C29F93510FB7}"/>
              </a:ext>
            </a:extLst>
          </p:cNvPr>
          <p:cNvSpPr txBox="1"/>
          <p:nvPr/>
        </p:nvSpPr>
        <p:spPr>
          <a:xfrm>
            <a:off x="9612938" y="3001286"/>
            <a:ext cx="1649747" cy="584775"/>
          </a:xfrm>
          <a:prstGeom prst="rect">
            <a:avLst/>
          </a:prstGeom>
          <a:noFill/>
        </p:spPr>
        <p:txBody>
          <a:bodyPr wrap="square">
            <a:spAutoFit/>
          </a:bodyPr>
          <a:lstStyle/>
          <a:p>
            <a:r>
              <a:rPr lang="en-US" sz="1600" b="1" dirty="0">
                <a:solidFill>
                  <a:schemeClr val="accent4">
                    <a:lumMod val="50000"/>
                  </a:schemeClr>
                </a:solidFill>
              </a:rPr>
              <a:t>1486 communes</a:t>
            </a:r>
          </a:p>
        </p:txBody>
      </p:sp>
      <p:pic>
        <p:nvPicPr>
          <p:cNvPr id="13" name="Picture 12">
            <a:extLst>
              <a:ext uri="{FF2B5EF4-FFF2-40B4-BE49-F238E27FC236}">
                <a16:creationId xmlns:a16="http://schemas.microsoft.com/office/drawing/2014/main" id="{0A8CF15D-2604-FFC2-773F-6F6CAA895056}"/>
              </a:ext>
            </a:extLst>
          </p:cNvPr>
          <p:cNvPicPr>
            <a:picLocks noChangeAspect="1"/>
          </p:cNvPicPr>
          <p:nvPr/>
        </p:nvPicPr>
        <p:blipFill>
          <a:blip r:embed="rId3"/>
          <a:stretch>
            <a:fillRect/>
          </a:stretch>
        </p:blipFill>
        <p:spPr>
          <a:xfrm>
            <a:off x="842388" y="2155085"/>
            <a:ext cx="5338874" cy="3942318"/>
          </a:xfrm>
          <a:prstGeom prst="rect">
            <a:avLst/>
          </a:prstGeom>
          <a:ln w="38100" cap="sq">
            <a:solidFill>
              <a:schemeClr val="accent4">
                <a:lumMod val="60000"/>
                <a:lumOff val="40000"/>
              </a:schemeClr>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248185281"/>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E092B-A291-A3A2-2309-206097201B33}"/>
              </a:ext>
            </a:extLst>
          </p:cNvPr>
          <p:cNvSpPr>
            <a:spLocks noGrp="1"/>
          </p:cNvSpPr>
          <p:nvPr>
            <p:ph type="title"/>
          </p:nvPr>
        </p:nvSpPr>
        <p:spPr>
          <a:xfrm>
            <a:off x="645130" y="255291"/>
            <a:ext cx="9404723" cy="1400530"/>
          </a:xfrm>
        </p:spPr>
        <p:txBody>
          <a:bodyPr/>
          <a:lstStyle/>
          <a:p>
            <a:r>
              <a:rPr lang="en-US" sz="4000" b="1" dirty="0">
                <a:solidFill>
                  <a:srgbClr val="FFFFFF"/>
                </a:solidFill>
              </a:rPr>
              <a:t>6. Initial EDA: Measurement Coverage &amp; Balance 2/2</a:t>
            </a:r>
            <a:endParaRPr lang="en-US" dirty="0"/>
          </a:p>
        </p:txBody>
      </p:sp>
      <p:sp>
        <p:nvSpPr>
          <p:cNvPr id="3" name="Content Placeholder 2">
            <a:extLst>
              <a:ext uri="{FF2B5EF4-FFF2-40B4-BE49-F238E27FC236}">
                <a16:creationId xmlns:a16="http://schemas.microsoft.com/office/drawing/2014/main" id="{6CF62B12-E347-D89D-4F60-E2AB278D8050}"/>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45DB2DE1-2AC9-4F7B-6A9F-4AC5C616AE80}"/>
              </a:ext>
            </a:extLst>
          </p:cNvPr>
          <p:cNvPicPr>
            <a:picLocks noChangeAspect="1"/>
          </p:cNvPicPr>
          <p:nvPr/>
        </p:nvPicPr>
        <p:blipFill>
          <a:blip r:embed="rId2"/>
          <a:stretch>
            <a:fillRect/>
          </a:stretch>
        </p:blipFill>
        <p:spPr>
          <a:xfrm>
            <a:off x="330801" y="2052918"/>
            <a:ext cx="4551568" cy="4075019"/>
          </a:xfrm>
          <a:prstGeom prst="rect">
            <a:avLst/>
          </a:prstGeom>
          <a:ln w="38100" cap="sq">
            <a:solidFill>
              <a:schemeClr val="accent4">
                <a:lumMod val="60000"/>
                <a:lumOff val="40000"/>
              </a:schemeClr>
            </a:solidFill>
            <a:prstDash val="solid"/>
            <a:miter lim="800000"/>
          </a:ln>
          <a:effectLst>
            <a:outerShdw blurRad="50800" dist="38100" dir="2700000" algn="tl" rotWithShape="0">
              <a:srgbClr val="000000">
                <a:alpha val="43000"/>
              </a:srgbClr>
            </a:outerShdw>
          </a:effectLst>
        </p:spPr>
      </p:pic>
      <p:pic>
        <p:nvPicPr>
          <p:cNvPr id="7" name="Picture 6">
            <a:extLst>
              <a:ext uri="{FF2B5EF4-FFF2-40B4-BE49-F238E27FC236}">
                <a16:creationId xmlns:a16="http://schemas.microsoft.com/office/drawing/2014/main" id="{C3FE2F62-456A-1024-20E0-9E4BE47884C5}"/>
              </a:ext>
            </a:extLst>
          </p:cNvPr>
          <p:cNvPicPr>
            <a:picLocks noChangeAspect="1"/>
          </p:cNvPicPr>
          <p:nvPr/>
        </p:nvPicPr>
        <p:blipFill>
          <a:blip r:embed="rId3"/>
          <a:stretch>
            <a:fillRect/>
          </a:stretch>
        </p:blipFill>
        <p:spPr>
          <a:xfrm>
            <a:off x="5076498" y="2052918"/>
            <a:ext cx="6894786" cy="4075019"/>
          </a:xfrm>
          <a:prstGeom prst="rect">
            <a:avLst/>
          </a:prstGeom>
          <a:ln w="38100" cap="sq">
            <a:solidFill>
              <a:schemeClr val="bg2">
                <a:lumMod val="40000"/>
                <a:lumOff val="60000"/>
              </a:schemeClr>
            </a:solidFill>
            <a:prstDash val="solid"/>
            <a:miter lim="800000"/>
          </a:ln>
          <a:effectLst>
            <a:outerShdw blurRad="50800" dist="38100" dir="2700000" algn="tl" rotWithShape="0">
              <a:srgbClr val="000000">
                <a:alpha val="43000"/>
              </a:srgbClr>
            </a:outerShdw>
          </a:effectLst>
        </p:spPr>
      </p:pic>
      <p:sp>
        <p:nvSpPr>
          <p:cNvPr id="9" name="Content Placeholder 2">
            <a:extLst>
              <a:ext uri="{FF2B5EF4-FFF2-40B4-BE49-F238E27FC236}">
                <a16:creationId xmlns:a16="http://schemas.microsoft.com/office/drawing/2014/main" id="{2F5AA7BB-D995-4890-DA0A-490000F95C50}"/>
              </a:ext>
            </a:extLst>
          </p:cNvPr>
          <p:cNvSpPr txBox="1">
            <a:spLocks/>
          </p:cNvSpPr>
          <p:nvPr/>
        </p:nvSpPr>
        <p:spPr>
          <a:xfrm>
            <a:off x="2467994" y="6252042"/>
            <a:ext cx="6613829" cy="545630"/>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a:lstStyle>
          <a:p>
            <a:r>
              <a:rPr lang="en-US" sz="1900" b="1" dirty="0"/>
              <a:t>Measurements are evenly distributed on operators</a:t>
            </a:r>
          </a:p>
          <a:p>
            <a:endParaRPr lang="en-US" sz="1800" b="1" dirty="0"/>
          </a:p>
        </p:txBody>
      </p:sp>
    </p:spTree>
    <p:extLst>
      <p:ext uri="{BB962C8B-B14F-4D97-AF65-F5344CB8AC3E}">
        <p14:creationId xmlns:p14="http://schemas.microsoft.com/office/powerpoint/2010/main" val="8981817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4CD14DB-BB81-479F-A1FC-1C75640E9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entury Gothic" panose="020B0502020202020204"/>
              <a:ea typeface="+mn-ea"/>
              <a:cs typeface="+mn-cs"/>
            </a:endParaRPr>
          </a:p>
        </p:txBody>
      </p:sp>
      <p:sp>
        <p:nvSpPr>
          <p:cNvPr id="10" name="Rectangle 9">
            <a:extLst>
              <a:ext uri="{FF2B5EF4-FFF2-40B4-BE49-F238E27FC236}">
                <a16:creationId xmlns:a16="http://schemas.microsoft.com/office/drawing/2014/main" id="{C943A91B-7CA7-4592-A975-73B1BF8C4C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2" name="Freeform 7">
            <a:extLst>
              <a:ext uri="{FF2B5EF4-FFF2-40B4-BE49-F238E27FC236}">
                <a16:creationId xmlns:a16="http://schemas.microsoft.com/office/drawing/2014/main" id="{EC471314-E46A-414B-8D91-74880E84F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entury Gothic" panose="020B0502020202020204"/>
              <a:ea typeface="+mn-ea"/>
              <a:cs typeface="+mn-cs"/>
            </a:endParaRPr>
          </a:p>
        </p:txBody>
      </p:sp>
      <p:sp useBgFill="1">
        <p:nvSpPr>
          <p:cNvPr id="14" name="Freeform: Shape 13">
            <a:extLst>
              <a:ext uri="{FF2B5EF4-FFF2-40B4-BE49-F238E27FC236}">
                <a16:creationId xmlns:a16="http://schemas.microsoft.com/office/drawing/2014/main" id="{6A681326-1C9D-44A3-A627-3871BDAE41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7" cy="5095933"/>
          </a:xfrm>
          <a:custGeom>
            <a:avLst/>
            <a:gdLst>
              <a:gd name="connsiteX0" fmla="*/ 0 w 12192417"/>
              <a:gd name="connsiteY0" fmla="*/ 0 h 5095933"/>
              <a:gd name="connsiteX1" fmla="*/ 71931 w 12192417"/>
              <a:gd name="connsiteY1" fmla="*/ 12261 h 5095933"/>
              <a:gd name="connsiteX2" fmla="*/ 282848 w 12192417"/>
              <a:gd name="connsiteY2" fmla="*/ 48343 h 5095933"/>
              <a:gd name="connsiteX3" fmla="*/ 436463 w 12192417"/>
              <a:gd name="connsiteY3" fmla="*/ 73565 h 5095933"/>
              <a:gd name="connsiteX4" fmla="*/ 619338 w 12192417"/>
              <a:gd name="connsiteY4" fmla="*/ 100188 h 5095933"/>
              <a:gd name="connsiteX5" fmla="*/ 836350 w 12192417"/>
              <a:gd name="connsiteY5" fmla="*/ 132066 h 5095933"/>
              <a:gd name="connsiteX6" fmla="*/ 1076527 w 12192417"/>
              <a:gd name="connsiteY6" fmla="*/ 165696 h 5095933"/>
              <a:gd name="connsiteX7" fmla="*/ 1347183 w 12192417"/>
              <a:gd name="connsiteY7" fmla="*/ 201077 h 5095933"/>
              <a:gd name="connsiteX8" fmla="*/ 1642222 w 12192417"/>
              <a:gd name="connsiteY8" fmla="*/ 238560 h 5095933"/>
              <a:gd name="connsiteX9" fmla="*/ 1962863 w 12192417"/>
              <a:gd name="connsiteY9" fmla="*/ 276043 h 5095933"/>
              <a:gd name="connsiteX10" fmla="*/ 2304231 w 12192417"/>
              <a:gd name="connsiteY10" fmla="*/ 314227 h 5095933"/>
              <a:gd name="connsiteX11" fmla="*/ 2672420 w 12192417"/>
              <a:gd name="connsiteY11" fmla="*/ 349608 h 5095933"/>
              <a:gd name="connsiteX12" fmla="*/ 3057677 w 12192417"/>
              <a:gd name="connsiteY12" fmla="*/ 383588 h 5095933"/>
              <a:gd name="connsiteX13" fmla="*/ 3464880 w 12192417"/>
              <a:gd name="connsiteY13" fmla="*/ 414415 h 5095933"/>
              <a:gd name="connsiteX14" fmla="*/ 3889151 w 12192417"/>
              <a:gd name="connsiteY14" fmla="*/ 443841 h 5095933"/>
              <a:gd name="connsiteX15" fmla="*/ 4331709 w 12192417"/>
              <a:gd name="connsiteY15" fmla="*/ 471515 h 5095933"/>
              <a:gd name="connsiteX16" fmla="*/ 4558475 w 12192417"/>
              <a:gd name="connsiteY16" fmla="*/ 481324 h 5095933"/>
              <a:gd name="connsiteX17" fmla="*/ 4790117 w 12192417"/>
              <a:gd name="connsiteY17" fmla="*/ 492183 h 5095933"/>
              <a:gd name="connsiteX18" fmla="*/ 5025417 w 12192417"/>
              <a:gd name="connsiteY18" fmla="*/ 502342 h 5095933"/>
              <a:gd name="connsiteX19" fmla="*/ 5261936 w 12192417"/>
              <a:gd name="connsiteY19" fmla="*/ 508998 h 5095933"/>
              <a:gd name="connsiteX20" fmla="*/ 5503331 w 12192417"/>
              <a:gd name="connsiteY20" fmla="*/ 514953 h 5095933"/>
              <a:gd name="connsiteX21" fmla="*/ 5747166 w 12192417"/>
              <a:gd name="connsiteY21" fmla="*/ 521259 h 5095933"/>
              <a:gd name="connsiteX22" fmla="*/ 5995876 w 12192417"/>
              <a:gd name="connsiteY22" fmla="*/ 525463 h 5095933"/>
              <a:gd name="connsiteX23" fmla="*/ 6247025 w 12192417"/>
              <a:gd name="connsiteY23" fmla="*/ 525463 h 5095933"/>
              <a:gd name="connsiteX24" fmla="*/ 6500612 w 12192417"/>
              <a:gd name="connsiteY24" fmla="*/ 527565 h 5095933"/>
              <a:gd name="connsiteX25" fmla="*/ 6756638 w 12192417"/>
              <a:gd name="connsiteY25" fmla="*/ 525463 h 5095933"/>
              <a:gd name="connsiteX26" fmla="*/ 7016321 w 12192417"/>
              <a:gd name="connsiteY26" fmla="*/ 521259 h 5095933"/>
              <a:gd name="connsiteX27" fmla="*/ 7276004 w 12192417"/>
              <a:gd name="connsiteY27" fmla="*/ 517406 h 5095933"/>
              <a:gd name="connsiteX28" fmla="*/ 7539344 w 12192417"/>
              <a:gd name="connsiteY28" fmla="*/ 508998 h 5095933"/>
              <a:gd name="connsiteX29" fmla="*/ 7805123 w 12192417"/>
              <a:gd name="connsiteY29" fmla="*/ 500241 h 5095933"/>
              <a:gd name="connsiteX30" fmla="*/ 8070902 w 12192417"/>
              <a:gd name="connsiteY30" fmla="*/ 490082 h 5095933"/>
              <a:gd name="connsiteX31" fmla="*/ 8339120 w 12192417"/>
              <a:gd name="connsiteY31" fmla="*/ 475719 h 5095933"/>
              <a:gd name="connsiteX32" fmla="*/ 8609775 w 12192417"/>
              <a:gd name="connsiteY32" fmla="*/ 458554 h 5095933"/>
              <a:gd name="connsiteX33" fmla="*/ 8881650 w 12192417"/>
              <a:gd name="connsiteY33" fmla="*/ 442089 h 5095933"/>
              <a:gd name="connsiteX34" fmla="*/ 9153525 w 12192417"/>
              <a:gd name="connsiteY34" fmla="*/ 421071 h 5095933"/>
              <a:gd name="connsiteX35" fmla="*/ 9429057 w 12192417"/>
              <a:gd name="connsiteY35" fmla="*/ 395849 h 5095933"/>
              <a:gd name="connsiteX36" fmla="*/ 9700932 w 12192417"/>
              <a:gd name="connsiteY36" fmla="*/ 370626 h 5095933"/>
              <a:gd name="connsiteX37" fmla="*/ 9977683 w 12192417"/>
              <a:gd name="connsiteY37" fmla="*/ 341551 h 5095933"/>
              <a:gd name="connsiteX38" fmla="*/ 10255654 w 12192417"/>
              <a:gd name="connsiteY38" fmla="*/ 309673 h 5095933"/>
              <a:gd name="connsiteX39" fmla="*/ 10529967 w 12192417"/>
              <a:gd name="connsiteY39" fmla="*/ 276043 h 5095933"/>
              <a:gd name="connsiteX40" fmla="*/ 10807938 w 12192417"/>
              <a:gd name="connsiteY40" fmla="*/ 236809 h 5095933"/>
              <a:gd name="connsiteX41" fmla="*/ 11084689 w 12192417"/>
              <a:gd name="connsiteY41" fmla="*/ 194772 h 5095933"/>
              <a:gd name="connsiteX42" fmla="*/ 11362660 w 12192417"/>
              <a:gd name="connsiteY42" fmla="*/ 153085 h 5095933"/>
              <a:gd name="connsiteX43" fmla="*/ 11639411 w 12192417"/>
              <a:gd name="connsiteY43" fmla="*/ 104392 h 5095933"/>
              <a:gd name="connsiteX44" fmla="*/ 11914944 w 12192417"/>
              <a:gd name="connsiteY44" fmla="*/ 54648 h 5095933"/>
              <a:gd name="connsiteX45" fmla="*/ 12191695 w 12192417"/>
              <a:gd name="connsiteY45" fmla="*/ 2452 h 5095933"/>
              <a:gd name="connsiteX46" fmla="*/ 12191695 w 12192417"/>
              <a:gd name="connsiteY46" fmla="*/ 2162231 h 5095933"/>
              <a:gd name="connsiteX47" fmla="*/ 12192417 w 12192417"/>
              <a:gd name="connsiteY47" fmla="*/ 2162231 h 5095933"/>
              <a:gd name="connsiteX48" fmla="*/ 12192417 w 12192417"/>
              <a:gd name="connsiteY48" fmla="*/ 5095933 h 5095933"/>
              <a:gd name="connsiteX49" fmla="*/ 0 w 12192417"/>
              <a:gd name="connsiteY49" fmla="*/ 5095933 h 5095933"/>
              <a:gd name="connsiteX50" fmla="*/ 0 w 12192417"/>
              <a:gd name="connsiteY50" fmla="*/ 2791958 h 5095933"/>
              <a:gd name="connsiteX51" fmla="*/ 0 w 12192417"/>
              <a:gd name="connsiteY51" fmla="*/ 2162231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417" h="5095933">
                <a:moveTo>
                  <a:pt x="0" y="0"/>
                </a:moveTo>
                <a:lnTo>
                  <a:pt x="71931" y="12261"/>
                </a:lnTo>
                <a:lnTo>
                  <a:pt x="282848" y="48343"/>
                </a:lnTo>
                <a:lnTo>
                  <a:pt x="436463" y="73565"/>
                </a:lnTo>
                <a:lnTo>
                  <a:pt x="619338" y="100188"/>
                </a:lnTo>
                <a:lnTo>
                  <a:pt x="836350" y="132066"/>
                </a:lnTo>
                <a:lnTo>
                  <a:pt x="1076527" y="165696"/>
                </a:lnTo>
                <a:lnTo>
                  <a:pt x="1347183" y="201077"/>
                </a:lnTo>
                <a:lnTo>
                  <a:pt x="1642222" y="238560"/>
                </a:lnTo>
                <a:lnTo>
                  <a:pt x="1962863" y="276043"/>
                </a:lnTo>
                <a:lnTo>
                  <a:pt x="2304231" y="314227"/>
                </a:lnTo>
                <a:lnTo>
                  <a:pt x="2672420" y="349608"/>
                </a:lnTo>
                <a:lnTo>
                  <a:pt x="3057677" y="383588"/>
                </a:lnTo>
                <a:lnTo>
                  <a:pt x="3464880" y="414415"/>
                </a:lnTo>
                <a:lnTo>
                  <a:pt x="3889151" y="443841"/>
                </a:lnTo>
                <a:lnTo>
                  <a:pt x="4331709" y="471515"/>
                </a:lnTo>
                <a:lnTo>
                  <a:pt x="4558475" y="481324"/>
                </a:lnTo>
                <a:lnTo>
                  <a:pt x="4790117" y="492183"/>
                </a:lnTo>
                <a:lnTo>
                  <a:pt x="5025417" y="502342"/>
                </a:lnTo>
                <a:lnTo>
                  <a:pt x="5261936" y="508998"/>
                </a:lnTo>
                <a:lnTo>
                  <a:pt x="5503331" y="514953"/>
                </a:lnTo>
                <a:lnTo>
                  <a:pt x="5747166" y="521259"/>
                </a:lnTo>
                <a:lnTo>
                  <a:pt x="5995876" y="525463"/>
                </a:lnTo>
                <a:lnTo>
                  <a:pt x="6247025" y="525463"/>
                </a:lnTo>
                <a:lnTo>
                  <a:pt x="6500612" y="527565"/>
                </a:lnTo>
                <a:lnTo>
                  <a:pt x="6756638" y="525463"/>
                </a:lnTo>
                <a:lnTo>
                  <a:pt x="7016321" y="521259"/>
                </a:lnTo>
                <a:lnTo>
                  <a:pt x="7276004" y="517406"/>
                </a:lnTo>
                <a:lnTo>
                  <a:pt x="7539344" y="508998"/>
                </a:lnTo>
                <a:lnTo>
                  <a:pt x="7805123" y="500241"/>
                </a:lnTo>
                <a:lnTo>
                  <a:pt x="8070902" y="490082"/>
                </a:lnTo>
                <a:lnTo>
                  <a:pt x="8339120" y="475719"/>
                </a:lnTo>
                <a:lnTo>
                  <a:pt x="8609775" y="458554"/>
                </a:lnTo>
                <a:lnTo>
                  <a:pt x="8881650" y="442089"/>
                </a:lnTo>
                <a:lnTo>
                  <a:pt x="9153525" y="421071"/>
                </a:lnTo>
                <a:lnTo>
                  <a:pt x="9429057" y="395849"/>
                </a:lnTo>
                <a:lnTo>
                  <a:pt x="9700932" y="370626"/>
                </a:lnTo>
                <a:lnTo>
                  <a:pt x="9977683" y="341551"/>
                </a:lnTo>
                <a:lnTo>
                  <a:pt x="10255654" y="309673"/>
                </a:lnTo>
                <a:lnTo>
                  <a:pt x="10529967" y="276043"/>
                </a:lnTo>
                <a:lnTo>
                  <a:pt x="10807938" y="236809"/>
                </a:lnTo>
                <a:lnTo>
                  <a:pt x="11084689" y="194772"/>
                </a:lnTo>
                <a:lnTo>
                  <a:pt x="11362660" y="153085"/>
                </a:lnTo>
                <a:lnTo>
                  <a:pt x="11639411" y="104392"/>
                </a:lnTo>
                <a:lnTo>
                  <a:pt x="11914944" y="54648"/>
                </a:lnTo>
                <a:lnTo>
                  <a:pt x="12191695" y="2452"/>
                </a:lnTo>
                <a:lnTo>
                  <a:pt x="12191695" y="2162231"/>
                </a:lnTo>
                <a:lnTo>
                  <a:pt x="12192417" y="2162231"/>
                </a:lnTo>
                <a:lnTo>
                  <a:pt x="12192417" y="5095933"/>
                </a:lnTo>
                <a:lnTo>
                  <a:pt x="0" y="5095933"/>
                </a:lnTo>
                <a:lnTo>
                  <a:pt x="0" y="2791958"/>
                </a:lnTo>
                <a:lnTo>
                  <a:pt x="0" y="2162231"/>
                </a:lnTo>
                <a:close/>
              </a:path>
            </a:pathLst>
          </a:custGeom>
          <a:ln>
            <a:noFill/>
          </a:ln>
        </p:spPr>
        <p:txBody>
          <a:bodyPr/>
          <a:lstStyle/>
          <a:p>
            <a:endParaRPr lang="en-US"/>
          </a:p>
        </p:txBody>
      </p:sp>
      <p:sp>
        <p:nvSpPr>
          <p:cNvPr id="2" name="Title 1">
            <a:extLst>
              <a:ext uri="{FF2B5EF4-FFF2-40B4-BE49-F238E27FC236}">
                <a16:creationId xmlns:a16="http://schemas.microsoft.com/office/drawing/2014/main" id="{A0ABC374-7070-A86A-3CDC-7FE2FC33BDF3}"/>
              </a:ext>
            </a:extLst>
          </p:cNvPr>
          <p:cNvSpPr>
            <a:spLocks noGrp="1"/>
          </p:cNvSpPr>
          <p:nvPr>
            <p:ph type="title"/>
          </p:nvPr>
        </p:nvSpPr>
        <p:spPr>
          <a:xfrm>
            <a:off x="911558" y="100181"/>
            <a:ext cx="8947522" cy="1400530"/>
          </a:xfrm>
        </p:spPr>
        <p:txBody>
          <a:bodyPr anchor="ctr">
            <a:normAutofit/>
          </a:bodyPr>
          <a:lstStyle/>
          <a:p>
            <a:r>
              <a:rPr lang="en-US" b="1" dirty="0">
                <a:solidFill>
                  <a:schemeClr val="bg1"/>
                </a:solidFill>
              </a:rPr>
              <a:t>7. What Are the Performance Disparities?</a:t>
            </a:r>
          </a:p>
        </p:txBody>
      </p:sp>
      <p:sp>
        <p:nvSpPr>
          <p:cNvPr id="7" name="TextBox 6">
            <a:extLst>
              <a:ext uri="{FF2B5EF4-FFF2-40B4-BE49-F238E27FC236}">
                <a16:creationId xmlns:a16="http://schemas.microsoft.com/office/drawing/2014/main" id="{D8180AEE-1025-01AB-CAB9-DDF3C4C9BB19}"/>
              </a:ext>
            </a:extLst>
          </p:cNvPr>
          <p:cNvSpPr txBox="1"/>
          <p:nvPr/>
        </p:nvSpPr>
        <p:spPr>
          <a:xfrm>
            <a:off x="482649" y="2520342"/>
            <a:ext cx="2994731" cy="369332"/>
          </a:xfrm>
          <a:prstGeom prst="rect">
            <a:avLst/>
          </a:prstGeom>
          <a:noFill/>
        </p:spPr>
        <p:txBody>
          <a:bodyPr wrap="none" rtlCol="0">
            <a:spAutoFit/>
          </a:bodyPr>
          <a:lstStyle/>
          <a:p>
            <a:r>
              <a:rPr lang="en-US" b="1" dirty="0"/>
              <a:t>01 — Operator disparities</a:t>
            </a:r>
          </a:p>
        </p:txBody>
      </p:sp>
      <p:sp>
        <p:nvSpPr>
          <p:cNvPr id="15" name="TextBox 14">
            <a:extLst>
              <a:ext uri="{FF2B5EF4-FFF2-40B4-BE49-F238E27FC236}">
                <a16:creationId xmlns:a16="http://schemas.microsoft.com/office/drawing/2014/main" id="{0F5D5AAA-7B28-58B2-7A85-1E8200E7B4B5}"/>
              </a:ext>
            </a:extLst>
          </p:cNvPr>
          <p:cNvSpPr txBox="1"/>
          <p:nvPr/>
        </p:nvSpPr>
        <p:spPr>
          <a:xfrm>
            <a:off x="4350988" y="2543287"/>
            <a:ext cx="2986715" cy="369332"/>
          </a:xfrm>
          <a:prstGeom prst="rect">
            <a:avLst/>
          </a:prstGeom>
          <a:noFill/>
        </p:spPr>
        <p:txBody>
          <a:bodyPr wrap="none" rtlCol="0">
            <a:spAutoFit/>
          </a:bodyPr>
          <a:lstStyle/>
          <a:p>
            <a:r>
              <a:rPr lang="en-US" b="1" dirty="0"/>
              <a:t>02 — Territorial disparities</a:t>
            </a:r>
          </a:p>
        </p:txBody>
      </p:sp>
      <p:sp>
        <p:nvSpPr>
          <p:cNvPr id="19" name="TextBox 18">
            <a:extLst>
              <a:ext uri="{FF2B5EF4-FFF2-40B4-BE49-F238E27FC236}">
                <a16:creationId xmlns:a16="http://schemas.microsoft.com/office/drawing/2014/main" id="{C2DB6F17-2D42-35FE-88A4-F290F2FC4403}"/>
              </a:ext>
            </a:extLst>
          </p:cNvPr>
          <p:cNvSpPr txBox="1"/>
          <p:nvPr/>
        </p:nvSpPr>
        <p:spPr>
          <a:xfrm>
            <a:off x="7812687" y="2520342"/>
            <a:ext cx="4092787" cy="369332"/>
          </a:xfrm>
          <a:prstGeom prst="rect">
            <a:avLst/>
          </a:prstGeom>
          <a:noFill/>
        </p:spPr>
        <p:txBody>
          <a:bodyPr wrap="none" rtlCol="0">
            <a:spAutoFit/>
          </a:bodyPr>
          <a:lstStyle/>
          <a:p>
            <a:r>
              <a:rPr lang="en-US" b="1" dirty="0"/>
              <a:t>03 — Radio environment disparities</a:t>
            </a:r>
          </a:p>
        </p:txBody>
      </p:sp>
      <p:sp>
        <p:nvSpPr>
          <p:cNvPr id="23" name="Rectangle: Rounded Corners 22">
            <a:extLst>
              <a:ext uri="{FF2B5EF4-FFF2-40B4-BE49-F238E27FC236}">
                <a16:creationId xmlns:a16="http://schemas.microsoft.com/office/drawing/2014/main" id="{C4494016-2B4C-35D8-0C00-7CCD00788671}"/>
              </a:ext>
            </a:extLst>
          </p:cNvPr>
          <p:cNvSpPr/>
          <p:nvPr/>
        </p:nvSpPr>
        <p:spPr>
          <a:xfrm>
            <a:off x="244733" y="2412803"/>
            <a:ext cx="3470564" cy="593929"/>
          </a:xfrm>
          <a:prstGeom prst="round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B66DF0D0-C2FF-6107-5965-9FFB4F425E95}"/>
              </a:ext>
            </a:extLst>
          </p:cNvPr>
          <p:cNvSpPr/>
          <p:nvPr/>
        </p:nvSpPr>
        <p:spPr>
          <a:xfrm>
            <a:off x="3859236" y="2389781"/>
            <a:ext cx="3816891" cy="616951"/>
          </a:xfrm>
          <a:prstGeom prst="round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Rounded Corners 26">
            <a:extLst>
              <a:ext uri="{FF2B5EF4-FFF2-40B4-BE49-F238E27FC236}">
                <a16:creationId xmlns:a16="http://schemas.microsoft.com/office/drawing/2014/main" id="{8D77F017-5145-A7A5-1B94-BBE41DD06D96}"/>
              </a:ext>
            </a:extLst>
          </p:cNvPr>
          <p:cNvSpPr/>
          <p:nvPr/>
        </p:nvSpPr>
        <p:spPr>
          <a:xfrm>
            <a:off x="7805961" y="2389228"/>
            <a:ext cx="4141305" cy="616951"/>
          </a:xfrm>
          <a:prstGeom prst="round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1" name="Picture 30">
            <a:extLst>
              <a:ext uri="{FF2B5EF4-FFF2-40B4-BE49-F238E27FC236}">
                <a16:creationId xmlns:a16="http://schemas.microsoft.com/office/drawing/2014/main" id="{3E80B74B-863A-5C28-A63D-3C8048E8EFB7}"/>
              </a:ext>
            </a:extLst>
          </p:cNvPr>
          <p:cNvPicPr>
            <a:picLocks noChangeAspect="1"/>
          </p:cNvPicPr>
          <p:nvPr/>
        </p:nvPicPr>
        <p:blipFill>
          <a:blip r:embed="rId2"/>
          <a:stretch>
            <a:fillRect/>
          </a:stretch>
        </p:blipFill>
        <p:spPr>
          <a:xfrm>
            <a:off x="7812688" y="3288145"/>
            <a:ext cx="4134578" cy="2832603"/>
          </a:xfrm>
          <a:prstGeom prst="rect">
            <a:avLst/>
          </a:prstGeom>
          <a:ln w="38100" cap="sq">
            <a:solidFill>
              <a:schemeClr val="accent4">
                <a:lumMod val="60000"/>
                <a:lumOff val="40000"/>
              </a:schemeClr>
            </a:solidFill>
            <a:prstDash val="solid"/>
            <a:miter lim="800000"/>
          </a:ln>
          <a:effectLst>
            <a:outerShdw blurRad="50800" dist="38100" dir="2700000" algn="tl" rotWithShape="0">
              <a:srgbClr val="000000">
                <a:alpha val="43000"/>
              </a:srgbClr>
            </a:outerShdw>
          </a:effectLst>
        </p:spPr>
      </p:pic>
      <p:sp>
        <p:nvSpPr>
          <p:cNvPr id="33" name="Content Placeholder 2">
            <a:extLst>
              <a:ext uri="{FF2B5EF4-FFF2-40B4-BE49-F238E27FC236}">
                <a16:creationId xmlns:a16="http://schemas.microsoft.com/office/drawing/2014/main" id="{6069A94E-5B41-D8C7-A11E-C1208F83A540}"/>
              </a:ext>
            </a:extLst>
          </p:cNvPr>
          <p:cNvSpPr txBox="1">
            <a:spLocks/>
          </p:cNvSpPr>
          <p:nvPr/>
        </p:nvSpPr>
        <p:spPr>
          <a:xfrm>
            <a:off x="1950441" y="1540185"/>
            <a:ext cx="6613829" cy="430020"/>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a:lstStyle>
          <a:p>
            <a:r>
              <a:rPr lang="en-US" sz="1800" b="1" dirty="0">
                <a:solidFill>
                  <a:schemeClr val="bg1"/>
                </a:solidFill>
              </a:rPr>
              <a:t>Where do we observe differences in 5G performance? </a:t>
            </a:r>
          </a:p>
          <a:p>
            <a:endParaRPr lang="en-US" sz="1800" b="1" dirty="0">
              <a:solidFill>
                <a:schemeClr val="bg1"/>
              </a:solidFill>
            </a:endParaRPr>
          </a:p>
        </p:txBody>
      </p:sp>
      <p:sp>
        <p:nvSpPr>
          <p:cNvPr id="36" name="Content Placeholder 2">
            <a:extLst>
              <a:ext uri="{FF2B5EF4-FFF2-40B4-BE49-F238E27FC236}">
                <a16:creationId xmlns:a16="http://schemas.microsoft.com/office/drawing/2014/main" id="{8001A66E-3B88-8359-60CB-86C129CFB03E}"/>
              </a:ext>
            </a:extLst>
          </p:cNvPr>
          <p:cNvSpPr txBox="1">
            <a:spLocks/>
          </p:cNvSpPr>
          <p:nvPr/>
        </p:nvSpPr>
        <p:spPr>
          <a:xfrm>
            <a:off x="581892" y="6190272"/>
            <a:ext cx="11242964" cy="430020"/>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a:lstStyle>
          <a:p>
            <a:r>
              <a:rPr lang="en-US" sz="1800" b="1" dirty="0"/>
              <a:t>KEY OBSERVATION: </a:t>
            </a:r>
            <a:r>
              <a:rPr lang="en-US" sz="1800" dirty="0"/>
              <a:t>5G performance differs both between operators and  across territories.  Download speed is used as the main KPI for the next steps (explanatory analysis.)</a:t>
            </a:r>
          </a:p>
        </p:txBody>
      </p:sp>
      <p:pic>
        <p:nvPicPr>
          <p:cNvPr id="38" name="Picture 37">
            <a:extLst>
              <a:ext uri="{FF2B5EF4-FFF2-40B4-BE49-F238E27FC236}">
                <a16:creationId xmlns:a16="http://schemas.microsoft.com/office/drawing/2014/main" id="{1737D40D-01C3-0FF7-7829-4546FD40E863}"/>
              </a:ext>
            </a:extLst>
          </p:cNvPr>
          <p:cNvPicPr>
            <a:picLocks noChangeAspect="1"/>
          </p:cNvPicPr>
          <p:nvPr/>
        </p:nvPicPr>
        <p:blipFill>
          <a:blip r:embed="rId3"/>
          <a:stretch>
            <a:fillRect/>
          </a:stretch>
        </p:blipFill>
        <p:spPr>
          <a:xfrm>
            <a:off x="244734" y="3288145"/>
            <a:ext cx="3470564" cy="2816859"/>
          </a:xfrm>
          <a:prstGeom prst="rect">
            <a:avLst/>
          </a:prstGeom>
          <a:ln w="38100" cap="sq">
            <a:solidFill>
              <a:schemeClr val="tx2">
                <a:lumMod val="40000"/>
                <a:lumOff val="60000"/>
              </a:schemeClr>
            </a:solidFill>
            <a:prstDash val="solid"/>
            <a:miter lim="800000"/>
          </a:ln>
          <a:effectLst>
            <a:outerShdw blurRad="50800" dist="38100" dir="2700000" algn="tl" rotWithShape="0">
              <a:srgbClr val="000000">
                <a:alpha val="43000"/>
              </a:srgbClr>
            </a:outerShdw>
          </a:effectLst>
        </p:spPr>
      </p:pic>
      <p:pic>
        <p:nvPicPr>
          <p:cNvPr id="44" name="Picture 43">
            <a:extLst>
              <a:ext uri="{FF2B5EF4-FFF2-40B4-BE49-F238E27FC236}">
                <a16:creationId xmlns:a16="http://schemas.microsoft.com/office/drawing/2014/main" id="{7FB0C0C6-26F6-B86A-66A7-4DCD81EE661D}"/>
              </a:ext>
            </a:extLst>
          </p:cNvPr>
          <p:cNvPicPr>
            <a:picLocks noChangeAspect="1"/>
          </p:cNvPicPr>
          <p:nvPr/>
        </p:nvPicPr>
        <p:blipFill>
          <a:blip r:embed="rId4"/>
          <a:stretch>
            <a:fillRect/>
          </a:stretch>
        </p:blipFill>
        <p:spPr>
          <a:xfrm>
            <a:off x="3871646" y="3267363"/>
            <a:ext cx="3761688" cy="2848216"/>
          </a:xfrm>
          <a:prstGeom prst="rect">
            <a:avLst/>
          </a:prstGeom>
          <a:ln w="38100" cap="sq">
            <a:solidFill>
              <a:schemeClr val="accent4">
                <a:lumMod val="60000"/>
                <a:lumOff val="40000"/>
              </a:schemeClr>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65643185"/>
      </p:ext>
    </p:extLst>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4CD14DB-BB81-479F-A1FC-1C75640E9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entury Gothic" panose="020B0502020202020204"/>
              <a:ea typeface="+mn-ea"/>
              <a:cs typeface="+mn-cs"/>
            </a:endParaRPr>
          </a:p>
        </p:txBody>
      </p:sp>
      <p:sp>
        <p:nvSpPr>
          <p:cNvPr id="10" name="Rectangle 9">
            <a:extLst>
              <a:ext uri="{FF2B5EF4-FFF2-40B4-BE49-F238E27FC236}">
                <a16:creationId xmlns:a16="http://schemas.microsoft.com/office/drawing/2014/main" id="{C943A91B-7CA7-4592-A975-73B1BF8C4C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2" name="Freeform 7">
            <a:extLst>
              <a:ext uri="{FF2B5EF4-FFF2-40B4-BE49-F238E27FC236}">
                <a16:creationId xmlns:a16="http://schemas.microsoft.com/office/drawing/2014/main" id="{EC471314-E46A-414B-8D91-74880E84F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entury Gothic" panose="020B0502020202020204"/>
              <a:ea typeface="+mn-ea"/>
              <a:cs typeface="+mn-cs"/>
            </a:endParaRPr>
          </a:p>
        </p:txBody>
      </p:sp>
      <p:sp useBgFill="1">
        <p:nvSpPr>
          <p:cNvPr id="14" name="Freeform: Shape 13">
            <a:extLst>
              <a:ext uri="{FF2B5EF4-FFF2-40B4-BE49-F238E27FC236}">
                <a16:creationId xmlns:a16="http://schemas.microsoft.com/office/drawing/2014/main" id="{6A681326-1C9D-44A3-A627-3871BDAE41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7" cy="5095933"/>
          </a:xfrm>
          <a:custGeom>
            <a:avLst/>
            <a:gdLst>
              <a:gd name="connsiteX0" fmla="*/ 0 w 12192417"/>
              <a:gd name="connsiteY0" fmla="*/ 0 h 5095933"/>
              <a:gd name="connsiteX1" fmla="*/ 71931 w 12192417"/>
              <a:gd name="connsiteY1" fmla="*/ 12261 h 5095933"/>
              <a:gd name="connsiteX2" fmla="*/ 282848 w 12192417"/>
              <a:gd name="connsiteY2" fmla="*/ 48343 h 5095933"/>
              <a:gd name="connsiteX3" fmla="*/ 436463 w 12192417"/>
              <a:gd name="connsiteY3" fmla="*/ 73565 h 5095933"/>
              <a:gd name="connsiteX4" fmla="*/ 619338 w 12192417"/>
              <a:gd name="connsiteY4" fmla="*/ 100188 h 5095933"/>
              <a:gd name="connsiteX5" fmla="*/ 836350 w 12192417"/>
              <a:gd name="connsiteY5" fmla="*/ 132066 h 5095933"/>
              <a:gd name="connsiteX6" fmla="*/ 1076527 w 12192417"/>
              <a:gd name="connsiteY6" fmla="*/ 165696 h 5095933"/>
              <a:gd name="connsiteX7" fmla="*/ 1347183 w 12192417"/>
              <a:gd name="connsiteY7" fmla="*/ 201077 h 5095933"/>
              <a:gd name="connsiteX8" fmla="*/ 1642222 w 12192417"/>
              <a:gd name="connsiteY8" fmla="*/ 238560 h 5095933"/>
              <a:gd name="connsiteX9" fmla="*/ 1962863 w 12192417"/>
              <a:gd name="connsiteY9" fmla="*/ 276043 h 5095933"/>
              <a:gd name="connsiteX10" fmla="*/ 2304231 w 12192417"/>
              <a:gd name="connsiteY10" fmla="*/ 314227 h 5095933"/>
              <a:gd name="connsiteX11" fmla="*/ 2672420 w 12192417"/>
              <a:gd name="connsiteY11" fmla="*/ 349608 h 5095933"/>
              <a:gd name="connsiteX12" fmla="*/ 3057677 w 12192417"/>
              <a:gd name="connsiteY12" fmla="*/ 383588 h 5095933"/>
              <a:gd name="connsiteX13" fmla="*/ 3464880 w 12192417"/>
              <a:gd name="connsiteY13" fmla="*/ 414415 h 5095933"/>
              <a:gd name="connsiteX14" fmla="*/ 3889151 w 12192417"/>
              <a:gd name="connsiteY14" fmla="*/ 443841 h 5095933"/>
              <a:gd name="connsiteX15" fmla="*/ 4331709 w 12192417"/>
              <a:gd name="connsiteY15" fmla="*/ 471515 h 5095933"/>
              <a:gd name="connsiteX16" fmla="*/ 4558475 w 12192417"/>
              <a:gd name="connsiteY16" fmla="*/ 481324 h 5095933"/>
              <a:gd name="connsiteX17" fmla="*/ 4790117 w 12192417"/>
              <a:gd name="connsiteY17" fmla="*/ 492183 h 5095933"/>
              <a:gd name="connsiteX18" fmla="*/ 5025417 w 12192417"/>
              <a:gd name="connsiteY18" fmla="*/ 502342 h 5095933"/>
              <a:gd name="connsiteX19" fmla="*/ 5261936 w 12192417"/>
              <a:gd name="connsiteY19" fmla="*/ 508998 h 5095933"/>
              <a:gd name="connsiteX20" fmla="*/ 5503331 w 12192417"/>
              <a:gd name="connsiteY20" fmla="*/ 514953 h 5095933"/>
              <a:gd name="connsiteX21" fmla="*/ 5747166 w 12192417"/>
              <a:gd name="connsiteY21" fmla="*/ 521259 h 5095933"/>
              <a:gd name="connsiteX22" fmla="*/ 5995876 w 12192417"/>
              <a:gd name="connsiteY22" fmla="*/ 525463 h 5095933"/>
              <a:gd name="connsiteX23" fmla="*/ 6247025 w 12192417"/>
              <a:gd name="connsiteY23" fmla="*/ 525463 h 5095933"/>
              <a:gd name="connsiteX24" fmla="*/ 6500612 w 12192417"/>
              <a:gd name="connsiteY24" fmla="*/ 527565 h 5095933"/>
              <a:gd name="connsiteX25" fmla="*/ 6756638 w 12192417"/>
              <a:gd name="connsiteY25" fmla="*/ 525463 h 5095933"/>
              <a:gd name="connsiteX26" fmla="*/ 7016321 w 12192417"/>
              <a:gd name="connsiteY26" fmla="*/ 521259 h 5095933"/>
              <a:gd name="connsiteX27" fmla="*/ 7276004 w 12192417"/>
              <a:gd name="connsiteY27" fmla="*/ 517406 h 5095933"/>
              <a:gd name="connsiteX28" fmla="*/ 7539344 w 12192417"/>
              <a:gd name="connsiteY28" fmla="*/ 508998 h 5095933"/>
              <a:gd name="connsiteX29" fmla="*/ 7805123 w 12192417"/>
              <a:gd name="connsiteY29" fmla="*/ 500241 h 5095933"/>
              <a:gd name="connsiteX30" fmla="*/ 8070902 w 12192417"/>
              <a:gd name="connsiteY30" fmla="*/ 490082 h 5095933"/>
              <a:gd name="connsiteX31" fmla="*/ 8339120 w 12192417"/>
              <a:gd name="connsiteY31" fmla="*/ 475719 h 5095933"/>
              <a:gd name="connsiteX32" fmla="*/ 8609775 w 12192417"/>
              <a:gd name="connsiteY32" fmla="*/ 458554 h 5095933"/>
              <a:gd name="connsiteX33" fmla="*/ 8881650 w 12192417"/>
              <a:gd name="connsiteY33" fmla="*/ 442089 h 5095933"/>
              <a:gd name="connsiteX34" fmla="*/ 9153525 w 12192417"/>
              <a:gd name="connsiteY34" fmla="*/ 421071 h 5095933"/>
              <a:gd name="connsiteX35" fmla="*/ 9429057 w 12192417"/>
              <a:gd name="connsiteY35" fmla="*/ 395849 h 5095933"/>
              <a:gd name="connsiteX36" fmla="*/ 9700932 w 12192417"/>
              <a:gd name="connsiteY36" fmla="*/ 370626 h 5095933"/>
              <a:gd name="connsiteX37" fmla="*/ 9977683 w 12192417"/>
              <a:gd name="connsiteY37" fmla="*/ 341551 h 5095933"/>
              <a:gd name="connsiteX38" fmla="*/ 10255654 w 12192417"/>
              <a:gd name="connsiteY38" fmla="*/ 309673 h 5095933"/>
              <a:gd name="connsiteX39" fmla="*/ 10529967 w 12192417"/>
              <a:gd name="connsiteY39" fmla="*/ 276043 h 5095933"/>
              <a:gd name="connsiteX40" fmla="*/ 10807938 w 12192417"/>
              <a:gd name="connsiteY40" fmla="*/ 236809 h 5095933"/>
              <a:gd name="connsiteX41" fmla="*/ 11084689 w 12192417"/>
              <a:gd name="connsiteY41" fmla="*/ 194772 h 5095933"/>
              <a:gd name="connsiteX42" fmla="*/ 11362660 w 12192417"/>
              <a:gd name="connsiteY42" fmla="*/ 153085 h 5095933"/>
              <a:gd name="connsiteX43" fmla="*/ 11639411 w 12192417"/>
              <a:gd name="connsiteY43" fmla="*/ 104392 h 5095933"/>
              <a:gd name="connsiteX44" fmla="*/ 11914944 w 12192417"/>
              <a:gd name="connsiteY44" fmla="*/ 54648 h 5095933"/>
              <a:gd name="connsiteX45" fmla="*/ 12191695 w 12192417"/>
              <a:gd name="connsiteY45" fmla="*/ 2452 h 5095933"/>
              <a:gd name="connsiteX46" fmla="*/ 12191695 w 12192417"/>
              <a:gd name="connsiteY46" fmla="*/ 2162231 h 5095933"/>
              <a:gd name="connsiteX47" fmla="*/ 12192417 w 12192417"/>
              <a:gd name="connsiteY47" fmla="*/ 2162231 h 5095933"/>
              <a:gd name="connsiteX48" fmla="*/ 12192417 w 12192417"/>
              <a:gd name="connsiteY48" fmla="*/ 5095933 h 5095933"/>
              <a:gd name="connsiteX49" fmla="*/ 0 w 12192417"/>
              <a:gd name="connsiteY49" fmla="*/ 5095933 h 5095933"/>
              <a:gd name="connsiteX50" fmla="*/ 0 w 12192417"/>
              <a:gd name="connsiteY50" fmla="*/ 2791958 h 5095933"/>
              <a:gd name="connsiteX51" fmla="*/ 0 w 12192417"/>
              <a:gd name="connsiteY51" fmla="*/ 2162231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417" h="5095933">
                <a:moveTo>
                  <a:pt x="0" y="0"/>
                </a:moveTo>
                <a:lnTo>
                  <a:pt x="71931" y="12261"/>
                </a:lnTo>
                <a:lnTo>
                  <a:pt x="282848" y="48343"/>
                </a:lnTo>
                <a:lnTo>
                  <a:pt x="436463" y="73565"/>
                </a:lnTo>
                <a:lnTo>
                  <a:pt x="619338" y="100188"/>
                </a:lnTo>
                <a:lnTo>
                  <a:pt x="836350" y="132066"/>
                </a:lnTo>
                <a:lnTo>
                  <a:pt x="1076527" y="165696"/>
                </a:lnTo>
                <a:lnTo>
                  <a:pt x="1347183" y="201077"/>
                </a:lnTo>
                <a:lnTo>
                  <a:pt x="1642222" y="238560"/>
                </a:lnTo>
                <a:lnTo>
                  <a:pt x="1962863" y="276043"/>
                </a:lnTo>
                <a:lnTo>
                  <a:pt x="2304231" y="314227"/>
                </a:lnTo>
                <a:lnTo>
                  <a:pt x="2672420" y="349608"/>
                </a:lnTo>
                <a:lnTo>
                  <a:pt x="3057677" y="383588"/>
                </a:lnTo>
                <a:lnTo>
                  <a:pt x="3464880" y="414415"/>
                </a:lnTo>
                <a:lnTo>
                  <a:pt x="3889151" y="443841"/>
                </a:lnTo>
                <a:lnTo>
                  <a:pt x="4331709" y="471515"/>
                </a:lnTo>
                <a:lnTo>
                  <a:pt x="4558475" y="481324"/>
                </a:lnTo>
                <a:lnTo>
                  <a:pt x="4790117" y="492183"/>
                </a:lnTo>
                <a:lnTo>
                  <a:pt x="5025417" y="502342"/>
                </a:lnTo>
                <a:lnTo>
                  <a:pt x="5261936" y="508998"/>
                </a:lnTo>
                <a:lnTo>
                  <a:pt x="5503331" y="514953"/>
                </a:lnTo>
                <a:lnTo>
                  <a:pt x="5747166" y="521259"/>
                </a:lnTo>
                <a:lnTo>
                  <a:pt x="5995876" y="525463"/>
                </a:lnTo>
                <a:lnTo>
                  <a:pt x="6247025" y="525463"/>
                </a:lnTo>
                <a:lnTo>
                  <a:pt x="6500612" y="527565"/>
                </a:lnTo>
                <a:lnTo>
                  <a:pt x="6756638" y="525463"/>
                </a:lnTo>
                <a:lnTo>
                  <a:pt x="7016321" y="521259"/>
                </a:lnTo>
                <a:lnTo>
                  <a:pt x="7276004" y="517406"/>
                </a:lnTo>
                <a:lnTo>
                  <a:pt x="7539344" y="508998"/>
                </a:lnTo>
                <a:lnTo>
                  <a:pt x="7805123" y="500241"/>
                </a:lnTo>
                <a:lnTo>
                  <a:pt x="8070902" y="490082"/>
                </a:lnTo>
                <a:lnTo>
                  <a:pt x="8339120" y="475719"/>
                </a:lnTo>
                <a:lnTo>
                  <a:pt x="8609775" y="458554"/>
                </a:lnTo>
                <a:lnTo>
                  <a:pt x="8881650" y="442089"/>
                </a:lnTo>
                <a:lnTo>
                  <a:pt x="9153525" y="421071"/>
                </a:lnTo>
                <a:lnTo>
                  <a:pt x="9429057" y="395849"/>
                </a:lnTo>
                <a:lnTo>
                  <a:pt x="9700932" y="370626"/>
                </a:lnTo>
                <a:lnTo>
                  <a:pt x="9977683" y="341551"/>
                </a:lnTo>
                <a:lnTo>
                  <a:pt x="10255654" y="309673"/>
                </a:lnTo>
                <a:lnTo>
                  <a:pt x="10529967" y="276043"/>
                </a:lnTo>
                <a:lnTo>
                  <a:pt x="10807938" y="236809"/>
                </a:lnTo>
                <a:lnTo>
                  <a:pt x="11084689" y="194772"/>
                </a:lnTo>
                <a:lnTo>
                  <a:pt x="11362660" y="153085"/>
                </a:lnTo>
                <a:lnTo>
                  <a:pt x="11639411" y="104392"/>
                </a:lnTo>
                <a:lnTo>
                  <a:pt x="11914944" y="54648"/>
                </a:lnTo>
                <a:lnTo>
                  <a:pt x="12191695" y="2452"/>
                </a:lnTo>
                <a:lnTo>
                  <a:pt x="12191695" y="2162231"/>
                </a:lnTo>
                <a:lnTo>
                  <a:pt x="12192417" y="2162231"/>
                </a:lnTo>
                <a:lnTo>
                  <a:pt x="12192417" y="5095933"/>
                </a:lnTo>
                <a:lnTo>
                  <a:pt x="0" y="5095933"/>
                </a:lnTo>
                <a:lnTo>
                  <a:pt x="0" y="2791958"/>
                </a:lnTo>
                <a:lnTo>
                  <a:pt x="0" y="2162231"/>
                </a:lnTo>
                <a:close/>
              </a:path>
            </a:pathLst>
          </a:custGeom>
          <a:ln>
            <a:noFill/>
          </a:ln>
        </p:spPr>
        <p:txBody>
          <a:bodyPr/>
          <a:lstStyle/>
          <a:p>
            <a:endParaRPr lang="en-US"/>
          </a:p>
        </p:txBody>
      </p:sp>
      <p:sp>
        <p:nvSpPr>
          <p:cNvPr id="2" name="Title 1">
            <a:extLst>
              <a:ext uri="{FF2B5EF4-FFF2-40B4-BE49-F238E27FC236}">
                <a16:creationId xmlns:a16="http://schemas.microsoft.com/office/drawing/2014/main" id="{D684B7CD-AE54-92E9-2C16-DABD8D9CD661}"/>
              </a:ext>
            </a:extLst>
          </p:cNvPr>
          <p:cNvSpPr>
            <a:spLocks noGrp="1"/>
          </p:cNvSpPr>
          <p:nvPr>
            <p:ph type="title"/>
          </p:nvPr>
        </p:nvSpPr>
        <p:spPr>
          <a:xfrm>
            <a:off x="970619" y="3171309"/>
            <a:ext cx="9810093" cy="1400530"/>
          </a:xfrm>
        </p:spPr>
        <p:txBody>
          <a:bodyPr anchor="ctr">
            <a:normAutofit fontScale="90000"/>
          </a:bodyPr>
          <a:lstStyle/>
          <a:p>
            <a:r>
              <a:rPr lang="en-US" b="1" dirty="0"/>
              <a:t>“Do these observed differences between operators/territories hold statistically?”</a:t>
            </a:r>
            <a:endParaRPr lang="en-US" b="1" dirty="0">
              <a:solidFill>
                <a:srgbClr val="FFFFFF"/>
              </a:solidFill>
            </a:endParaRPr>
          </a:p>
        </p:txBody>
      </p:sp>
    </p:spTree>
    <p:extLst>
      <p:ext uri="{BB962C8B-B14F-4D97-AF65-F5344CB8AC3E}">
        <p14:creationId xmlns:p14="http://schemas.microsoft.com/office/powerpoint/2010/main" val="1465263182"/>
      </p:ext>
    </p:extLst>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E76C1-3D4A-93FB-BC94-43F7FD3C18B3}"/>
              </a:ext>
            </a:extLst>
          </p:cNvPr>
          <p:cNvSpPr>
            <a:spLocks noGrp="1"/>
          </p:cNvSpPr>
          <p:nvPr>
            <p:ph type="title"/>
          </p:nvPr>
        </p:nvSpPr>
        <p:spPr/>
        <p:txBody>
          <a:bodyPr/>
          <a:lstStyle/>
          <a:p>
            <a:r>
              <a:rPr lang="en-US" b="1" dirty="0"/>
              <a:t>8. Statistical Evidence: Do the Differences Hold?</a:t>
            </a:r>
          </a:p>
        </p:txBody>
      </p:sp>
      <p:sp>
        <p:nvSpPr>
          <p:cNvPr id="3" name="Content Placeholder 2">
            <a:extLst>
              <a:ext uri="{FF2B5EF4-FFF2-40B4-BE49-F238E27FC236}">
                <a16:creationId xmlns:a16="http://schemas.microsoft.com/office/drawing/2014/main" id="{B193D6B2-1390-EF2C-6390-4CE32DDBF956}"/>
              </a:ext>
            </a:extLst>
          </p:cNvPr>
          <p:cNvSpPr>
            <a:spLocks noGrp="1"/>
          </p:cNvSpPr>
          <p:nvPr>
            <p:ph idx="1"/>
          </p:nvPr>
        </p:nvSpPr>
        <p:spPr>
          <a:xfrm>
            <a:off x="1103312" y="2052918"/>
            <a:ext cx="9596772" cy="4195481"/>
          </a:xfrm>
        </p:spPr>
        <p:txBody>
          <a:bodyPr>
            <a:normAutofit lnSpcReduction="10000"/>
          </a:bodyPr>
          <a:lstStyle/>
          <a:p>
            <a:r>
              <a:rPr lang="en-US" b="1" dirty="0"/>
              <a:t>1. Hypotheses</a:t>
            </a:r>
          </a:p>
          <a:p>
            <a:pPr lvl="1"/>
            <a:r>
              <a:rPr lang="en-US" b="1" dirty="0"/>
              <a:t>H₀ — Null hypothesis: </a:t>
            </a:r>
            <a:r>
              <a:rPr lang="en-US" dirty="0"/>
              <a:t>Mean download speed is equal across the four operators.</a:t>
            </a:r>
          </a:p>
          <a:p>
            <a:pPr lvl="1"/>
            <a:r>
              <a:rPr lang="en-US" b="1" dirty="0"/>
              <a:t>H₁ — Alternative hypothesis  </a:t>
            </a:r>
            <a:r>
              <a:rPr lang="en-US" dirty="0"/>
              <a:t>At least one operator has a different mean download speed.</a:t>
            </a:r>
          </a:p>
          <a:p>
            <a:r>
              <a:rPr lang="en-US" b="1" dirty="0"/>
              <a:t>2. Main result</a:t>
            </a:r>
          </a:p>
          <a:p>
            <a:pPr lvl="1"/>
            <a:r>
              <a:rPr lang="en-US" b="1" dirty="0"/>
              <a:t>Test: One-way ANOVA: comparison between more than 3 means, independent observations</a:t>
            </a:r>
            <a:endParaRPr lang="en-US" dirty="0"/>
          </a:p>
          <a:p>
            <a:pPr lvl="1"/>
            <a:r>
              <a:rPr lang="en-US" b="1" dirty="0"/>
              <a:t>F = 32.44</a:t>
            </a:r>
            <a:br>
              <a:rPr lang="en-US" dirty="0"/>
            </a:br>
            <a:r>
              <a:rPr lang="en-US" b="1" dirty="0"/>
              <a:t>p &lt; 0.001</a:t>
            </a:r>
          </a:p>
          <a:p>
            <a:pPr marL="0" indent="0" latinLnBrk="1">
              <a:buNone/>
            </a:pPr>
            <a:r>
              <a:rPr lang="en-US" b="1" dirty="0">
                <a:sym typeface="Wingdings" panose="05000000000000000000" pitchFamily="2" charset="2"/>
              </a:rPr>
              <a:t></a:t>
            </a:r>
            <a:r>
              <a:rPr lang="en-US" dirty="0"/>
              <a:t>p &lt; 0.05 → </a:t>
            </a:r>
            <a:r>
              <a:rPr lang="en-US" b="1" dirty="0">
                <a:highlight>
                  <a:srgbClr val="808000"/>
                </a:highlight>
              </a:rPr>
              <a:t>Reject H₀: </a:t>
            </a:r>
            <a:r>
              <a:rPr lang="en-US" dirty="0"/>
              <a:t>There is statistically significant evidence that the four operators do not all have the same mean download speed</a:t>
            </a:r>
          </a:p>
          <a:p>
            <a:endParaRPr lang="en-US" dirty="0"/>
          </a:p>
        </p:txBody>
      </p:sp>
    </p:spTree>
    <p:extLst>
      <p:ext uri="{BB962C8B-B14F-4D97-AF65-F5344CB8AC3E}">
        <p14:creationId xmlns:p14="http://schemas.microsoft.com/office/powerpoint/2010/main" val="22187418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4CD14DB-BB81-479F-A1FC-1C75640E9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entury Gothic" panose="020B0502020202020204"/>
              <a:ea typeface="+mn-ea"/>
              <a:cs typeface="+mn-cs"/>
            </a:endParaRPr>
          </a:p>
        </p:txBody>
      </p:sp>
      <p:sp>
        <p:nvSpPr>
          <p:cNvPr id="10" name="Rectangle 9">
            <a:extLst>
              <a:ext uri="{FF2B5EF4-FFF2-40B4-BE49-F238E27FC236}">
                <a16:creationId xmlns:a16="http://schemas.microsoft.com/office/drawing/2014/main" id="{C943A91B-7CA7-4592-A975-73B1BF8C4C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2" name="Freeform 7">
            <a:extLst>
              <a:ext uri="{FF2B5EF4-FFF2-40B4-BE49-F238E27FC236}">
                <a16:creationId xmlns:a16="http://schemas.microsoft.com/office/drawing/2014/main" id="{EC471314-E46A-414B-8D91-74880E84F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entury Gothic" panose="020B0502020202020204"/>
              <a:ea typeface="+mn-ea"/>
              <a:cs typeface="+mn-cs"/>
            </a:endParaRPr>
          </a:p>
        </p:txBody>
      </p:sp>
      <p:sp useBgFill="1">
        <p:nvSpPr>
          <p:cNvPr id="14" name="Freeform: Shape 13">
            <a:extLst>
              <a:ext uri="{FF2B5EF4-FFF2-40B4-BE49-F238E27FC236}">
                <a16:creationId xmlns:a16="http://schemas.microsoft.com/office/drawing/2014/main" id="{6A681326-1C9D-44A3-A627-3871BDAE41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7" cy="5095933"/>
          </a:xfrm>
          <a:custGeom>
            <a:avLst/>
            <a:gdLst>
              <a:gd name="connsiteX0" fmla="*/ 0 w 12192417"/>
              <a:gd name="connsiteY0" fmla="*/ 0 h 5095933"/>
              <a:gd name="connsiteX1" fmla="*/ 71931 w 12192417"/>
              <a:gd name="connsiteY1" fmla="*/ 12261 h 5095933"/>
              <a:gd name="connsiteX2" fmla="*/ 282848 w 12192417"/>
              <a:gd name="connsiteY2" fmla="*/ 48343 h 5095933"/>
              <a:gd name="connsiteX3" fmla="*/ 436463 w 12192417"/>
              <a:gd name="connsiteY3" fmla="*/ 73565 h 5095933"/>
              <a:gd name="connsiteX4" fmla="*/ 619338 w 12192417"/>
              <a:gd name="connsiteY4" fmla="*/ 100188 h 5095933"/>
              <a:gd name="connsiteX5" fmla="*/ 836350 w 12192417"/>
              <a:gd name="connsiteY5" fmla="*/ 132066 h 5095933"/>
              <a:gd name="connsiteX6" fmla="*/ 1076527 w 12192417"/>
              <a:gd name="connsiteY6" fmla="*/ 165696 h 5095933"/>
              <a:gd name="connsiteX7" fmla="*/ 1347183 w 12192417"/>
              <a:gd name="connsiteY7" fmla="*/ 201077 h 5095933"/>
              <a:gd name="connsiteX8" fmla="*/ 1642222 w 12192417"/>
              <a:gd name="connsiteY8" fmla="*/ 238560 h 5095933"/>
              <a:gd name="connsiteX9" fmla="*/ 1962863 w 12192417"/>
              <a:gd name="connsiteY9" fmla="*/ 276043 h 5095933"/>
              <a:gd name="connsiteX10" fmla="*/ 2304231 w 12192417"/>
              <a:gd name="connsiteY10" fmla="*/ 314227 h 5095933"/>
              <a:gd name="connsiteX11" fmla="*/ 2672420 w 12192417"/>
              <a:gd name="connsiteY11" fmla="*/ 349608 h 5095933"/>
              <a:gd name="connsiteX12" fmla="*/ 3057677 w 12192417"/>
              <a:gd name="connsiteY12" fmla="*/ 383588 h 5095933"/>
              <a:gd name="connsiteX13" fmla="*/ 3464880 w 12192417"/>
              <a:gd name="connsiteY13" fmla="*/ 414415 h 5095933"/>
              <a:gd name="connsiteX14" fmla="*/ 3889151 w 12192417"/>
              <a:gd name="connsiteY14" fmla="*/ 443841 h 5095933"/>
              <a:gd name="connsiteX15" fmla="*/ 4331709 w 12192417"/>
              <a:gd name="connsiteY15" fmla="*/ 471515 h 5095933"/>
              <a:gd name="connsiteX16" fmla="*/ 4558475 w 12192417"/>
              <a:gd name="connsiteY16" fmla="*/ 481324 h 5095933"/>
              <a:gd name="connsiteX17" fmla="*/ 4790117 w 12192417"/>
              <a:gd name="connsiteY17" fmla="*/ 492183 h 5095933"/>
              <a:gd name="connsiteX18" fmla="*/ 5025417 w 12192417"/>
              <a:gd name="connsiteY18" fmla="*/ 502342 h 5095933"/>
              <a:gd name="connsiteX19" fmla="*/ 5261936 w 12192417"/>
              <a:gd name="connsiteY19" fmla="*/ 508998 h 5095933"/>
              <a:gd name="connsiteX20" fmla="*/ 5503331 w 12192417"/>
              <a:gd name="connsiteY20" fmla="*/ 514953 h 5095933"/>
              <a:gd name="connsiteX21" fmla="*/ 5747166 w 12192417"/>
              <a:gd name="connsiteY21" fmla="*/ 521259 h 5095933"/>
              <a:gd name="connsiteX22" fmla="*/ 5995876 w 12192417"/>
              <a:gd name="connsiteY22" fmla="*/ 525463 h 5095933"/>
              <a:gd name="connsiteX23" fmla="*/ 6247025 w 12192417"/>
              <a:gd name="connsiteY23" fmla="*/ 525463 h 5095933"/>
              <a:gd name="connsiteX24" fmla="*/ 6500612 w 12192417"/>
              <a:gd name="connsiteY24" fmla="*/ 527565 h 5095933"/>
              <a:gd name="connsiteX25" fmla="*/ 6756638 w 12192417"/>
              <a:gd name="connsiteY25" fmla="*/ 525463 h 5095933"/>
              <a:gd name="connsiteX26" fmla="*/ 7016321 w 12192417"/>
              <a:gd name="connsiteY26" fmla="*/ 521259 h 5095933"/>
              <a:gd name="connsiteX27" fmla="*/ 7276004 w 12192417"/>
              <a:gd name="connsiteY27" fmla="*/ 517406 h 5095933"/>
              <a:gd name="connsiteX28" fmla="*/ 7539344 w 12192417"/>
              <a:gd name="connsiteY28" fmla="*/ 508998 h 5095933"/>
              <a:gd name="connsiteX29" fmla="*/ 7805123 w 12192417"/>
              <a:gd name="connsiteY29" fmla="*/ 500241 h 5095933"/>
              <a:gd name="connsiteX30" fmla="*/ 8070902 w 12192417"/>
              <a:gd name="connsiteY30" fmla="*/ 490082 h 5095933"/>
              <a:gd name="connsiteX31" fmla="*/ 8339120 w 12192417"/>
              <a:gd name="connsiteY31" fmla="*/ 475719 h 5095933"/>
              <a:gd name="connsiteX32" fmla="*/ 8609775 w 12192417"/>
              <a:gd name="connsiteY32" fmla="*/ 458554 h 5095933"/>
              <a:gd name="connsiteX33" fmla="*/ 8881650 w 12192417"/>
              <a:gd name="connsiteY33" fmla="*/ 442089 h 5095933"/>
              <a:gd name="connsiteX34" fmla="*/ 9153525 w 12192417"/>
              <a:gd name="connsiteY34" fmla="*/ 421071 h 5095933"/>
              <a:gd name="connsiteX35" fmla="*/ 9429057 w 12192417"/>
              <a:gd name="connsiteY35" fmla="*/ 395849 h 5095933"/>
              <a:gd name="connsiteX36" fmla="*/ 9700932 w 12192417"/>
              <a:gd name="connsiteY36" fmla="*/ 370626 h 5095933"/>
              <a:gd name="connsiteX37" fmla="*/ 9977683 w 12192417"/>
              <a:gd name="connsiteY37" fmla="*/ 341551 h 5095933"/>
              <a:gd name="connsiteX38" fmla="*/ 10255654 w 12192417"/>
              <a:gd name="connsiteY38" fmla="*/ 309673 h 5095933"/>
              <a:gd name="connsiteX39" fmla="*/ 10529967 w 12192417"/>
              <a:gd name="connsiteY39" fmla="*/ 276043 h 5095933"/>
              <a:gd name="connsiteX40" fmla="*/ 10807938 w 12192417"/>
              <a:gd name="connsiteY40" fmla="*/ 236809 h 5095933"/>
              <a:gd name="connsiteX41" fmla="*/ 11084689 w 12192417"/>
              <a:gd name="connsiteY41" fmla="*/ 194772 h 5095933"/>
              <a:gd name="connsiteX42" fmla="*/ 11362660 w 12192417"/>
              <a:gd name="connsiteY42" fmla="*/ 153085 h 5095933"/>
              <a:gd name="connsiteX43" fmla="*/ 11639411 w 12192417"/>
              <a:gd name="connsiteY43" fmla="*/ 104392 h 5095933"/>
              <a:gd name="connsiteX44" fmla="*/ 11914944 w 12192417"/>
              <a:gd name="connsiteY44" fmla="*/ 54648 h 5095933"/>
              <a:gd name="connsiteX45" fmla="*/ 12191695 w 12192417"/>
              <a:gd name="connsiteY45" fmla="*/ 2452 h 5095933"/>
              <a:gd name="connsiteX46" fmla="*/ 12191695 w 12192417"/>
              <a:gd name="connsiteY46" fmla="*/ 2162231 h 5095933"/>
              <a:gd name="connsiteX47" fmla="*/ 12192417 w 12192417"/>
              <a:gd name="connsiteY47" fmla="*/ 2162231 h 5095933"/>
              <a:gd name="connsiteX48" fmla="*/ 12192417 w 12192417"/>
              <a:gd name="connsiteY48" fmla="*/ 5095933 h 5095933"/>
              <a:gd name="connsiteX49" fmla="*/ 0 w 12192417"/>
              <a:gd name="connsiteY49" fmla="*/ 5095933 h 5095933"/>
              <a:gd name="connsiteX50" fmla="*/ 0 w 12192417"/>
              <a:gd name="connsiteY50" fmla="*/ 2791958 h 5095933"/>
              <a:gd name="connsiteX51" fmla="*/ 0 w 12192417"/>
              <a:gd name="connsiteY51" fmla="*/ 2162231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417" h="5095933">
                <a:moveTo>
                  <a:pt x="0" y="0"/>
                </a:moveTo>
                <a:lnTo>
                  <a:pt x="71931" y="12261"/>
                </a:lnTo>
                <a:lnTo>
                  <a:pt x="282848" y="48343"/>
                </a:lnTo>
                <a:lnTo>
                  <a:pt x="436463" y="73565"/>
                </a:lnTo>
                <a:lnTo>
                  <a:pt x="619338" y="100188"/>
                </a:lnTo>
                <a:lnTo>
                  <a:pt x="836350" y="132066"/>
                </a:lnTo>
                <a:lnTo>
                  <a:pt x="1076527" y="165696"/>
                </a:lnTo>
                <a:lnTo>
                  <a:pt x="1347183" y="201077"/>
                </a:lnTo>
                <a:lnTo>
                  <a:pt x="1642222" y="238560"/>
                </a:lnTo>
                <a:lnTo>
                  <a:pt x="1962863" y="276043"/>
                </a:lnTo>
                <a:lnTo>
                  <a:pt x="2304231" y="314227"/>
                </a:lnTo>
                <a:lnTo>
                  <a:pt x="2672420" y="349608"/>
                </a:lnTo>
                <a:lnTo>
                  <a:pt x="3057677" y="383588"/>
                </a:lnTo>
                <a:lnTo>
                  <a:pt x="3464880" y="414415"/>
                </a:lnTo>
                <a:lnTo>
                  <a:pt x="3889151" y="443841"/>
                </a:lnTo>
                <a:lnTo>
                  <a:pt x="4331709" y="471515"/>
                </a:lnTo>
                <a:lnTo>
                  <a:pt x="4558475" y="481324"/>
                </a:lnTo>
                <a:lnTo>
                  <a:pt x="4790117" y="492183"/>
                </a:lnTo>
                <a:lnTo>
                  <a:pt x="5025417" y="502342"/>
                </a:lnTo>
                <a:lnTo>
                  <a:pt x="5261936" y="508998"/>
                </a:lnTo>
                <a:lnTo>
                  <a:pt x="5503331" y="514953"/>
                </a:lnTo>
                <a:lnTo>
                  <a:pt x="5747166" y="521259"/>
                </a:lnTo>
                <a:lnTo>
                  <a:pt x="5995876" y="525463"/>
                </a:lnTo>
                <a:lnTo>
                  <a:pt x="6247025" y="525463"/>
                </a:lnTo>
                <a:lnTo>
                  <a:pt x="6500612" y="527565"/>
                </a:lnTo>
                <a:lnTo>
                  <a:pt x="6756638" y="525463"/>
                </a:lnTo>
                <a:lnTo>
                  <a:pt x="7016321" y="521259"/>
                </a:lnTo>
                <a:lnTo>
                  <a:pt x="7276004" y="517406"/>
                </a:lnTo>
                <a:lnTo>
                  <a:pt x="7539344" y="508998"/>
                </a:lnTo>
                <a:lnTo>
                  <a:pt x="7805123" y="500241"/>
                </a:lnTo>
                <a:lnTo>
                  <a:pt x="8070902" y="490082"/>
                </a:lnTo>
                <a:lnTo>
                  <a:pt x="8339120" y="475719"/>
                </a:lnTo>
                <a:lnTo>
                  <a:pt x="8609775" y="458554"/>
                </a:lnTo>
                <a:lnTo>
                  <a:pt x="8881650" y="442089"/>
                </a:lnTo>
                <a:lnTo>
                  <a:pt x="9153525" y="421071"/>
                </a:lnTo>
                <a:lnTo>
                  <a:pt x="9429057" y="395849"/>
                </a:lnTo>
                <a:lnTo>
                  <a:pt x="9700932" y="370626"/>
                </a:lnTo>
                <a:lnTo>
                  <a:pt x="9977683" y="341551"/>
                </a:lnTo>
                <a:lnTo>
                  <a:pt x="10255654" y="309673"/>
                </a:lnTo>
                <a:lnTo>
                  <a:pt x="10529967" y="276043"/>
                </a:lnTo>
                <a:lnTo>
                  <a:pt x="10807938" y="236809"/>
                </a:lnTo>
                <a:lnTo>
                  <a:pt x="11084689" y="194772"/>
                </a:lnTo>
                <a:lnTo>
                  <a:pt x="11362660" y="153085"/>
                </a:lnTo>
                <a:lnTo>
                  <a:pt x="11639411" y="104392"/>
                </a:lnTo>
                <a:lnTo>
                  <a:pt x="11914944" y="54648"/>
                </a:lnTo>
                <a:lnTo>
                  <a:pt x="12191695" y="2452"/>
                </a:lnTo>
                <a:lnTo>
                  <a:pt x="12191695" y="2162231"/>
                </a:lnTo>
                <a:lnTo>
                  <a:pt x="12192417" y="2162231"/>
                </a:lnTo>
                <a:lnTo>
                  <a:pt x="12192417" y="5095933"/>
                </a:lnTo>
                <a:lnTo>
                  <a:pt x="0" y="5095933"/>
                </a:lnTo>
                <a:lnTo>
                  <a:pt x="0" y="2791958"/>
                </a:lnTo>
                <a:lnTo>
                  <a:pt x="0" y="2162231"/>
                </a:lnTo>
                <a:close/>
              </a:path>
            </a:pathLst>
          </a:custGeom>
          <a:ln>
            <a:noFill/>
          </a:ln>
        </p:spPr>
        <p:txBody>
          <a:bodyPr/>
          <a:lstStyle/>
          <a:p>
            <a:endParaRPr lang="en-US"/>
          </a:p>
        </p:txBody>
      </p:sp>
      <p:pic>
        <p:nvPicPr>
          <p:cNvPr id="15" name="Picture 14">
            <a:extLst>
              <a:ext uri="{FF2B5EF4-FFF2-40B4-BE49-F238E27FC236}">
                <a16:creationId xmlns:a16="http://schemas.microsoft.com/office/drawing/2014/main" id="{1A346DA4-93D0-52C7-03AD-9197670F1AC8}"/>
              </a:ext>
            </a:extLst>
          </p:cNvPr>
          <p:cNvPicPr>
            <a:picLocks noChangeAspect="1"/>
          </p:cNvPicPr>
          <p:nvPr/>
        </p:nvPicPr>
        <p:blipFill>
          <a:blip r:embed="rId3"/>
          <a:stretch>
            <a:fillRect/>
          </a:stretch>
        </p:blipFill>
        <p:spPr>
          <a:xfrm>
            <a:off x="146290" y="1873196"/>
            <a:ext cx="6845118" cy="2293081"/>
          </a:xfrm>
          <a:prstGeom prst="rect">
            <a:avLst/>
          </a:prstGeom>
          <a:ln w="38100" cap="sq">
            <a:solidFill>
              <a:schemeClr val="accent4">
                <a:lumMod val="60000"/>
                <a:lumOff val="40000"/>
              </a:schemeClr>
            </a:solidFill>
            <a:prstDash val="solid"/>
            <a:miter lim="800000"/>
          </a:ln>
          <a:effectLst>
            <a:outerShdw blurRad="50800" dist="38100" dir="2700000" algn="tl" rotWithShape="0">
              <a:srgbClr val="000000">
                <a:alpha val="43000"/>
              </a:srgbClr>
            </a:outerShdw>
          </a:effectLst>
        </p:spPr>
      </p:pic>
      <p:pic>
        <p:nvPicPr>
          <p:cNvPr id="27" name="Picture 26">
            <a:extLst>
              <a:ext uri="{FF2B5EF4-FFF2-40B4-BE49-F238E27FC236}">
                <a16:creationId xmlns:a16="http://schemas.microsoft.com/office/drawing/2014/main" id="{AACB85A9-BD8D-800A-EC91-78FB4FA0408E}"/>
              </a:ext>
            </a:extLst>
          </p:cNvPr>
          <p:cNvPicPr>
            <a:picLocks noChangeAspect="1"/>
          </p:cNvPicPr>
          <p:nvPr/>
        </p:nvPicPr>
        <p:blipFill>
          <a:blip r:embed="rId4"/>
          <a:stretch>
            <a:fillRect/>
          </a:stretch>
        </p:blipFill>
        <p:spPr>
          <a:xfrm>
            <a:off x="146289" y="4308578"/>
            <a:ext cx="6845118" cy="2429683"/>
          </a:xfrm>
          <a:prstGeom prst="rect">
            <a:avLst/>
          </a:prstGeom>
          <a:ln w="38100" cap="sq">
            <a:solidFill>
              <a:schemeClr val="accent4">
                <a:lumMod val="60000"/>
                <a:lumOff val="40000"/>
              </a:schemeClr>
            </a:solidFill>
            <a:prstDash val="solid"/>
            <a:miter lim="800000"/>
          </a:ln>
          <a:effectLst>
            <a:outerShdw blurRad="50800" dist="38100" dir="2700000" algn="tl" rotWithShape="0">
              <a:srgbClr val="000000">
                <a:alpha val="43000"/>
              </a:srgbClr>
            </a:outerShdw>
          </a:effectLst>
        </p:spPr>
      </p:pic>
      <p:pic>
        <p:nvPicPr>
          <p:cNvPr id="31" name="Picture 30">
            <a:extLst>
              <a:ext uri="{FF2B5EF4-FFF2-40B4-BE49-F238E27FC236}">
                <a16:creationId xmlns:a16="http://schemas.microsoft.com/office/drawing/2014/main" id="{F43DE2D4-B591-2EAB-5CAA-C8A554203715}"/>
              </a:ext>
            </a:extLst>
          </p:cNvPr>
          <p:cNvPicPr>
            <a:picLocks noChangeAspect="1"/>
          </p:cNvPicPr>
          <p:nvPr/>
        </p:nvPicPr>
        <p:blipFill>
          <a:blip r:embed="rId5"/>
          <a:stretch>
            <a:fillRect/>
          </a:stretch>
        </p:blipFill>
        <p:spPr>
          <a:xfrm>
            <a:off x="7146813" y="1873196"/>
            <a:ext cx="4898897" cy="4865065"/>
          </a:xfrm>
          <a:prstGeom prst="rect">
            <a:avLst/>
          </a:prstGeom>
          <a:ln w="38100" cap="sq">
            <a:solidFill>
              <a:schemeClr val="accent4">
                <a:lumMod val="60000"/>
                <a:lumOff val="40000"/>
              </a:schemeClr>
            </a:solidFill>
            <a:prstDash val="solid"/>
            <a:miter lim="800000"/>
          </a:ln>
          <a:effectLst>
            <a:outerShdw blurRad="50800" dist="38100" dir="2700000" algn="tl" rotWithShape="0">
              <a:srgbClr val="000000">
                <a:alpha val="43000"/>
              </a:srgbClr>
            </a:outerShdw>
          </a:effectLst>
        </p:spPr>
      </p:pic>
      <p:sp>
        <p:nvSpPr>
          <p:cNvPr id="32" name="Title 1">
            <a:extLst>
              <a:ext uri="{FF2B5EF4-FFF2-40B4-BE49-F238E27FC236}">
                <a16:creationId xmlns:a16="http://schemas.microsoft.com/office/drawing/2014/main" id="{FE9861F3-97D7-AC20-2881-74616FE10ECD}"/>
              </a:ext>
            </a:extLst>
          </p:cNvPr>
          <p:cNvSpPr>
            <a:spLocks noGrp="1"/>
          </p:cNvSpPr>
          <p:nvPr>
            <p:ph type="title"/>
          </p:nvPr>
        </p:nvSpPr>
        <p:spPr>
          <a:xfrm>
            <a:off x="562984" y="273596"/>
            <a:ext cx="10295516" cy="929273"/>
          </a:xfrm>
        </p:spPr>
        <p:txBody>
          <a:bodyPr/>
          <a:lstStyle/>
          <a:p>
            <a:r>
              <a:rPr lang="en-US" b="1" dirty="0">
                <a:solidFill>
                  <a:schemeClr val="bg1"/>
                </a:solidFill>
              </a:rPr>
              <a:t>9. What Could Explain the Differences?</a:t>
            </a:r>
          </a:p>
        </p:txBody>
      </p:sp>
      <p:sp>
        <p:nvSpPr>
          <p:cNvPr id="34" name="TextBox 33">
            <a:extLst>
              <a:ext uri="{FF2B5EF4-FFF2-40B4-BE49-F238E27FC236}">
                <a16:creationId xmlns:a16="http://schemas.microsoft.com/office/drawing/2014/main" id="{E90FB22D-0C20-FE84-5911-B4404B42173F}"/>
              </a:ext>
            </a:extLst>
          </p:cNvPr>
          <p:cNvSpPr txBox="1"/>
          <p:nvPr/>
        </p:nvSpPr>
        <p:spPr>
          <a:xfrm>
            <a:off x="1172007" y="1085263"/>
            <a:ext cx="9847985" cy="400110"/>
          </a:xfrm>
          <a:prstGeom prst="rect">
            <a:avLst/>
          </a:prstGeom>
          <a:noFill/>
        </p:spPr>
        <p:txBody>
          <a:bodyPr wrap="square">
            <a:spAutoFit/>
          </a:bodyPr>
          <a:lstStyle/>
          <a:p>
            <a:r>
              <a:rPr lang="en-US" sz="2000" dirty="0">
                <a:solidFill>
                  <a:schemeClr val="bg1"/>
                </a:solidFill>
              </a:rPr>
              <a:t>Which territorial and network factors are associated with 5G performance?</a:t>
            </a:r>
          </a:p>
        </p:txBody>
      </p:sp>
    </p:spTree>
    <p:extLst>
      <p:ext uri="{BB962C8B-B14F-4D97-AF65-F5344CB8AC3E}">
        <p14:creationId xmlns:p14="http://schemas.microsoft.com/office/powerpoint/2010/main" val="3124106493"/>
      </p:ext>
    </p:extLst>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721512-3512-1574-8E10-D21BACFB142A}"/>
              </a:ext>
            </a:extLst>
          </p:cNvPr>
          <p:cNvSpPr>
            <a:spLocks noGrp="1"/>
          </p:cNvSpPr>
          <p:nvPr>
            <p:ph type="title"/>
          </p:nvPr>
        </p:nvSpPr>
        <p:spPr>
          <a:xfrm>
            <a:off x="708456" y="290946"/>
            <a:ext cx="9404723" cy="862445"/>
          </a:xfrm>
        </p:spPr>
        <p:txBody>
          <a:bodyPr/>
          <a:lstStyle/>
          <a:p>
            <a:r>
              <a:rPr lang="fr-FR" sz="4400" b="1" dirty="0">
                <a:solidFill>
                  <a:schemeClr val="tx1"/>
                </a:solidFill>
              </a:rPr>
              <a:t>9.1. </a:t>
            </a:r>
            <a:r>
              <a:rPr lang="fr-FR" sz="4400" b="1" dirty="0" err="1">
                <a:solidFill>
                  <a:schemeClr val="tx1"/>
                </a:solidFill>
              </a:rPr>
              <a:t>Interpretation</a:t>
            </a:r>
            <a:br>
              <a:rPr lang="en-US" b="1" dirty="0">
                <a:solidFill>
                  <a:schemeClr val="tx1"/>
                </a:solidFill>
              </a:rPr>
            </a:br>
            <a:endParaRPr lang="en-US" dirty="0">
              <a:solidFill>
                <a:schemeClr val="tx1"/>
              </a:solidFill>
            </a:endParaRPr>
          </a:p>
        </p:txBody>
      </p:sp>
      <p:sp>
        <p:nvSpPr>
          <p:cNvPr id="3" name="Content Placeholder 2">
            <a:extLst>
              <a:ext uri="{FF2B5EF4-FFF2-40B4-BE49-F238E27FC236}">
                <a16:creationId xmlns:a16="http://schemas.microsoft.com/office/drawing/2014/main" id="{44BF590D-9D2C-FB01-28CF-3ED252722E8F}"/>
              </a:ext>
            </a:extLst>
          </p:cNvPr>
          <p:cNvSpPr>
            <a:spLocks noGrp="1"/>
          </p:cNvSpPr>
          <p:nvPr>
            <p:ph idx="1"/>
          </p:nvPr>
        </p:nvSpPr>
        <p:spPr>
          <a:xfrm>
            <a:off x="457200" y="1309255"/>
            <a:ext cx="11191009" cy="5443649"/>
          </a:xfrm>
        </p:spPr>
        <p:txBody>
          <a:bodyPr>
            <a:normAutofit/>
          </a:bodyPr>
          <a:lstStyle/>
          <a:p>
            <a:r>
              <a:rPr lang="en-US" sz="2400" b="1" dirty="0"/>
              <a:t>Population</a:t>
            </a:r>
            <a:endParaRPr lang="en-US" sz="2400" dirty="0"/>
          </a:p>
          <a:p>
            <a:pPr lvl="1"/>
            <a:r>
              <a:rPr lang="en-US" sz="2000" dirty="0"/>
              <a:t>Positive overall relationship with download speed</a:t>
            </a:r>
          </a:p>
          <a:p>
            <a:pPr lvl="1"/>
            <a:r>
              <a:rPr lang="en-US" sz="2000" dirty="0"/>
              <a:t>More populated regions tend to show higher measured performance</a:t>
            </a:r>
          </a:p>
          <a:p>
            <a:pPr lvl="1"/>
            <a:r>
              <a:rPr lang="en-US" sz="2000" dirty="0"/>
              <a:t>Yet operators remain clearly separated at similar population levels</a:t>
            </a:r>
          </a:p>
          <a:p>
            <a:r>
              <a:rPr lang="en-US" sz="2400" b="1" dirty="0"/>
              <a:t>📡 5G Deployment</a:t>
            </a:r>
            <a:endParaRPr lang="en-US" sz="2400" dirty="0"/>
          </a:p>
          <a:p>
            <a:pPr lvl="1"/>
            <a:r>
              <a:rPr lang="en-US" sz="2000" dirty="0"/>
              <a:t>Positive relationship between the number of pure 5G sites and download performance</a:t>
            </a:r>
          </a:p>
          <a:p>
            <a:pPr lvl="1"/>
            <a:r>
              <a:rPr lang="en-US" sz="2000" dirty="0"/>
              <a:t>Network infrastructure therefore appears to be an important factor</a:t>
            </a:r>
          </a:p>
          <a:p>
            <a:r>
              <a:rPr lang="en-US" sz="2400" b="1" dirty="0"/>
              <a:t>📶 Radio Conditions</a:t>
            </a:r>
            <a:endParaRPr lang="en-US" sz="2400" dirty="0"/>
          </a:p>
          <a:p>
            <a:pPr lvl="1"/>
            <a:r>
              <a:rPr lang="en-US" sz="2000" dirty="0"/>
              <a:t>Better RSRP is associated with higher download performance</a:t>
            </a:r>
          </a:p>
          <a:p>
            <a:pPr lvl="1"/>
            <a:r>
              <a:rPr lang="en-US" sz="2000" dirty="0"/>
              <a:t>Radio environment contributes to the observed differences</a:t>
            </a:r>
          </a:p>
          <a:p>
            <a:endParaRPr lang="en-US" sz="2400" dirty="0"/>
          </a:p>
        </p:txBody>
      </p:sp>
      <p:sp>
        <p:nvSpPr>
          <p:cNvPr id="5" name="Content Placeholder 2">
            <a:extLst>
              <a:ext uri="{FF2B5EF4-FFF2-40B4-BE49-F238E27FC236}">
                <a16:creationId xmlns:a16="http://schemas.microsoft.com/office/drawing/2014/main" id="{1C69D12E-998A-76B0-B86F-F77BBB57C6D1}"/>
              </a:ext>
            </a:extLst>
          </p:cNvPr>
          <p:cNvSpPr txBox="1">
            <a:spLocks/>
          </p:cNvSpPr>
          <p:nvPr/>
        </p:nvSpPr>
        <p:spPr>
          <a:xfrm>
            <a:off x="114300" y="6099079"/>
            <a:ext cx="11346874" cy="653825"/>
          </a:xfrm>
          <a:prstGeom prst="rect">
            <a:avLst/>
          </a:prstGeom>
        </p:spPr>
        <p:txBody>
          <a:bodyPr vert="horz" lIns="91440" tIns="45720" rIns="91440" bIns="45720" rtlCol="0">
            <a:normAutofit lnSpcReduction="1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a:lstStyle>
          <a:p>
            <a:pPr marL="0" indent="0" algn="ctr">
              <a:buNone/>
            </a:pPr>
            <a:r>
              <a:rPr lang="en-US" b="1" dirty="0">
                <a:highlight>
                  <a:srgbClr val="808000"/>
                </a:highlight>
                <a:sym typeface="Wingdings" panose="05000000000000000000" pitchFamily="2" charset="2"/>
              </a:rPr>
              <a:t></a:t>
            </a:r>
            <a:r>
              <a:rPr lang="en-US" dirty="0">
                <a:highlight>
                  <a:srgbClr val="808000"/>
                </a:highlight>
              </a:rPr>
              <a:t>Performance is associated with both network and territorial factors, but operator-specific differences remain visible.</a:t>
            </a:r>
          </a:p>
        </p:txBody>
      </p:sp>
    </p:spTree>
    <p:extLst>
      <p:ext uri="{BB962C8B-B14F-4D97-AF65-F5344CB8AC3E}">
        <p14:creationId xmlns:p14="http://schemas.microsoft.com/office/powerpoint/2010/main" val="34192211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3A446B6-2204-48B8-A7C5-606E45BCA1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6866990-844B-2A3C-274A-3C973D1D9D47}"/>
              </a:ext>
            </a:extLst>
          </p:cNvPr>
          <p:cNvSpPr>
            <a:spLocks noGrp="1"/>
          </p:cNvSpPr>
          <p:nvPr>
            <p:ph type="title"/>
          </p:nvPr>
        </p:nvSpPr>
        <p:spPr>
          <a:xfrm>
            <a:off x="648929" y="965201"/>
            <a:ext cx="3903412" cy="4773612"/>
          </a:xfrm>
        </p:spPr>
        <p:txBody>
          <a:bodyPr anchor="ctr">
            <a:normAutofit/>
          </a:bodyPr>
          <a:lstStyle/>
          <a:p>
            <a:r>
              <a:rPr lang="fr-FR" b="1" dirty="0">
                <a:solidFill>
                  <a:srgbClr val="EBEBEB"/>
                </a:solidFill>
              </a:rPr>
              <a:t>10. ML Process </a:t>
            </a:r>
            <a:endParaRPr lang="en-US" b="1" dirty="0">
              <a:solidFill>
                <a:srgbClr val="EBEBEB"/>
              </a:solidFill>
            </a:endParaRPr>
          </a:p>
        </p:txBody>
      </p:sp>
      <p:sp>
        <p:nvSpPr>
          <p:cNvPr id="25" name="Rectangle 24">
            <a:extLst>
              <a:ext uri="{FF2B5EF4-FFF2-40B4-BE49-F238E27FC236}">
                <a16:creationId xmlns:a16="http://schemas.microsoft.com/office/drawing/2014/main" id="{FBF70932-2C39-4BA6-AA08-EF3AD899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6" name="Rounded Rectangle 9">
            <a:extLst>
              <a:ext uri="{FF2B5EF4-FFF2-40B4-BE49-F238E27FC236}">
                <a16:creationId xmlns:a16="http://schemas.microsoft.com/office/drawing/2014/main" id="{0FD39269-4644-4CAE-8A56-899A62A9C7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23688" y="484632"/>
            <a:ext cx="6584098" cy="5739187"/>
          </a:xfrm>
          <a:prstGeom prst="roundRect">
            <a:avLst>
              <a:gd name="adj" fmla="val 0"/>
            </a:avLst>
          </a:prstGeom>
          <a:ln w="12700" cap="sq">
            <a:solidFill>
              <a:schemeClr val="bg1">
                <a:lumMod val="75000"/>
              </a:schemeClr>
            </a:solidFill>
            <a:miter lim="800000"/>
          </a:ln>
          <a:effectLst>
            <a:outerShdw blurRad="63500" dist="25400" dir="5400000" algn="tl" rotWithShape="0">
              <a:srgbClr val="000000">
                <a:alpha val="3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02302A5-B07A-48BB-9A56-89192DCCA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graphicFrame>
        <p:nvGraphicFramePr>
          <p:cNvPr id="11" name="Content Placeholder 10">
            <a:extLst>
              <a:ext uri="{FF2B5EF4-FFF2-40B4-BE49-F238E27FC236}">
                <a16:creationId xmlns:a16="http://schemas.microsoft.com/office/drawing/2014/main" id="{A77D9E10-D02D-1D8C-3A04-333BCB807F9C}"/>
              </a:ext>
            </a:extLst>
          </p:cNvPr>
          <p:cNvGraphicFramePr>
            <a:graphicFrameLocks noGrp="1"/>
          </p:cNvGraphicFramePr>
          <p:nvPr>
            <p:ph idx="1"/>
            <p:extLst>
              <p:ext uri="{D42A27DB-BD31-4B8C-83A1-F6EECF244321}">
                <p14:modId xmlns:p14="http://schemas.microsoft.com/office/powerpoint/2010/main" val="513356525"/>
              </p:ext>
            </p:extLst>
          </p:nvPr>
        </p:nvGraphicFramePr>
        <p:xfrm>
          <a:off x="5879110" y="1870364"/>
          <a:ext cx="4916730" cy="2622117"/>
        </p:xfrm>
        <a:graphic>
          <a:graphicData uri="http://schemas.openxmlformats.org/drawingml/2006/table">
            <a:tbl>
              <a:tblPr firstRow="1" bandRow="1">
                <a:tableStyleId>{00A15C55-8517-42AA-B614-E9B94910E393}</a:tableStyleId>
              </a:tblPr>
              <a:tblGrid>
                <a:gridCol w="1843322">
                  <a:extLst>
                    <a:ext uri="{9D8B030D-6E8A-4147-A177-3AD203B41FA5}">
                      <a16:colId xmlns:a16="http://schemas.microsoft.com/office/drawing/2014/main" val="2156652215"/>
                    </a:ext>
                  </a:extLst>
                </a:gridCol>
                <a:gridCol w="1210282">
                  <a:extLst>
                    <a:ext uri="{9D8B030D-6E8A-4147-A177-3AD203B41FA5}">
                      <a16:colId xmlns:a16="http://schemas.microsoft.com/office/drawing/2014/main" val="926857948"/>
                    </a:ext>
                  </a:extLst>
                </a:gridCol>
                <a:gridCol w="1863126">
                  <a:extLst>
                    <a:ext uri="{9D8B030D-6E8A-4147-A177-3AD203B41FA5}">
                      <a16:colId xmlns:a16="http://schemas.microsoft.com/office/drawing/2014/main" val="3318665075"/>
                    </a:ext>
                  </a:extLst>
                </a:gridCol>
              </a:tblGrid>
              <a:tr h="644563">
                <a:tc>
                  <a:txBody>
                    <a:bodyPr/>
                    <a:lstStyle/>
                    <a:p>
                      <a:pPr algn="ctr" fontAlgn="ctr">
                        <a:buNone/>
                      </a:pPr>
                      <a:r>
                        <a:rPr lang="en-US" sz="1800" b="1" u="none" strike="noStrike" cap="none" spc="0">
                          <a:solidFill>
                            <a:schemeClr val="tx1"/>
                          </a:solidFill>
                          <a:effectLst/>
                        </a:rPr>
                        <a:t>Model</a:t>
                      </a:r>
                      <a:endParaRPr lang="en-US" sz="1800" b="1" i="0" u="none" strike="noStrike" cap="none" spc="0">
                        <a:solidFill>
                          <a:schemeClr val="tx1"/>
                        </a:solidFill>
                        <a:effectLst/>
                        <a:latin typeface="Aptos Narrow" panose="020B0004020202020204" pitchFamily="34" charset="0"/>
                      </a:endParaRPr>
                    </a:p>
                  </a:txBody>
                  <a:tcPr marL="113466" marR="12097" marT="32419" marB="243142" anchor="b"/>
                </a:tc>
                <a:tc>
                  <a:txBody>
                    <a:bodyPr/>
                    <a:lstStyle/>
                    <a:p>
                      <a:pPr algn="ctr" fontAlgn="ctr">
                        <a:buNone/>
                      </a:pPr>
                      <a:r>
                        <a:rPr lang="en-US" sz="1800" b="1" u="none" strike="noStrike" cap="none" spc="0">
                          <a:solidFill>
                            <a:schemeClr val="tx1"/>
                          </a:solidFill>
                          <a:effectLst/>
                        </a:rPr>
                        <a:t>R²</a:t>
                      </a:r>
                      <a:endParaRPr lang="en-US" sz="1800" b="1" i="0" u="none" strike="noStrike" cap="none" spc="0">
                        <a:solidFill>
                          <a:schemeClr val="tx1"/>
                        </a:solidFill>
                        <a:effectLst/>
                        <a:latin typeface="Aptos Narrow" panose="020B0004020202020204" pitchFamily="34" charset="0"/>
                      </a:endParaRPr>
                    </a:p>
                  </a:txBody>
                  <a:tcPr marL="113466" marR="12097" marT="32419" marB="243142" anchor="b"/>
                </a:tc>
                <a:tc>
                  <a:txBody>
                    <a:bodyPr/>
                    <a:lstStyle/>
                    <a:p>
                      <a:pPr algn="ctr" fontAlgn="ctr">
                        <a:buNone/>
                      </a:pPr>
                      <a:r>
                        <a:rPr lang="en-US" sz="1800" b="1" u="none" strike="noStrike" cap="none" spc="0">
                          <a:solidFill>
                            <a:schemeClr val="tx1"/>
                          </a:solidFill>
                          <a:effectLst/>
                        </a:rPr>
                        <a:t>MAE (Mbps)</a:t>
                      </a:r>
                      <a:endParaRPr lang="en-US" sz="1800" b="1" i="0" u="none" strike="noStrike" cap="none" spc="0">
                        <a:solidFill>
                          <a:schemeClr val="tx1"/>
                        </a:solidFill>
                        <a:effectLst/>
                        <a:latin typeface="Aptos Narrow" panose="020B0004020202020204" pitchFamily="34" charset="0"/>
                      </a:endParaRPr>
                    </a:p>
                  </a:txBody>
                  <a:tcPr marL="113466" marR="12097" marT="32419" marB="243142" anchor="b"/>
                </a:tc>
                <a:extLst>
                  <a:ext uri="{0D108BD9-81ED-4DB2-BD59-A6C34878D82A}">
                    <a16:rowId xmlns:a16="http://schemas.microsoft.com/office/drawing/2014/main" val="2972688445"/>
                  </a:ext>
                </a:extLst>
              </a:tr>
              <a:tr h="988777">
                <a:tc>
                  <a:txBody>
                    <a:bodyPr/>
                    <a:lstStyle/>
                    <a:p>
                      <a:pPr algn="l" fontAlgn="ctr">
                        <a:buNone/>
                      </a:pPr>
                      <a:r>
                        <a:rPr lang="en-US" sz="1600" b="1" u="none" strike="noStrike" cap="none" spc="0">
                          <a:solidFill>
                            <a:schemeClr val="tx1"/>
                          </a:solidFill>
                          <a:effectLst/>
                        </a:rPr>
                        <a:t>Decision Tree</a:t>
                      </a:r>
                      <a:endParaRPr lang="en-US" sz="1600" b="1" i="0" u="none" strike="noStrike" cap="none" spc="0">
                        <a:solidFill>
                          <a:schemeClr val="tx1"/>
                        </a:solidFill>
                        <a:effectLst/>
                        <a:latin typeface="Aptos Narrow" panose="020B0004020202020204" pitchFamily="34" charset="0"/>
                      </a:endParaRPr>
                    </a:p>
                  </a:txBody>
                  <a:tcPr marL="113466" marR="12097" marT="32419" marB="243142" anchor="ctr"/>
                </a:tc>
                <a:tc>
                  <a:txBody>
                    <a:bodyPr/>
                    <a:lstStyle/>
                    <a:p>
                      <a:pPr algn="ctr" fontAlgn="ctr">
                        <a:buNone/>
                      </a:pPr>
                      <a:r>
                        <a:rPr lang="en-US" sz="1600" u="none" strike="noStrike" cap="none" spc="0" dirty="0">
                          <a:solidFill>
                            <a:schemeClr val="tx1"/>
                          </a:solidFill>
                          <a:effectLst/>
                        </a:rPr>
                        <a:t>0.478</a:t>
                      </a:r>
                      <a:endParaRPr lang="en-US" sz="1600" b="0" i="0" u="none" strike="noStrike" cap="none" spc="0" dirty="0">
                        <a:solidFill>
                          <a:schemeClr val="tx1"/>
                        </a:solidFill>
                        <a:effectLst/>
                        <a:latin typeface="Aptos Narrow" panose="020B0004020202020204" pitchFamily="34" charset="0"/>
                      </a:endParaRPr>
                    </a:p>
                  </a:txBody>
                  <a:tcPr marL="113466" marR="12097" marT="32419" marB="243142" anchor="ctr"/>
                </a:tc>
                <a:tc>
                  <a:txBody>
                    <a:bodyPr/>
                    <a:lstStyle/>
                    <a:p>
                      <a:pPr algn="ctr" fontAlgn="ctr">
                        <a:buNone/>
                      </a:pPr>
                      <a:r>
                        <a:rPr lang="en-US" sz="1600" u="none" strike="noStrike" cap="none" spc="0" dirty="0">
                          <a:solidFill>
                            <a:schemeClr val="tx1"/>
                          </a:solidFill>
                          <a:effectLst/>
                        </a:rPr>
                        <a:t>81</a:t>
                      </a:r>
                      <a:endParaRPr lang="en-US" sz="1600" b="0" i="0" u="none" strike="noStrike" cap="none" spc="0" dirty="0">
                        <a:solidFill>
                          <a:schemeClr val="tx1"/>
                        </a:solidFill>
                        <a:effectLst/>
                        <a:latin typeface="Aptos Narrow" panose="020B0004020202020204" pitchFamily="34" charset="0"/>
                      </a:endParaRPr>
                    </a:p>
                  </a:txBody>
                  <a:tcPr marL="113466" marR="12097" marT="32419" marB="243142" anchor="ctr"/>
                </a:tc>
                <a:extLst>
                  <a:ext uri="{0D108BD9-81ED-4DB2-BD59-A6C34878D82A}">
                    <a16:rowId xmlns:a16="http://schemas.microsoft.com/office/drawing/2014/main" val="3817651728"/>
                  </a:ext>
                </a:extLst>
              </a:tr>
              <a:tr h="988777">
                <a:tc>
                  <a:txBody>
                    <a:bodyPr/>
                    <a:lstStyle/>
                    <a:p>
                      <a:pPr algn="l" fontAlgn="ctr">
                        <a:buNone/>
                      </a:pPr>
                      <a:r>
                        <a:rPr lang="en-US" sz="1600" b="1" u="none" strike="noStrike" cap="none" spc="0" dirty="0">
                          <a:solidFill>
                            <a:schemeClr val="tx1"/>
                          </a:solidFill>
                          <a:effectLst/>
                        </a:rPr>
                        <a:t>Linear Regression</a:t>
                      </a:r>
                      <a:endParaRPr lang="en-US" sz="1600" b="1" i="0" u="none" strike="noStrike" cap="none" spc="0" dirty="0">
                        <a:solidFill>
                          <a:schemeClr val="tx1"/>
                        </a:solidFill>
                        <a:effectLst/>
                        <a:latin typeface="Aptos Narrow" panose="020B0004020202020204" pitchFamily="34" charset="0"/>
                      </a:endParaRPr>
                    </a:p>
                  </a:txBody>
                  <a:tcPr marL="113466" marR="12097" marT="32419" marB="243142" anchor="ctr"/>
                </a:tc>
                <a:tc>
                  <a:txBody>
                    <a:bodyPr/>
                    <a:lstStyle/>
                    <a:p>
                      <a:pPr algn="ctr" fontAlgn="ctr">
                        <a:buNone/>
                      </a:pPr>
                      <a:r>
                        <a:rPr lang="en-US" sz="1600" u="none" strike="noStrike" cap="none" spc="0" dirty="0">
                          <a:solidFill>
                            <a:schemeClr val="tx1"/>
                          </a:solidFill>
                          <a:effectLst/>
                        </a:rPr>
                        <a:t>0.385</a:t>
                      </a:r>
                      <a:endParaRPr lang="en-US" sz="1600" b="0" i="0" u="none" strike="noStrike" cap="none" spc="0" dirty="0">
                        <a:solidFill>
                          <a:schemeClr val="tx1"/>
                        </a:solidFill>
                        <a:effectLst/>
                        <a:latin typeface="Aptos Narrow" panose="020B0004020202020204" pitchFamily="34" charset="0"/>
                      </a:endParaRPr>
                    </a:p>
                  </a:txBody>
                  <a:tcPr marL="113466" marR="12097" marT="32419" marB="243142" anchor="ctr"/>
                </a:tc>
                <a:tc>
                  <a:txBody>
                    <a:bodyPr/>
                    <a:lstStyle/>
                    <a:p>
                      <a:pPr algn="ctr" fontAlgn="ctr">
                        <a:buNone/>
                      </a:pPr>
                      <a:r>
                        <a:rPr lang="en-US" sz="1600" u="none" strike="noStrike" cap="none" spc="0" dirty="0">
                          <a:solidFill>
                            <a:schemeClr val="tx1"/>
                          </a:solidFill>
                          <a:effectLst/>
                        </a:rPr>
                        <a:t>99</a:t>
                      </a:r>
                      <a:endParaRPr lang="en-US" sz="1600" b="0" i="0" u="none" strike="noStrike" cap="none" spc="0" dirty="0">
                        <a:solidFill>
                          <a:schemeClr val="tx1"/>
                        </a:solidFill>
                        <a:effectLst/>
                        <a:latin typeface="Aptos Narrow" panose="020B0004020202020204" pitchFamily="34" charset="0"/>
                      </a:endParaRPr>
                    </a:p>
                  </a:txBody>
                  <a:tcPr marL="113466" marR="12097" marT="32419" marB="243142" anchor="ctr"/>
                </a:tc>
                <a:extLst>
                  <a:ext uri="{0D108BD9-81ED-4DB2-BD59-A6C34878D82A}">
                    <a16:rowId xmlns:a16="http://schemas.microsoft.com/office/drawing/2014/main" val="3101008567"/>
                  </a:ext>
                </a:extLst>
              </a:tr>
            </a:tbl>
          </a:graphicData>
        </a:graphic>
      </p:graphicFrame>
      <p:sp>
        <p:nvSpPr>
          <p:cNvPr id="14" name="Content Placeholder 2">
            <a:extLst>
              <a:ext uri="{FF2B5EF4-FFF2-40B4-BE49-F238E27FC236}">
                <a16:creationId xmlns:a16="http://schemas.microsoft.com/office/drawing/2014/main" id="{E6BB7A09-3B40-B677-2CC9-904ED1166620}"/>
              </a:ext>
            </a:extLst>
          </p:cNvPr>
          <p:cNvSpPr txBox="1">
            <a:spLocks/>
          </p:cNvSpPr>
          <p:nvPr/>
        </p:nvSpPr>
        <p:spPr>
          <a:xfrm>
            <a:off x="5131879" y="4834839"/>
            <a:ext cx="6411192" cy="1188846"/>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a:lstStyle>
          <a:p>
            <a:r>
              <a:rPr lang="en-US" sz="1600" dirty="0"/>
              <a:t>The Decision Tree captures more of the variation than the linear model, suggesting that the relationship between network performance, infrastructure, population and radio conditions is not purely linear.</a:t>
            </a:r>
          </a:p>
        </p:txBody>
      </p:sp>
      <p:sp>
        <p:nvSpPr>
          <p:cNvPr id="29" name="TextBox 28">
            <a:extLst>
              <a:ext uri="{FF2B5EF4-FFF2-40B4-BE49-F238E27FC236}">
                <a16:creationId xmlns:a16="http://schemas.microsoft.com/office/drawing/2014/main" id="{22297E07-9CF5-9CD5-AE74-D0C6928D0F6E}"/>
              </a:ext>
            </a:extLst>
          </p:cNvPr>
          <p:cNvSpPr txBox="1"/>
          <p:nvPr/>
        </p:nvSpPr>
        <p:spPr>
          <a:xfrm>
            <a:off x="5787736" y="862445"/>
            <a:ext cx="4281055" cy="923330"/>
          </a:xfrm>
          <a:prstGeom prst="rect">
            <a:avLst/>
          </a:prstGeom>
          <a:noFill/>
        </p:spPr>
        <p:txBody>
          <a:bodyPr wrap="square" rtlCol="0">
            <a:spAutoFit/>
          </a:bodyPr>
          <a:lstStyle/>
          <a:p>
            <a:r>
              <a:rPr lang="fr-FR" b="1" dirty="0" err="1"/>
              <a:t>Features</a:t>
            </a:r>
            <a:r>
              <a:rPr lang="fr-FR" b="1" dirty="0"/>
              <a:t> </a:t>
            </a:r>
            <a:r>
              <a:rPr lang="fr-FR" b="1" dirty="0" err="1"/>
              <a:t>selection</a:t>
            </a:r>
            <a:r>
              <a:rPr lang="fr-FR" b="1" dirty="0"/>
              <a:t>: </a:t>
            </a:r>
            <a:r>
              <a:rPr lang="fr-FR" dirty="0" err="1"/>
              <a:t>operator</a:t>
            </a:r>
            <a:r>
              <a:rPr lang="fr-FR" dirty="0"/>
              <a:t>, </a:t>
            </a:r>
            <a:r>
              <a:rPr lang="fr-FR" dirty="0" err="1"/>
              <a:t>rsrq</a:t>
            </a:r>
            <a:r>
              <a:rPr lang="fr-FR" dirty="0"/>
              <a:t>, </a:t>
            </a:r>
            <a:r>
              <a:rPr lang="fr-FR" dirty="0" err="1"/>
              <a:t>rsrp</a:t>
            </a:r>
            <a:r>
              <a:rPr lang="fr-FR" dirty="0"/>
              <a:t>, population, nbr os sites </a:t>
            </a:r>
          </a:p>
          <a:p>
            <a:r>
              <a:rPr lang="fr-FR" b="1" dirty="0" err="1"/>
              <a:t>Targer</a:t>
            </a:r>
            <a:r>
              <a:rPr lang="fr-FR" b="1" dirty="0"/>
              <a:t>: </a:t>
            </a:r>
            <a:r>
              <a:rPr lang="fr-FR" dirty="0"/>
              <a:t>Download speed</a:t>
            </a:r>
            <a:endParaRPr lang="en-US" dirty="0"/>
          </a:p>
        </p:txBody>
      </p:sp>
    </p:spTree>
    <p:extLst>
      <p:ext uri="{BB962C8B-B14F-4D97-AF65-F5344CB8AC3E}">
        <p14:creationId xmlns:p14="http://schemas.microsoft.com/office/powerpoint/2010/main" val="4264155239"/>
      </p:ext>
    </p:extLst>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5BF32-8755-BFC4-3ADA-8D23EA47A303}"/>
              </a:ext>
            </a:extLst>
          </p:cNvPr>
          <p:cNvSpPr>
            <a:spLocks noGrp="1"/>
          </p:cNvSpPr>
          <p:nvPr>
            <p:ph type="title"/>
          </p:nvPr>
        </p:nvSpPr>
        <p:spPr/>
        <p:txBody>
          <a:bodyPr/>
          <a:lstStyle/>
          <a:p>
            <a:r>
              <a:rPr lang="en-US" b="1" dirty="0"/>
              <a:t>11. Final Conclusion</a:t>
            </a:r>
          </a:p>
        </p:txBody>
      </p:sp>
      <p:sp>
        <p:nvSpPr>
          <p:cNvPr id="3" name="Content Placeholder 2">
            <a:extLst>
              <a:ext uri="{FF2B5EF4-FFF2-40B4-BE49-F238E27FC236}">
                <a16:creationId xmlns:a16="http://schemas.microsoft.com/office/drawing/2014/main" id="{404096C3-D57F-086A-01E3-2C33A474837E}"/>
              </a:ext>
            </a:extLst>
          </p:cNvPr>
          <p:cNvSpPr>
            <a:spLocks noGrp="1"/>
          </p:cNvSpPr>
          <p:nvPr>
            <p:ph idx="1"/>
          </p:nvPr>
        </p:nvSpPr>
        <p:spPr>
          <a:xfrm>
            <a:off x="1104293" y="1772364"/>
            <a:ext cx="8946541" cy="4195481"/>
          </a:xfrm>
        </p:spPr>
        <p:txBody>
          <a:bodyPr>
            <a:normAutofit fontScale="92500" lnSpcReduction="10000"/>
          </a:bodyPr>
          <a:lstStyle/>
          <a:p>
            <a:pPr marL="0" indent="0">
              <a:buNone/>
            </a:pPr>
            <a:r>
              <a:rPr lang="en-US" b="1" dirty="0"/>
              <a:t>What did we learn?</a:t>
            </a:r>
          </a:p>
          <a:p>
            <a:r>
              <a:rPr lang="en-US" b="1" dirty="0"/>
              <a:t>1. Performance disparities exist: </a:t>
            </a:r>
            <a:endParaRPr lang="en-US" dirty="0"/>
          </a:p>
          <a:p>
            <a:pPr lvl="1">
              <a:buFont typeface="Wingdings" panose="05000000000000000000" pitchFamily="2" charset="2"/>
              <a:buChar char="v"/>
            </a:pPr>
            <a:r>
              <a:rPr lang="en-US" dirty="0"/>
              <a:t>5G download performance differs significantly across operators and territories.</a:t>
            </a:r>
          </a:p>
          <a:p>
            <a:r>
              <a:rPr lang="en-US" b="1" dirty="0"/>
              <a:t>2. Several factors are associated with performance</a:t>
            </a:r>
            <a:endParaRPr lang="en-US" dirty="0"/>
          </a:p>
          <a:p>
            <a:pPr lvl="1">
              <a:buFont typeface="Wingdings" panose="05000000000000000000" pitchFamily="2" charset="2"/>
              <a:buChar char="v"/>
            </a:pPr>
            <a:r>
              <a:rPr lang="en-US" b="1" dirty="0"/>
              <a:t>Territorial context:</a:t>
            </a:r>
            <a:r>
              <a:rPr lang="en-US" dirty="0"/>
              <a:t> population</a:t>
            </a:r>
          </a:p>
          <a:p>
            <a:pPr lvl="1">
              <a:buFont typeface="Wingdings" panose="05000000000000000000" pitchFamily="2" charset="2"/>
              <a:buChar char="v"/>
            </a:pPr>
            <a:r>
              <a:rPr lang="en-US" b="1" dirty="0"/>
              <a:t>Network infrastructure:</a:t>
            </a:r>
            <a:r>
              <a:rPr lang="en-US" dirty="0"/>
              <a:t> pure 5G deployment</a:t>
            </a:r>
          </a:p>
          <a:p>
            <a:pPr lvl="1">
              <a:buFont typeface="Wingdings" panose="05000000000000000000" pitchFamily="2" charset="2"/>
              <a:buChar char="v"/>
            </a:pPr>
            <a:r>
              <a:rPr lang="en-US" b="1" dirty="0"/>
              <a:t>Radio environment:</a:t>
            </a:r>
            <a:r>
              <a:rPr lang="en-US" dirty="0"/>
              <a:t> RSRP</a:t>
            </a:r>
          </a:p>
          <a:p>
            <a:r>
              <a:rPr lang="en-US" b="1" dirty="0"/>
              <a:t>3. These factors do not tell the whole story</a:t>
            </a:r>
            <a:endParaRPr lang="en-US" dirty="0"/>
          </a:p>
          <a:p>
            <a:pPr lvl="1">
              <a:buFont typeface="Wingdings" panose="05000000000000000000" pitchFamily="2" charset="2"/>
              <a:buChar char="v"/>
            </a:pPr>
            <a:r>
              <a:rPr lang="en-US" dirty="0"/>
              <a:t>Significant differences remain between operators under similar territorial or infrastructure conditions.</a:t>
            </a:r>
          </a:p>
          <a:p>
            <a:pPr lvl="1">
              <a:buFont typeface="Wingdings" panose="05000000000000000000" pitchFamily="2" charset="2"/>
              <a:buChar char="v"/>
            </a:pPr>
            <a:r>
              <a:rPr lang="en-US" dirty="0"/>
              <a:t>This points to an important </a:t>
            </a:r>
            <a:r>
              <a:rPr lang="en-US" b="1" dirty="0"/>
              <a:t>operator-specific component</a:t>
            </a:r>
            <a:r>
              <a:rPr lang="en-US" dirty="0"/>
              <a:t>.</a:t>
            </a:r>
          </a:p>
          <a:p>
            <a:endParaRPr lang="en-US" dirty="0"/>
          </a:p>
        </p:txBody>
      </p:sp>
    </p:spTree>
    <p:extLst>
      <p:ext uri="{BB962C8B-B14F-4D97-AF65-F5344CB8AC3E}">
        <p14:creationId xmlns:p14="http://schemas.microsoft.com/office/powerpoint/2010/main" val="14380970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EAF479-7C39-5A7C-39C2-5C495725A959}"/>
              </a:ext>
            </a:extLst>
          </p:cNvPr>
          <p:cNvSpPr>
            <a:spLocks noGrp="1"/>
          </p:cNvSpPr>
          <p:nvPr>
            <p:ph type="title"/>
          </p:nvPr>
        </p:nvSpPr>
        <p:spPr>
          <a:xfrm>
            <a:off x="646111" y="452718"/>
            <a:ext cx="9404723" cy="970837"/>
          </a:xfrm>
        </p:spPr>
        <p:txBody>
          <a:bodyPr/>
          <a:lstStyle/>
          <a:p>
            <a:r>
              <a:rPr lang="fr-FR" b="1" dirty="0"/>
              <a:t>12. Challenges and Next </a:t>
            </a:r>
            <a:r>
              <a:rPr lang="fr-FR" b="1" dirty="0" err="1"/>
              <a:t>Steps</a:t>
            </a:r>
            <a:endParaRPr lang="en-US" b="1" dirty="0"/>
          </a:p>
        </p:txBody>
      </p:sp>
      <p:sp>
        <p:nvSpPr>
          <p:cNvPr id="3" name="Content Placeholder 2">
            <a:extLst>
              <a:ext uri="{FF2B5EF4-FFF2-40B4-BE49-F238E27FC236}">
                <a16:creationId xmlns:a16="http://schemas.microsoft.com/office/drawing/2014/main" id="{4CDB6F15-256B-6C9C-30BA-313A397BE38E}"/>
              </a:ext>
            </a:extLst>
          </p:cNvPr>
          <p:cNvSpPr>
            <a:spLocks noGrp="1"/>
          </p:cNvSpPr>
          <p:nvPr>
            <p:ph idx="1"/>
          </p:nvPr>
        </p:nvSpPr>
        <p:spPr>
          <a:xfrm>
            <a:off x="968231" y="1574936"/>
            <a:ext cx="9485024" cy="4195481"/>
          </a:xfrm>
        </p:spPr>
        <p:txBody>
          <a:bodyPr>
            <a:normAutofit lnSpcReduction="10000"/>
          </a:bodyPr>
          <a:lstStyle/>
          <a:p>
            <a:r>
              <a:rPr lang="en-US" sz="2400" b="1" dirty="0"/>
              <a:t>Challenges:</a:t>
            </a:r>
          </a:p>
          <a:p>
            <a:pPr lvl="1"/>
            <a:r>
              <a:rPr lang="en-US" b="1" dirty="0"/>
              <a:t>Data integration:</a:t>
            </a:r>
            <a:r>
              <a:rPr lang="en-US" dirty="0"/>
              <a:t> Combining ARCEP QoS, mobile-site and INSEE datasets with different granularities and identifiers.</a:t>
            </a:r>
          </a:p>
          <a:p>
            <a:pPr lvl="1"/>
            <a:r>
              <a:rPr lang="en-US" b="1" dirty="0"/>
              <a:t>Territorial granularity:</a:t>
            </a:r>
            <a:r>
              <a:rPr lang="en-US" dirty="0"/>
              <a:t> QoS measurements are collected at specific locations (1610 communes), while population and infrastructure data are aggregated at most of the territory communes.</a:t>
            </a:r>
          </a:p>
          <a:p>
            <a:pPr marL="457200" lvl="1" indent="0">
              <a:buNone/>
            </a:pPr>
            <a:endParaRPr lang="en-US" dirty="0"/>
          </a:p>
          <a:p>
            <a:r>
              <a:rPr lang="en-US" sz="2400" b="1" dirty="0"/>
              <a:t>Next steps:</a:t>
            </a:r>
          </a:p>
          <a:p>
            <a:pPr lvl="1"/>
            <a:r>
              <a:rPr lang="en-US" b="1" dirty="0"/>
              <a:t>Deeper territorial analysis:</a:t>
            </a:r>
            <a:r>
              <a:rPr lang="en-US" dirty="0"/>
              <a:t> Extend the analysis from regions to departments or communes to identify more localized disparities.</a:t>
            </a:r>
          </a:p>
          <a:p>
            <a:pPr lvl="1"/>
            <a:r>
              <a:rPr lang="en-US" b="1" dirty="0"/>
              <a:t>Operator-level investigation:</a:t>
            </a:r>
            <a:r>
              <a:rPr lang="en-US" dirty="0"/>
              <a:t> Analyze why operators with different deployment strategies achieve different performance levels.</a:t>
            </a:r>
          </a:p>
        </p:txBody>
      </p:sp>
    </p:spTree>
    <p:extLst>
      <p:ext uri="{BB962C8B-B14F-4D97-AF65-F5344CB8AC3E}">
        <p14:creationId xmlns:p14="http://schemas.microsoft.com/office/powerpoint/2010/main" val="10811653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4CD14DB-BB81-479F-A1FC-1C75640E9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entury Gothic" panose="020B0502020202020204"/>
              <a:ea typeface="+mn-ea"/>
              <a:cs typeface="+mn-cs"/>
            </a:endParaRPr>
          </a:p>
        </p:txBody>
      </p:sp>
      <p:sp>
        <p:nvSpPr>
          <p:cNvPr id="10" name="Rectangle 9">
            <a:extLst>
              <a:ext uri="{FF2B5EF4-FFF2-40B4-BE49-F238E27FC236}">
                <a16:creationId xmlns:a16="http://schemas.microsoft.com/office/drawing/2014/main" id="{C943A91B-7CA7-4592-A975-73B1BF8C4C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2" name="Freeform 7">
            <a:extLst>
              <a:ext uri="{FF2B5EF4-FFF2-40B4-BE49-F238E27FC236}">
                <a16:creationId xmlns:a16="http://schemas.microsoft.com/office/drawing/2014/main" id="{EC471314-E46A-414B-8D91-74880E84F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entury Gothic" panose="020B0502020202020204"/>
              <a:ea typeface="+mn-ea"/>
              <a:cs typeface="+mn-cs"/>
            </a:endParaRPr>
          </a:p>
        </p:txBody>
      </p:sp>
      <p:sp useBgFill="1">
        <p:nvSpPr>
          <p:cNvPr id="14" name="Freeform: Shape 13">
            <a:extLst>
              <a:ext uri="{FF2B5EF4-FFF2-40B4-BE49-F238E27FC236}">
                <a16:creationId xmlns:a16="http://schemas.microsoft.com/office/drawing/2014/main" id="{6A681326-1C9D-44A3-A627-3871BDAE41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7" cy="5095933"/>
          </a:xfrm>
          <a:custGeom>
            <a:avLst/>
            <a:gdLst>
              <a:gd name="connsiteX0" fmla="*/ 0 w 12192417"/>
              <a:gd name="connsiteY0" fmla="*/ 0 h 5095933"/>
              <a:gd name="connsiteX1" fmla="*/ 71931 w 12192417"/>
              <a:gd name="connsiteY1" fmla="*/ 12261 h 5095933"/>
              <a:gd name="connsiteX2" fmla="*/ 282848 w 12192417"/>
              <a:gd name="connsiteY2" fmla="*/ 48343 h 5095933"/>
              <a:gd name="connsiteX3" fmla="*/ 436463 w 12192417"/>
              <a:gd name="connsiteY3" fmla="*/ 73565 h 5095933"/>
              <a:gd name="connsiteX4" fmla="*/ 619338 w 12192417"/>
              <a:gd name="connsiteY4" fmla="*/ 100188 h 5095933"/>
              <a:gd name="connsiteX5" fmla="*/ 836350 w 12192417"/>
              <a:gd name="connsiteY5" fmla="*/ 132066 h 5095933"/>
              <a:gd name="connsiteX6" fmla="*/ 1076527 w 12192417"/>
              <a:gd name="connsiteY6" fmla="*/ 165696 h 5095933"/>
              <a:gd name="connsiteX7" fmla="*/ 1347183 w 12192417"/>
              <a:gd name="connsiteY7" fmla="*/ 201077 h 5095933"/>
              <a:gd name="connsiteX8" fmla="*/ 1642222 w 12192417"/>
              <a:gd name="connsiteY8" fmla="*/ 238560 h 5095933"/>
              <a:gd name="connsiteX9" fmla="*/ 1962863 w 12192417"/>
              <a:gd name="connsiteY9" fmla="*/ 276043 h 5095933"/>
              <a:gd name="connsiteX10" fmla="*/ 2304231 w 12192417"/>
              <a:gd name="connsiteY10" fmla="*/ 314227 h 5095933"/>
              <a:gd name="connsiteX11" fmla="*/ 2672420 w 12192417"/>
              <a:gd name="connsiteY11" fmla="*/ 349608 h 5095933"/>
              <a:gd name="connsiteX12" fmla="*/ 3057677 w 12192417"/>
              <a:gd name="connsiteY12" fmla="*/ 383588 h 5095933"/>
              <a:gd name="connsiteX13" fmla="*/ 3464880 w 12192417"/>
              <a:gd name="connsiteY13" fmla="*/ 414415 h 5095933"/>
              <a:gd name="connsiteX14" fmla="*/ 3889151 w 12192417"/>
              <a:gd name="connsiteY14" fmla="*/ 443841 h 5095933"/>
              <a:gd name="connsiteX15" fmla="*/ 4331709 w 12192417"/>
              <a:gd name="connsiteY15" fmla="*/ 471515 h 5095933"/>
              <a:gd name="connsiteX16" fmla="*/ 4558475 w 12192417"/>
              <a:gd name="connsiteY16" fmla="*/ 481324 h 5095933"/>
              <a:gd name="connsiteX17" fmla="*/ 4790117 w 12192417"/>
              <a:gd name="connsiteY17" fmla="*/ 492183 h 5095933"/>
              <a:gd name="connsiteX18" fmla="*/ 5025417 w 12192417"/>
              <a:gd name="connsiteY18" fmla="*/ 502342 h 5095933"/>
              <a:gd name="connsiteX19" fmla="*/ 5261936 w 12192417"/>
              <a:gd name="connsiteY19" fmla="*/ 508998 h 5095933"/>
              <a:gd name="connsiteX20" fmla="*/ 5503331 w 12192417"/>
              <a:gd name="connsiteY20" fmla="*/ 514953 h 5095933"/>
              <a:gd name="connsiteX21" fmla="*/ 5747166 w 12192417"/>
              <a:gd name="connsiteY21" fmla="*/ 521259 h 5095933"/>
              <a:gd name="connsiteX22" fmla="*/ 5995876 w 12192417"/>
              <a:gd name="connsiteY22" fmla="*/ 525463 h 5095933"/>
              <a:gd name="connsiteX23" fmla="*/ 6247025 w 12192417"/>
              <a:gd name="connsiteY23" fmla="*/ 525463 h 5095933"/>
              <a:gd name="connsiteX24" fmla="*/ 6500612 w 12192417"/>
              <a:gd name="connsiteY24" fmla="*/ 527565 h 5095933"/>
              <a:gd name="connsiteX25" fmla="*/ 6756638 w 12192417"/>
              <a:gd name="connsiteY25" fmla="*/ 525463 h 5095933"/>
              <a:gd name="connsiteX26" fmla="*/ 7016321 w 12192417"/>
              <a:gd name="connsiteY26" fmla="*/ 521259 h 5095933"/>
              <a:gd name="connsiteX27" fmla="*/ 7276004 w 12192417"/>
              <a:gd name="connsiteY27" fmla="*/ 517406 h 5095933"/>
              <a:gd name="connsiteX28" fmla="*/ 7539344 w 12192417"/>
              <a:gd name="connsiteY28" fmla="*/ 508998 h 5095933"/>
              <a:gd name="connsiteX29" fmla="*/ 7805123 w 12192417"/>
              <a:gd name="connsiteY29" fmla="*/ 500241 h 5095933"/>
              <a:gd name="connsiteX30" fmla="*/ 8070902 w 12192417"/>
              <a:gd name="connsiteY30" fmla="*/ 490082 h 5095933"/>
              <a:gd name="connsiteX31" fmla="*/ 8339120 w 12192417"/>
              <a:gd name="connsiteY31" fmla="*/ 475719 h 5095933"/>
              <a:gd name="connsiteX32" fmla="*/ 8609775 w 12192417"/>
              <a:gd name="connsiteY32" fmla="*/ 458554 h 5095933"/>
              <a:gd name="connsiteX33" fmla="*/ 8881650 w 12192417"/>
              <a:gd name="connsiteY33" fmla="*/ 442089 h 5095933"/>
              <a:gd name="connsiteX34" fmla="*/ 9153525 w 12192417"/>
              <a:gd name="connsiteY34" fmla="*/ 421071 h 5095933"/>
              <a:gd name="connsiteX35" fmla="*/ 9429057 w 12192417"/>
              <a:gd name="connsiteY35" fmla="*/ 395849 h 5095933"/>
              <a:gd name="connsiteX36" fmla="*/ 9700932 w 12192417"/>
              <a:gd name="connsiteY36" fmla="*/ 370626 h 5095933"/>
              <a:gd name="connsiteX37" fmla="*/ 9977683 w 12192417"/>
              <a:gd name="connsiteY37" fmla="*/ 341551 h 5095933"/>
              <a:gd name="connsiteX38" fmla="*/ 10255654 w 12192417"/>
              <a:gd name="connsiteY38" fmla="*/ 309673 h 5095933"/>
              <a:gd name="connsiteX39" fmla="*/ 10529967 w 12192417"/>
              <a:gd name="connsiteY39" fmla="*/ 276043 h 5095933"/>
              <a:gd name="connsiteX40" fmla="*/ 10807938 w 12192417"/>
              <a:gd name="connsiteY40" fmla="*/ 236809 h 5095933"/>
              <a:gd name="connsiteX41" fmla="*/ 11084689 w 12192417"/>
              <a:gd name="connsiteY41" fmla="*/ 194772 h 5095933"/>
              <a:gd name="connsiteX42" fmla="*/ 11362660 w 12192417"/>
              <a:gd name="connsiteY42" fmla="*/ 153085 h 5095933"/>
              <a:gd name="connsiteX43" fmla="*/ 11639411 w 12192417"/>
              <a:gd name="connsiteY43" fmla="*/ 104392 h 5095933"/>
              <a:gd name="connsiteX44" fmla="*/ 11914944 w 12192417"/>
              <a:gd name="connsiteY44" fmla="*/ 54648 h 5095933"/>
              <a:gd name="connsiteX45" fmla="*/ 12191695 w 12192417"/>
              <a:gd name="connsiteY45" fmla="*/ 2452 h 5095933"/>
              <a:gd name="connsiteX46" fmla="*/ 12191695 w 12192417"/>
              <a:gd name="connsiteY46" fmla="*/ 2162231 h 5095933"/>
              <a:gd name="connsiteX47" fmla="*/ 12192417 w 12192417"/>
              <a:gd name="connsiteY47" fmla="*/ 2162231 h 5095933"/>
              <a:gd name="connsiteX48" fmla="*/ 12192417 w 12192417"/>
              <a:gd name="connsiteY48" fmla="*/ 5095933 h 5095933"/>
              <a:gd name="connsiteX49" fmla="*/ 0 w 12192417"/>
              <a:gd name="connsiteY49" fmla="*/ 5095933 h 5095933"/>
              <a:gd name="connsiteX50" fmla="*/ 0 w 12192417"/>
              <a:gd name="connsiteY50" fmla="*/ 2791958 h 5095933"/>
              <a:gd name="connsiteX51" fmla="*/ 0 w 12192417"/>
              <a:gd name="connsiteY51" fmla="*/ 2162231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417" h="5095933">
                <a:moveTo>
                  <a:pt x="0" y="0"/>
                </a:moveTo>
                <a:lnTo>
                  <a:pt x="71931" y="12261"/>
                </a:lnTo>
                <a:lnTo>
                  <a:pt x="282848" y="48343"/>
                </a:lnTo>
                <a:lnTo>
                  <a:pt x="436463" y="73565"/>
                </a:lnTo>
                <a:lnTo>
                  <a:pt x="619338" y="100188"/>
                </a:lnTo>
                <a:lnTo>
                  <a:pt x="836350" y="132066"/>
                </a:lnTo>
                <a:lnTo>
                  <a:pt x="1076527" y="165696"/>
                </a:lnTo>
                <a:lnTo>
                  <a:pt x="1347183" y="201077"/>
                </a:lnTo>
                <a:lnTo>
                  <a:pt x="1642222" y="238560"/>
                </a:lnTo>
                <a:lnTo>
                  <a:pt x="1962863" y="276043"/>
                </a:lnTo>
                <a:lnTo>
                  <a:pt x="2304231" y="314227"/>
                </a:lnTo>
                <a:lnTo>
                  <a:pt x="2672420" y="349608"/>
                </a:lnTo>
                <a:lnTo>
                  <a:pt x="3057677" y="383588"/>
                </a:lnTo>
                <a:lnTo>
                  <a:pt x="3464880" y="414415"/>
                </a:lnTo>
                <a:lnTo>
                  <a:pt x="3889151" y="443841"/>
                </a:lnTo>
                <a:lnTo>
                  <a:pt x="4331709" y="471515"/>
                </a:lnTo>
                <a:lnTo>
                  <a:pt x="4558475" y="481324"/>
                </a:lnTo>
                <a:lnTo>
                  <a:pt x="4790117" y="492183"/>
                </a:lnTo>
                <a:lnTo>
                  <a:pt x="5025417" y="502342"/>
                </a:lnTo>
                <a:lnTo>
                  <a:pt x="5261936" y="508998"/>
                </a:lnTo>
                <a:lnTo>
                  <a:pt x="5503331" y="514953"/>
                </a:lnTo>
                <a:lnTo>
                  <a:pt x="5747166" y="521259"/>
                </a:lnTo>
                <a:lnTo>
                  <a:pt x="5995876" y="525463"/>
                </a:lnTo>
                <a:lnTo>
                  <a:pt x="6247025" y="525463"/>
                </a:lnTo>
                <a:lnTo>
                  <a:pt x="6500612" y="527565"/>
                </a:lnTo>
                <a:lnTo>
                  <a:pt x="6756638" y="525463"/>
                </a:lnTo>
                <a:lnTo>
                  <a:pt x="7016321" y="521259"/>
                </a:lnTo>
                <a:lnTo>
                  <a:pt x="7276004" y="517406"/>
                </a:lnTo>
                <a:lnTo>
                  <a:pt x="7539344" y="508998"/>
                </a:lnTo>
                <a:lnTo>
                  <a:pt x="7805123" y="500241"/>
                </a:lnTo>
                <a:lnTo>
                  <a:pt x="8070902" y="490082"/>
                </a:lnTo>
                <a:lnTo>
                  <a:pt x="8339120" y="475719"/>
                </a:lnTo>
                <a:lnTo>
                  <a:pt x="8609775" y="458554"/>
                </a:lnTo>
                <a:lnTo>
                  <a:pt x="8881650" y="442089"/>
                </a:lnTo>
                <a:lnTo>
                  <a:pt x="9153525" y="421071"/>
                </a:lnTo>
                <a:lnTo>
                  <a:pt x="9429057" y="395849"/>
                </a:lnTo>
                <a:lnTo>
                  <a:pt x="9700932" y="370626"/>
                </a:lnTo>
                <a:lnTo>
                  <a:pt x="9977683" y="341551"/>
                </a:lnTo>
                <a:lnTo>
                  <a:pt x="10255654" y="309673"/>
                </a:lnTo>
                <a:lnTo>
                  <a:pt x="10529967" y="276043"/>
                </a:lnTo>
                <a:lnTo>
                  <a:pt x="10807938" y="236809"/>
                </a:lnTo>
                <a:lnTo>
                  <a:pt x="11084689" y="194772"/>
                </a:lnTo>
                <a:lnTo>
                  <a:pt x="11362660" y="153085"/>
                </a:lnTo>
                <a:lnTo>
                  <a:pt x="11639411" y="104392"/>
                </a:lnTo>
                <a:lnTo>
                  <a:pt x="11914944" y="54648"/>
                </a:lnTo>
                <a:lnTo>
                  <a:pt x="12191695" y="2452"/>
                </a:lnTo>
                <a:lnTo>
                  <a:pt x="12191695" y="2162231"/>
                </a:lnTo>
                <a:lnTo>
                  <a:pt x="12192417" y="2162231"/>
                </a:lnTo>
                <a:lnTo>
                  <a:pt x="12192417" y="5095933"/>
                </a:lnTo>
                <a:lnTo>
                  <a:pt x="0" y="5095933"/>
                </a:lnTo>
                <a:lnTo>
                  <a:pt x="0" y="2791958"/>
                </a:lnTo>
                <a:lnTo>
                  <a:pt x="0" y="2162231"/>
                </a:lnTo>
                <a:close/>
              </a:path>
            </a:pathLst>
          </a:custGeom>
          <a:ln>
            <a:noFill/>
          </a:ln>
        </p:spPr>
        <p:txBody>
          <a:bodyPr/>
          <a:lstStyle/>
          <a:p>
            <a:endParaRPr lang="en-US"/>
          </a:p>
        </p:txBody>
      </p:sp>
      <p:sp>
        <p:nvSpPr>
          <p:cNvPr id="2" name="Title 1">
            <a:extLst>
              <a:ext uri="{FF2B5EF4-FFF2-40B4-BE49-F238E27FC236}">
                <a16:creationId xmlns:a16="http://schemas.microsoft.com/office/drawing/2014/main" id="{91108049-0497-62E7-5DAB-3FBEFE85EEBD}"/>
              </a:ext>
            </a:extLst>
          </p:cNvPr>
          <p:cNvSpPr>
            <a:spLocks noGrp="1"/>
          </p:cNvSpPr>
          <p:nvPr>
            <p:ph type="title"/>
          </p:nvPr>
        </p:nvSpPr>
        <p:spPr>
          <a:xfrm>
            <a:off x="2482158" y="472666"/>
            <a:ext cx="7227684" cy="1400530"/>
          </a:xfrm>
        </p:spPr>
        <p:txBody>
          <a:bodyPr anchor="ctr">
            <a:normAutofit/>
          </a:bodyPr>
          <a:lstStyle/>
          <a:p>
            <a:r>
              <a:rPr lang="fr-FR" b="1" dirty="0">
                <a:solidFill>
                  <a:schemeClr val="bg1"/>
                </a:solidFill>
              </a:rPr>
              <a:t>13. Power BI Dashboard</a:t>
            </a:r>
            <a:endParaRPr lang="en-US" b="1" dirty="0">
              <a:solidFill>
                <a:schemeClr val="bg1"/>
              </a:solidFill>
            </a:endParaRPr>
          </a:p>
        </p:txBody>
      </p:sp>
    </p:spTree>
    <p:extLst>
      <p:ext uri="{BB962C8B-B14F-4D97-AF65-F5344CB8AC3E}">
        <p14:creationId xmlns:p14="http://schemas.microsoft.com/office/powerpoint/2010/main" val="2842593307"/>
      </p:ext>
    </p:extLst>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74CD14DB-BB81-479F-A1FC-1C75640E9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entury Gothic" panose="020B0502020202020204"/>
              <a:ea typeface="+mn-ea"/>
              <a:cs typeface="+mn-cs"/>
            </a:endParaRPr>
          </a:p>
        </p:txBody>
      </p:sp>
      <p:sp>
        <p:nvSpPr>
          <p:cNvPr id="34" name="Rectangle 33">
            <a:extLst>
              <a:ext uri="{FF2B5EF4-FFF2-40B4-BE49-F238E27FC236}">
                <a16:creationId xmlns:a16="http://schemas.microsoft.com/office/drawing/2014/main" id="{C943A91B-7CA7-4592-A975-73B1BF8C4C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Freeform 7">
            <a:extLst>
              <a:ext uri="{FF2B5EF4-FFF2-40B4-BE49-F238E27FC236}">
                <a16:creationId xmlns:a16="http://schemas.microsoft.com/office/drawing/2014/main" id="{EC471314-E46A-414B-8D91-74880E84F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entury Gothic" panose="020B0502020202020204"/>
              <a:ea typeface="+mn-ea"/>
              <a:cs typeface="+mn-cs"/>
            </a:endParaRPr>
          </a:p>
        </p:txBody>
      </p:sp>
      <p:sp useBgFill="1">
        <p:nvSpPr>
          <p:cNvPr id="36" name="Freeform: Shape 24">
            <a:extLst>
              <a:ext uri="{FF2B5EF4-FFF2-40B4-BE49-F238E27FC236}">
                <a16:creationId xmlns:a16="http://schemas.microsoft.com/office/drawing/2014/main" id="{6A681326-1C9D-44A3-A627-3871BDAE41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7" cy="5095933"/>
          </a:xfrm>
          <a:custGeom>
            <a:avLst/>
            <a:gdLst>
              <a:gd name="connsiteX0" fmla="*/ 0 w 12192417"/>
              <a:gd name="connsiteY0" fmla="*/ 0 h 5095933"/>
              <a:gd name="connsiteX1" fmla="*/ 71931 w 12192417"/>
              <a:gd name="connsiteY1" fmla="*/ 12261 h 5095933"/>
              <a:gd name="connsiteX2" fmla="*/ 282848 w 12192417"/>
              <a:gd name="connsiteY2" fmla="*/ 48343 h 5095933"/>
              <a:gd name="connsiteX3" fmla="*/ 436463 w 12192417"/>
              <a:gd name="connsiteY3" fmla="*/ 73565 h 5095933"/>
              <a:gd name="connsiteX4" fmla="*/ 619338 w 12192417"/>
              <a:gd name="connsiteY4" fmla="*/ 100188 h 5095933"/>
              <a:gd name="connsiteX5" fmla="*/ 836350 w 12192417"/>
              <a:gd name="connsiteY5" fmla="*/ 132066 h 5095933"/>
              <a:gd name="connsiteX6" fmla="*/ 1076527 w 12192417"/>
              <a:gd name="connsiteY6" fmla="*/ 165696 h 5095933"/>
              <a:gd name="connsiteX7" fmla="*/ 1347183 w 12192417"/>
              <a:gd name="connsiteY7" fmla="*/ 201077 h 5095933"/>
              <a:gd name="connsiteX8" fmla="*/ 1642222 w 12192417"/>
              <a:gd name="connsiteY8" fmla="*/ 238560 h 5095933"/>
              <a:gd name="connsiteX9" fmla="*/ 1962863 w 12192417"/>
              <a:gd name="connsiteY9" fmla="*/ 276043 h 5095933"/>
              <a:gd name="connsiteX10" fmla="*/ 2304231 w 12192417"/>
              <a:gd name="connsiteY10" fmla="*/ 314227 h 5095933"/>
              <a:gd name="connsiteX11" fmla="*/ 2672420 w 12192417"/>
              <a:gd name="connsiteY11" fmla="*/ 349608 h 5095933"/>
              <a:gd name="connsiteX12" fmla="*/ 3057677 w 12192417"/>
              <a:gd name="connsiteY12" fmla="*/ 383588 h 5095933"/>
              <a:gd name="connsiteX13" fmla="*/ 3464880 w 12192417"/>
              <a:gd name="connsiteY13" fmla="*/ 414415 h 5095933"/>
              <a:gd name="connsiteX14" fmla="*/ 3889151 w 12192417"/>
              <a:gd name="connsiteY14" fmla="*/ 443841 h 5095933"/>
              <a:gd name="connsiteX15" fmla="*/ 4331709 w 12192417"/>
              <a:gd name="connsiteY15" fmla="*/ 471515 h 5095933"/>
              <a:gd name="connsiteX16" fmla="*/ 4558475 w 12192417"/>
              <a:gd name="connsiteY16" fmla="*/ 481324 h 5095933"/>
              <a:gd name="connsiteX17" fmla="*/ 4790117 w 12192417"/>
              <a:gd name="connsiteY17" fmla="*/ 492183 h 5095933"/>
              <a:gd name="connsiteX18" fmla="*/ 5025417 w 12192417"/>
              <a:gd name="connsiteY18" fmla="*/ 502342 h 5095933"/>
              <a:gd name="connsiteX19" fmla="*/ 5261936 w 12192417"/>
              <a:gd name="connsiteY19" fmla="*/ 508998 h 5095933"/>
              <a:gd name="connsiteX20" fmla="*/ 5503331 w 12192417"/>
              <a:gd name="connsiteY20" fmla="*/ 514953 h 5095933"/>
              <a:gd name="connsiteX21" fmla="*/ 5747166 w 12192417"/>
              <a:gd name="connsiteY21" fmla="*/ 521259 h 5095933"/>
              <a:gd name="connsiteX22" fmla="*/ 5995876 w 12192417"/>
              <a:gd name="connsiteY22" fmla="*/ 525463 h 5095933"/>
              <a:gd name="connsiteX23" fmla="*/ 6247025 w 12192417"/>
              <a:gd name="connsiteY23" fmla="*/ 525463 h 5095933"/>
              <a:gd name="connsiteX24" fmla="*/ 6500612 w 12192417"/>
              <a:gd name="connsiteY24" fmla="*/ 527565 h 5095933"/>
              <a:gd name="connsiteX25" fmla="*/ 6756638 w 12192417"/>
              <a:gd name="connsiteY25" fmla="*/ 525463 h 5095933"/>
              <a:gd name="connsiteX26" fmla="*/ 7016321 w 12192417"/>
              <a:gd name="connsiteY26" fmla="*/ 521259 h 5095933"/>
              <a:gd name="connsiteX27" fmla="*/ 7276004 w 12192417"/>
              <a:gd name="connsiteY27" fmla="*/ 517406 h 5095933"/>
              <a:gd name="connsiteX28" fmla="*/ 7539344 w 12192417"/>
              <a:gd name="connsiteY28" fmla="*/ 508998 h 5095933"/>
              <a:gd name="connsiteX29" fmla="*/ 7805123 w 12192417"/>
              <a:gd name="connsiteY29" fmla="*/ 500241 h 5095933"/>
              <a:gd name="connsiteX30" fmla="*/ 8070902 w 12192417"/>
              <a:gd name="connsiteY30" fmla="*/ 490082 h 5095933"/>
              <a:gd name="connsiteX31" fmla="*/ 8339120 w 12192417"/>
              <a:gd name="connsiteY31" fmla="*/ 475719 h 5095933"/>
              <a:gd name="connsiteX32" fmla="*/ 8609775 w 12192417"/>
              <a:gd name="connsiteY32" fmla="*/ 458554 h 5095933"/>
              <a:gd name="connsiteX33" fmla="*/ 8881650 w 12192417"/>
              <a:gd name="connsiteY33" fmla="*/ 442089 h 5095933"/>
              <a:gd name="connsiteX34" fmla="*/ 9153525 w 12192417"/>
              <a:gd name="connsiteY34" fmla="*/ 421071 h 5095933"/>
              <a:gd name="connsiteX35" fmla="*/ 9429057 w 12192417"/>
              <a:gd name="connsiteY35" fmla="*/ 395849 h 5095933"/>
              <a:gd name="connsiteX36" fmla="*/ 9700932 w 12192417"/>
              <a:gd name="connsiteY36" fmla="*/ 370626 h 5095933"/>
              <a:gd name="connsiteX37" fmla="*/ 9977683 w 12192417"/>
              <a:gd name="connsiteY37" fmla="*/ 341551 h 5095933"/>
              <a:gd name="connsiteX38" fmla="*/ 10255654 w 12192417"/>
              <a:gd name="connsiteY38" fmla="*/ 309673 h 5095933"/>
              <a:gd name="connsiteX39" fmla="*/ 10529967 w 12192417"/>
              <a:gd name="connsiteY39" fmla="*/ 276043 h 5095933"/>
              <a:gd name="connsiteX40" fmla="*/ 10807938 w 12192417"/>
              <a:gd name="connsiteY40" fmla="*/ 236809 h 5095933"/>
              <a:gd name="connsiteX41" fmla="*/ 11084689 w 12192417"/>
              <a:gd name="connsiteY41" fmla="*/ 194772 h 5095933"/>
              <a:gd name="connsiteX42" fmla="*/ 11362660 w 12192417"/>
              <a:gd name="connsiteY42" fmla="*/ 153085 h 5095933"/>
              <a:gd name="connsiteX43" fmla="*/ 11639411 w 12192417"/>
              <a:gd name="connsiteY43" fmla="*/ 104392 h 5095933"/>
              <a:gd name="connsiteX44" fmla="*/ 11914944 w 12192417"/>
              <a:gd name="connsiteY44" fmla="*/ 54648 h 5095933"/>
              <a:gd name="connsiteX45" fmla="*/ 12191695 w 12192417"/>
              <a:gd name="connsiteY45" fmla="*/ 2452 h 5095933"/>
              <a:gd name="connsiteX46" fmla="*/ 12191695 w 12192417"/>
              <a:gd name="connsiteY46" fmla="*/ 2162231 h 5095933"/>
              <a:gd name="connsiteX47" fmla="*/ 12192417 w 12192417"/>
              <a:gd name="connsiteY47" fmla="*/ 2162231 h 5095933"/>
              <a:gd name="connsiteX48" fmla="*/ 12192417 w 12192417"/>
              <a:gd name="connsiteY48" fmla="*/ 5095933 h 5095933"/>
              <a:gd name="connsiteX49" fmla="*/ 0 w 12192417"/>
              <a:gd name="connsiteY49" fmla="*/ 5095933 h 5095933"/>
              <a:gd name="connsiteX50" fmla="*/ 0 w 12192417"/>
              <a:gd name="connsiteY50" fmla="*/ 2791958 h 5095933"/>
              <a:gd name="connsiteX51" fmla="*/ 0 w 12192417"/>
              <a:gd name="connsiteY51" fmla="*/ 2162231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417" h="5095933">
                <a:moveTo>
                  <a:pt x="0" y="0"/>
                </a:moveTo>
                <a:lnTo>
                  <a:pt x="71931" y="12261"/>
                </a:lnTo>
                <a:lnTo>
                  <a:pt x="282848" y="48343"/>
                </a:lnTo>
                <a:lnTo>
                  <a:pt x="436463" y="73565"/>
                </a:lnTo>
                <a:lnTo>
                  <a:pt x="619338" y="100188"/>
                </a:lnTo>
                <a:lnTo>
                  <a:pt x="836350" y="132066"/>
                </a:lnTo>
                <a:lnTo>
                  <a:pt x="1076527" y="165696"/>
                </a:lnTo>
                <a:lnTo>
                  <a:pt x="1347183" y="201077"/>
                </a:lnTo>
                <a:lnTo>
                  <a:pt x="1642222" y="238560"/>
                </a:lnTo>
                <a:lnTo>
                  <a:pt x="1962863" y="276043"/>
                </a:lnTo>
                <a:lnTo>
                  <a:pt x="2304231" y="314227"/>
                </a:lnTo>
                <a:lnTo>
                  <a:pt x="2672420" y="349608"/>
                </a:lnTo>
                <a:lnTo>
                  <a:pt x="3057677" y="383588"/>
                </a:lnTo>
                <a:lnTo>
                  <a:pt x="3464880" y="414415"/>
                </a:lnTo>
                <a:lnTo>
                  <a:pt x="3889151" y="443841"/>
                </a:lnTo>
                <a:lnTo>
                  <a:pt x="4331709" y="471515"/>
                </a:lnTo>
                <a:lnTo>
                  <a:pt x="4558475" y="481324"/>
                </a:lnTo>
                <a:lnTo>
                  <a:pt x="4790117" y="492183"/>
                </a:lnTo>
                <a:lnTo>
                  <a:pt x="5025417" y="502342"/>
                </a:lnTo>
                <a:lnTo>
                  <a:pt x="5261936" y="508998"/>
                </a:lnTo>
                <a:lnTo>
                  <a:pt x="5503331" y="514953"/>
                </a:lnTo>
                <a:lnTo>
                  <a:pt x="5747166" y="521259"/>
                </a:lnTo>
                <a:lnTo>
                  <a:pt x="5995876" y="525463"/>
                </a:lnTo>
                <a:lnTo>
                  <a:pt x="6247025" y="525463"/>
                </a:lnTo>
                <a:lnTo>
                  <a:pt x="6500612" y="527565"/>
                </a:lnTo>
                <a:lnTo>
                  <a:pt x="6756638" y="525463"/>
                </a:lnTo>
                <a:lnTo>
                  <a:pt x="7016321" y="521259"/>
                </a:lnTo>
                <a:lnTo>
                  <a:pt x="7276004" y="517406"/>
                </a:lnTo>
                <a:lnTo>
                  <a:pt x="7539344" y="508998"/>
                </a:lnTo>
                <a:lnTo>
                  <a:pt x="7805123" y="500241"/>
                </a:lnTo>
                <a:lnTo>
                  <a:pt x="8070902" y="490082"/>
                </a:lnTo>
                <a:lnTo>
                  <a:pt x="8339120" y="475719"/>
                </a:lnTo>
                <a:lnTo>
                  <a:pt x="8609775" y="458554"/>
                </a:lnTo>
                <a:lnTo>
                  <a:pt x="8881650" y="442089"/>
                </a:lnTo>
                <a:lnTo>
                  <a:pt x="9153525" y="421071"/>
                </a:lnTo>
                <a:lnTo>
                  <a:pt x="9429057" y="395849"/>
                </a:lnTo>
                <a:lnTo>
                  <a:pt x="9700932" y="370626"/>
                </a:lnTo>
                <a:lnTo>
                  <a:pt x="9977683" y="341551"/>
                </a:lnTo>
                <a:lnTo>
                  <a:pt x="10255654" y="309673"/>
                </a:lnTo>
                <a:lnTo>
                  <a:pt x="10529967" y="276043"/>
                </a:lnTo>
                <a:lnTo>
                  <a:pt x="10807938" y="236809"/>
                </a:lnTo>
                <a:lnTo>
                  <a:pt x="11084689" y="194772"/>
                </a:lnTo>
                <a:lnTo>
                  <a:pt x="11362660" y="153085"/>
                </a:lnTo>
                <a:lnTo>
                  <a:pt x="11639411" y="104392"/>
                </a:lnTo>
                <a:lnTo>
                  <a:pt x="11914944" y="54648"/>
                </a:lnTo>
                <a:lnTo>
                  <a:pt x="12191695" y="2452"/>
                </a:lnTo>
                <a:lnTo>
                  <a:pt x="12191695" y="2162231"/>
                </a:lnTo>
                <a:lnTo>
                  <a:pt x="12192417" y="2162231"/>
                </a:lnTo>
                <a:lnTo>
                  <a:pt x="12192417" y="5095933"/>
                </a:lnTo>
                <a:lnTo>
                  <a:pt x="0" y="5095933"/>
                </a:lnTo>
                <a:lnTo>
                  <a:pt x="0" y="2791958"/>
                </a:lnTo>
                <a:lnTo>
                  <a:pt x="0" y="2162231"/>
                </a:lnTo>
                <a:close/>
              </a:path>
            </a:pathLst>
          </a:custGeom>
          <a:ln>
            <a:noFill/>
          </a:ln>
        </p:spPr>
        <p:txBody>
          <a:bodyPr/>
          <a:lstStyle/>
          <a:p>
            <a:endParaRPr lang="en-US"/>
          </a:p>
        </p:txBody>
      </p:sp>
      <p:sp>
        <p:nvSpPr>
          <p:cNvPr id="2" name="Title 1">
            <a:extLst>
              <a:ext uri="{FF2B5EF4-FFF2-40B4-BE49-F238E27FC236}">
                <a16:creationId xmlns:a16="http://schemas.microsoft.com/office/drawing/2014/main" id="{3F5C3E49-1BA3-9F41-561B-FF18C0F3E7FD}"/>
              </a:ext>
            </a:extLst>
          </p:cNvPr>
          <p:cNvSpPr>
            <a:spLocks noGrp="1"/>
          </p:cNvSpPr>
          <p:nvPr>
            <p:ph type="title"/>
          </p:nvPr>
        </p:nvSpPr>
        <p:spPr>
          <a:xfrm>
            <a:off x="2101677" y="2909503"/>
            <a:ext cx="7270924" cy="1400530"/>
          </a:xfrm>
        </p:spPr>
        <p:txBody>
          <a:bodyPr anchor="ctr">
            <a:normAutofit/>
          </a:bodyPr>
          <a:lstStyle/>
          <a:p>
            <a:r>
              <a:rPr lang="fr-FR" b="1" dirty="0">
                <a:solidFill>
                  <a:schemeClr val="accent4">
                    <a:lumMod val="50000"/>
                  </a:schemeClr>
                </a:solidFill>
              </a:rPr>
              <a:t>Merci Pour Votre Attention!</a:t>
            </a:r>
            <a:endParaRPr lang="en-US" b="1" dirty="0">
              <a:solidFill>
                <a:schemeClr val="accent4">
                  <a:lumMod val="50000"/>
                </a:schemeClr>
              </a:solidFill>
            </a:endParaRPr>
          </a:p>
        </p:txBody>
      </p:sp>
    </p:spTree>
    <p:extLst>
      <p:ext uri="{BB962C8B-B14F-4D97-AF65-F5344CB8AC3E}">
        <p14:creationId xmlns:p14="http://schemas.microsoft.com/office/powerpoint/2010/main" val="1096341694"/>
      </p:ext>
    </p:extLst>
  </p:cSld>
  <p:clrMapOvr>
    <a:overrideClrMapping bg1="lt1" tx1="dk1" bg2="lt2" tx2="dk2" accent1="accent1" accent2="accent2" accent3="accent3" accent4="accent4" accent5="accent5" accent6="accent6" hlink="hlink" folHlink="folHlink"/>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0E5580"/>
      </a:dk2>
      <a:lt2>
        <a:srgbClr val="EBEBEB"/>
      </a:lt2>
      <a:accent1>
        <a:srgbClr val="ACD433"/>
      </a:accent1>
      <a:accent2>
        <a:srgbClr val="E6C133"/>
      </a:accent2>
      <a:accent3>
        <a:srgbClr val="EF7A24"/>
      </a:accent3>
      <a:accent4>
        <a:srgbClr val="5AA0F5"/>
      </a:accent4>
      <a:accent5>
        <a:srgbClr val="75CEEC"/>
      </a:accent5>
      <a:accent6>
        <a:srgbClr val="65D6A0"/>
      </a:accent6>
      <a:hlink>
        <a:srgbClr val="C4E46E"/>
      </a:hlink>
      <a:folHlink>
        <a:srgbClr val="BDE0F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2000"/>
                <a:hueMod val="96000"/>
                <a:satMod val="128000"/>
                <a:lumMod val="114000"/>
              </a:schemeClr>
            </a:gs>
            <a:gs pos="100000">
              <a:schemeClr val="phClr">
                <a:shade val="62000"/>
                <a:hueMod val="100000"/>
                <a:satMod val="134000"/>
                <a:lumMod val="56000"/>
              </a:schemeClr>
            </a:gs>
          </a:gsLst>
          <a:path path="circle">
            <a:fillToRect l="45000" t="65000" r="125000" b="100000"/>
          </a:path>
        </a:gradFill>
        <a:blipFill rotWithShape="1">
          <a:blip xmlns:r="http://schemas.openxmlformats.org/officeDocument/2006/relationships" r:embed="rId1">
            <a:duotone>
              <a:schemeClr val="phClr">
                <a:shade val="62000"/>
                <a:hueMod val="108000"/>
                <a:satMod val="164000"/>
                <a:lumMod val="69000"/>
              </a:schemeClr>
              <a:schemeClr val="phClr">
                <a:tint val="96000"/>
                <a:hueMod val="90000"/>
                <a:satMod val="130000"/>
                <a:lumMod val="134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BACC050B-8757-4460-95D8-E37B46A6B42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Ion</Template>
  <TotalTime>7600</TotalTime>
  <Words>1192</Words>
  <Application>Microsoft Office PowerPoint</Application>
  <PresentationFormat>Widescreen</PresentationFormat>
  <Paragraphs>141</Paragraphs>
  <Slides>19</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Aptos</vt:lpstr>
      <vt:lpstr>Aptos Narrow</vt:lpstr>
      <vt:lpstr>Century Gothic</vt:lpstr>
      <vt:lpstr>Wingdings</vt:lpstr>
      <vt:lpstr>Wingdings 3</vt:lpstr>
      <vt:lpstr>Ion</vt:lpstr>
      <vt:lpstr>5G Mobile Network Performance in France</vt:lpstr>
      <vt:lpstr>Agenda</vt:lpstr>
      <vt:lpstr>1. Business Question &amp; Objectives</vt:lpstr>
      <vt:lpstr>2. Data sources &amp; Collection</vt:lpstr>
      <vt:lpstr>3. End-to-End Data Pipeline Architecture</vt:lpstr>
      <vt:lpstr>4. ERD &amp; Relational Database</vt:lpstr>
      <vt:lpstr>5. BigQuery: Analytical Data Layer</vt:lpstr>
      <vt:lpstr>6. Initial EDA: Measurement Coverage &amp; Balance 1/2</vt:lpstr>
      <vt:lpstr>6. Initial EDA: Measurement Coverage &amp; Balance 2/2</vt:lpstr>
      <vt:lpstr>7. What Are the Performance Disparities?</vt:lpstr>
      <vt:lpstr>“Do these observed differences between operators/territories hold statistically?”</vt:lpstr>
      <vt:lpstr>8. Statistical Evidence: Do the Differences Hold?</vt:lpstr>
      <vt:lpstr>9. What Could Explain the Differences?</vt:lpstr>
      <vt:lpstr>9.1. Interpretation </vt:lpstr>
      <vt:lpstr>10. ML Process </vt:lpstr>
      <vt:lpstr>11. Final Conclusion</vt:lpstr>
      <vt:lpstr>12. Challenges and Next Steps</vt:lpstr>
      <vt:lpstr>13. Power BI Dashboard</vt:lpstr>
      <vt:lpstr>Merci Pour Votre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Zidène Ourdache</dc:creator>
  <cp:lastModifiedBy>Zidène Ourdache</cp:lastModifiedBy>
  <cp:revision>56</cp:revision>
  <cp:lastPrinted>2026-09-16T08:55:37Z</cp:lastPrinted>
  <dcterms:created xsi:type="dcterms:W3CDTF">2026-09-12T15:28:50Z</dcterms:created>
  <dcterms:modified xsi:type="dcterms:W3CDTF">2026-09-18T07:11:29Z</dcterms:modified>
</cp:coreProperties>
</file>