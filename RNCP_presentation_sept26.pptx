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x-e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94" r:id="rId3"/>
    <p:sldId id="275" r:id="rId4"/>
    <p:sldId id="259" r:id="rId5"/>
    <p:sldId id="277" r:id="rId6"/>
    <p:sldId id="279" r:id="rId7"/>
    <p:sldId id="278" r:id="rId8"/>
    <p:sldId id="282" r:id="rId9"/>
    <p:sldId id="283" r:id="rId10"/>
    <p:sldId id="284" r:id="rId11"/>
    <p:sldId id="285" r:id="rId12"/>
    <p:sldId id="291" r:id="rId13"/>
    <p:sldId id="288" r:id="rId14"/>
    <p:sldId id="289" r:id="rId15"/>
    <p:sldId id="290" r:id="rId16"/>
    <p:sldId id="293" r:id="rId17"/>
    <p:sldId id="29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72F6E-7BEA-4811-A32F-EB50B2D03A6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D1F29-6D9C-4F9A-84F0-0549FD512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6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D1F29-6D9C-4F9A-84F0-0549FD512D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23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71A0F-AD3E-3998-6079-4D7605810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1" y="1054986"/>
            <a:ext cx="6837650" cy="1464378"/>
          </a:xfrm>
        </p:spPr>
        <p:txBody>
          <a:bodyPr>
            <a:normAutofit/>
          </a:bodyPr>
          <a:lstStyle/>
          <a:p>
            <a:r>
              <a:rPr lang="en-US" sz="4400" b="1" dirty="0"/>
              <a:t>5G Mobile Network Performance in France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8CE50-17C1-A898-C0AE-BF54F32A3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1" y="3225949"/>
            <a:ext cx="7051963" cy="961587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Territorial disparities and potential explanatory factors</a:t>
            </a:r>
          </a:p>
        </p:txBody>
      </p:sp>
      <p:pic>
        <p:nvPicPr>
          <p:cNvPr id="5" name="Picture 4" descr="Cell towers">
            <a:extLst>
              <a:ext uri="{FF2B5EF4-FFF2-40B4-BE49-F238E27FC236}">
                <a16:creationId xmlns:a16="http://schemas.microsoft.com/office/drawing/2014/main" id="{F19B2EB2-D9F6-20A0-07A2-AB5FFCBA7A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494" r="-1" b="-1"/>
          <a:stretch>
            <a:fillRect/>
          </a:stretch>
        </p:blipFill>
        <p:spPr>
          <a:xfrm>
            <a:off x="8133050" y="10"/>
            <a:ext cx="405895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52FB517-FF87-4FC2-ACB8-95ECAD68B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71DED-CDC0-D8BB-11C6-7C6C84078201}"/>
              </a:ext>
            </a:extLst>
          </p:cNvPr>
          <p:cNvSpPr txBox="1"/>
          <p:nvPr/>
        </p:nvSpPr>
        <p:spPr>
          <a:xfrm>
            <a:off x="316057" y="4970689"/>
            <a:ext cx="4307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RNCP 37827 · Data Analyst Project</a:t>
            </a:r>
          </a:p>
          <a:p>
            <a:r>
              <a:rPr lang="en-US" dirty="0" err="1"/>
              <a:t>Ironhack</a:t>
            </a:r>
            <a:r>
              <a:rPr lang="en-US" dirty="0"/>
              <a:t> Data Analytics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5C4751-8333-5A08-1BEA-E4B3B700CC67}"/>
              </a:ext>
            </a:extLst>
          </p:cNvPr>
          <p:cNvSpPr txBox="1"/>
          <p:nvPr/>
        </p:nvSpPr>
        <p:spPr>
          <a:xfrm>
            <a:off x="4187535" y="5756935"/>
            <a:ext cx="35645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Zidène Aourdache</a:t>
            </a:r>
          </a:p>
          <a:p>
            <a:r>
              <a:rPr lang="en-US" dirty="0"/>
              <a:t>Sept. 2026</a:t>
            </a:r>
          </a:p>
        </p:txBody>
      </p:sp>
    </p:spTree>
    <p:extLst>
      <p:ext uri="{BB962C8B-B14F-4D97-AF65-F5344CB8AC3E}">
        <p14:creationId xmlns:p14="http://schemas.microsoft.com/office/powerpoint/2010/main" val="295706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117F0-1E7A-947C-17B7-267D9718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Agenda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212C8-1912-A313-3DE7-2775F79B9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475" y="1429464"/>
            <a:ext cx="8946541" cy="5189545"/>
          </a:xfrm>
        </p:spPr>
        <p:txBody>
          <a:bodyPr>
            <a:normAutofit/>
          </a:bodyPr>
          <a:lstStyle/>
          <a:p>
            <a:r>
              <a:rPr lang="en-US" b="1" dirty="0"/>
              <a:t>01 — Business Question &amp; Objectives</a:t>
            </a:r>
            <a:endParaRPr lang="en-US" dirty="0"/>
          </a:p>
          <a:p>
            <a:r>
              <a:rPr lang="en-US" b="1" dirty="0"/>
              <a:t>02 — Data Sources</a:t>
            </a:r>
            <a:endParaRPr lang="en-US" dirty="0"/>
          </a:p>
          <a:p>
            <a:r>
              <a:rPr lang="en-US" b="1" dirty="0"/>
              <a:t>03 — End-to-End Data Pipeline Architecture</a:t>
            </a:r>
            <a:endParaRPr lang="en-US" dirty="0"/>
          </a:p>
          <a:p>
            <a:r>
              <a:rPr lang="en-US" b="1" dirty="0"/>
              <a:t>04 — MySQL Relational Database</a:t>
            </a:r>
            <a:endParaRPr lang="en-US" dirty="0"/>
          </a:p>
          <a:p>
            <a:r>
              <a:rPr lang="en-US" b="1" dirty="0"/>
              <a:t>05 — </a:t>
            </a:r>
            <a:r>
              <a:rPr lang="en-US" b="1" dirty="0" err="1"/>
              <a:t>BigQuery</a:t>
            </a:r>
            <a:r>
              <a:rPr lang="en-US" b="1" dirty="0"/>
              <a:t>: Analytical Data Layer</a:t>
            </a:r>
            <a:endParaRPr lang="en-US" dirty="0"/>
          </a:p>
          <a:p>
            <a:r>
              <a:rPr lang="en-US" b="1" dirty="0"/>
              <a:t>06 — Measurement Coverage &amp; Balance</a:t>
            </a:r>
            <a:endParaRPr lang="en-US" dirty="0"/>
          </a:p>
          <a:p>
            <a:r>
              <a:rPr lang="en-US" b="1" dirty="0"/>
              <a:t>07 — What Are the Performance Disparities?</a:t>
            </a:r>
            <a:endParaRPr lang="en-US" dirty="0"/>
          </a:p>
          <a:p>
            <a:r>
              <a:rPr lang="en-US" b="1" dirty="0"/>
              <a:t>08 — Statistical Evidence: Do the Differences Hold?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09 — What Could Explain the Differences?</a:t>
            </a:r>
            <a:endParaRPr lang="en-US" dirty="0"/>
          </a:p>
          <a:p>
            <a:r>
              <a:rPr lang="en-US" b="1" dirty="0"/>
              <a:t>09.1 — Interpretation</a:t>
            </a:r>
            <a:endParaRPr lang="en-US" dirty="0"/>
          </a:p>
          <a:p>
            <a:r>
              <a:rPr lang="en-US" b="1" dirty="0"/>
              <a:t>10 — Final Conclusion</a:t>
            </a:r>
            <a:endParaRPr lang="en-US" dirty="0"/>
          </a:p>
          <a:p>
            <a:r>
              <a:rPr lang="en-US" b="1" dirty="0"/>
              <a:t>11 — Challenges &amp; Next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346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86D6-7DAF-BCAC-3FDA-4437780BB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7709"/>
          </a:xfrm>
        </p:spPr>
        <p:txBody>
          <a:bodyPr/>
          <a:lstStyle/>
          <a:p>
            <a:r>
              <a:rPr lang="en-US" b="1" dirty="0"/>
              <a:t>1. Business Question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4B548-16FD-0E29-1727-FF913F304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17262"/>
            <a:ext cx="8946541" cy="887709"/>
          </a:xfrm>
        </p:spPr>
        <p:txBody>
          <a:bodyPr/>
          <a:lstStyle/>
          <a:p>
            <a:r>
              <a:rPr lang="en-US" b="1" dirty="0"/>
              <a:t>Are there significant territorial inequalities in mobile network performance in France, and what can explain these disparities?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B654BB1-9296-7F8F-29F2-1A9E80205032}"/>
              </a:ext>
            </a:extLst>
          </p:cNvPr>
          <p:cNvSpPr txBox="1">
            <a:spLocks/>
          </p:cNvSpPr>
          <p:nvPr/>
        </p:nvSpPr>
        <p:spPr>
          <a:xfrm>
            <a:off x="803564" y="2904971"/>
            <a:ext cx="2070765" cy="434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fr-FR" sz="2200" b="1" dirty="0"/>
              <a:t>OBJECTIVES:</a:t>
            </a:r>
            <a:endParaRPr lang="en-US" sz="2200" b="1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505EF17-E0C4-699B-FB79-483C1BA69C4F}"/>
              </a:ext>
            </a:extLst>
          </p:cNvPr>
          <p:cNvSpPr txBox="1">
            <a:spLocks/>
          </p:cNvSpPr>
          <p:nvPr/>
        </p:nvSpPr>
        <p:spPr>
          <a:xfrm>
            <a:off x="803563" y="1327939"/>
            <a:ext cx="2916381" cy="5609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fr-FR" sz="2400" b="1" dirty="0"/>
              <a:t>BUSINESS QUESTION:</a:t>
            </a:r>
            <a:endParaRPr lang="en-US" sz="24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A576EF-7B8D-F02A-B01A-E2E73BD5CD4A}"/>
              </a:ext>
            </a:extLst>
          </p:cNvPr>
          <p:cNvSpPr/>
          <p:nvPr/>
        </p:nvSpPr>
        <p:spPr>
          <a:xfrm>
            <a:off x="526471" y="3678381"/>
            <a:ext cx="3470564" cy="1497574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2C78373-96D0-09B6-86BB-7A7413FC1964}"/>
              </a:ext>
            </a:extLst>
          </p:cNvPr>
          <p:cNvSpPr/>
          <p:nvPr/>
        </p:nvSpPr>
        <p:spPr>
          <a:xfrm>
            <a:off x="8194965" y="3678381"/>
            <a:ext cx="3470564" cy="1497574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65E91A-7D05-5D7B-F8AF-48AC2AB85FB8}"/>
              </a:ext>
            </a:extLst>
          </p:cNvPr>
          <p:cNvSpPr txBox="1"/>
          <p:nvPr/>
        </p:nvSpPr>
        <p:spPr>
          <a:xfrm>
            <a:off x="1104293" y="3699291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01 — Analyze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557A51-241E-EC2F-E21E-8E93EE410090}"/>
              </a:ext>
            </a:extLst>
          </p:cNvPr>
          <p:cNvSpPr txBox="1"/>
          <p:nvPr/>
        </p:nvSpPr>
        <p:spPr>
          <a:xfrm>
            <a:off x="646111" y="4191068"/>
            <a:ext cx="3307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5G network performance across key QoS indicators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AFEDD3-861F-13D0-A389-BF5761ED592C}"/>
              </a:ext>
            </a:extLst>
          </p:cNvPr>
          <p:cNvSpPr/>
          <p:nvPr/>
        </p:nvSpPr>
        <p:spPr>
          <a:xfrm>
            <a:off x="4360718" y="3678381"/>
            <a:ext cx="3470564" cy="1497574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C6E234-F5EE-B399-F63F-DB3E1742C458}"/>
              </a:ext>
            </a:extLst>
          </p:cNvPr>
          <p:cNvSpPr txBox="1"/>
          <p:nvPr/>
        </p:nvSpPr>
        <p:spPr>
          <a:xfrm>
            <a:off x="4970692" y="3699291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02 — Identify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2D5BF-D51F-DDA9-EECF-0F1652D9E596}"/>
              </a:ext>
            </a:extLst>
          </p:cNvPr>
          <p:cNvSpPr txBox="1"/>
          <p:nvPr/>
        </p:nvSpPr>
        <p:spPr>
          <a:xfrm>
            <a:off x="4512510" y="4191068"/>
            <a:ext cx="3307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Territorial and operator-level disparities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4EDA3A-026F-F130-D842-3152C9EF0519}"/>
              </a:ext>
            </a:extLst>
          </p:cNvPr>
          <p:cNvSpPr txBox="1"/>
          <p:nvPr/>
        </p:nvSpPr>
        <p:spPr>
          <a:xfrm>
            <a:off x="8815935" y="3699291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03 — Explore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1178EF-D160-833E-D462-12FBA4B51586}"/>
              </a:ext>
            </a:extLst>
          </p:cNvPr>
          <p:cNvSpPr txBox="1"/>
          <p:nvPr/>
        </p:nvSpPr>
        <p:spPr>
          <a:xfrm>
            <a:off x="8238113" y="4052568"/>
            <a:ext cx="3307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Potential factors associated with performance difference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7FC84E5E-B126-1769-7891-363D4535DB6F}"/>
              </a:ext>
            </a:extLst>
          </p:cNvPr>
          <p:cNvSpPr txBox="1">
            <a:spLocks/>
          </p:cNvSpPr>
          <p:nvPr/>
        </p:nvSpPr>
        <p:spPr>
          <a:xfrm>
            <a:off x="877133" y="5471215"/>
            <a:ext cx="2070765" cy="434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fr-FR" sz="2200" b="1" dirty="0"/>
              <a:t>SCOPE:</a:t>
            </a:r>
            <a:endParaRPr lang="en-US" sz="2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424EC0-1E2A-6B4E-19CE-5871A1C88317}"/>
              </a:ext>
            </a:extLst>
          </p:cNvPr>
          <p:cNvSpPr txBox="1"/>
          <p:nvPr/>
        </p:nvSpPr>
        <p:spPr>
          <a:xfrm>
            <a:off x="1923558" y="5906069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Metropolitan France · 2025(T3) · 5G QoS · 4 operators</a:t>
            </a:r>
          </a:p>
        </p:txBody>
      </p:sp>
    </p:spTree>
    <p:extLst>
      <p:ext uri="{BB962C8B-B14F-4D97-AF65-F5344CB8AC3E}">
        <p14:creationId xmlns:p14="http://schemas.microsoft.com/office/powerpoint/2010/main" val="749991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37B9-6064-E947-BFE6-555E1D42F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29139"/>
            <a:ext cx="4372698" cy="717374"/>
          </a:xfrm>
        </p:spPr>
        <p:txBody>
          <a:bodyPr/>
          <a:lstStyle/>
          <a:p>
            <a:r>
              <a:rPr lang="en-US" b="1" dirty="0"/>
              <a:t>2. Data sources</a:t>
            </a:r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49CA1F66-32C2-7987-B642-0E921884CA0F}"/>
              </a:ext>
            </a:extLst>
          </p:cNvPr>
          <p:cNvSpPr/>
          <p:nvPr/>
        </p:nvSpPr>
        <p:spPr>
          <a:xfrm>
            <a:off x="809297" y="1408388"/>
            <a:ext cx="3596448" cy="2060147"/>
          </a:xfrm>
          <a:prstGeom prst="flowChartDocumen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28987-19E8-100E-07C0-8A48FF288AEE}"/>
              </a:ext>
            </a:extLst>
          </p:cNvPr>
          <p:cNvSpPr txBox="1"/>
          <p:nvPr/>
        </p:nvSpPr>
        <p:spPr>
          <a:xfrm>
            <a:off x="809297" y="1764270"/>
            <a:ext cx="3565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File1: </a:t>
            </a:r>
            <a:r>
              <a:rPr lang="fr-FR" i="1" dirty="0"/>
              <a:t>5G_Mobile_QoS: </a:t>
            </a:r>
            <a:r>
              <a:rPr lang="en-US" b="1" dirty="0">
                <a:highlight>
                  <a:srgbClr val="808000"/>
                </a:highlight>
              </a:rPr>
              <a:t>317,998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FF9CF-FC64-DC74-109B-303A3C822599}"/>
              </a:ext>
            </a:extLst>
          </p:cNvPr>
          <p:cNvSpPr txBox="1"/>
          <p:nvPr/>
        </p:nvSpPr>
        <p:spPr>
          <a:xfrm>
            <a:off x="809297" y="1454871"/>
            <a:ext cx="963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ARCEP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5BB98F-A00A-A9CD-460A-8E18C260A7B8}"/>
              </a:ext>
            </a:extLst>
          </p:cNvPr>
          <p:cNvSpPr txBox="1"/>
          <p:nvPr/>
        </p:nvSpPr>
        <p:spPr>
          <a:xfrm>
            <a:off x="809297" y="2073668"/>
            <a:ext cx="3471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Source</a:t>
            </a:r>
            <a:r>
              <a:rPr lang="fr-FR" dirty="0"/>
              <a:t>:  "https://data.arcep.fr/mobile/</a:t>
            </a:r>
            <a:r>
              <a:rPr lang="fr-FR" dirty="0" err="1"/>
              <a:t>mesures_qualite_arcep</a:t>
            </a:r>
            <a:r>
              <a:rPr lang="fr-FR" dirty="0"/>
              <a:t>/2025/</a:t>
            </a:r>
            <a:r>
              <a:rPr lang="fr-FR" dirty="0" err="1"/>
              <a:t>Metropole</a:t>
            </a:r>
            <a:r>
              <a:rPr lang="fr-FR" dirty="0"/>
              <a:t>/"</a:t>
            </a:r>
            <a:endParaRPr lang="en-US" dirty="0"/>
          </a:p>
        </p:txBody>
      </p:sp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D8082410-3BCC-4FFA-A17A-23747747AD64}"/>
              </a:ext>
            </a:extLst>
          </p:cNvPr>
          <p:cNvSpPr/>
          <p:nvPr/>
        </p:nvSpPr>
        <p:spPr>
          <a:xfrm>
            <a:off x="5450969" y="1408387"/>
            <a:ext cx="3596448" cy="2060147"/>
          </a:xfrm>
          <a:prstGeom prst="flowChartDocumen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4FB69D-8E10-D52F-5ACC-648B486EE79F}"/>
              </a:ext>
            </a:extLst>
          </p:cNvPr>
          <p:cNvSpPr txBox="1"/>
          <p:nvPr/>
        </p:nvSpPr>
        <p:spPr>
          <a:xfrm>
            <a:off x="5450969" y="1482138"/>
            <a:ext cx="963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ARCEP</a:t>
            </a:r>
            <a:endParaRPr 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D874F8-D429-9289-117B-2F9C118C7C18}"/>
              </a:ext>
            </a:extLst>
          </p:cNvPr>
          <p:cNvSpPr txBox="1"/>
          <p:nvPr/>
        </p:nvSpPr>
        <p:spPr>
          <a:xfrm>
            <a:off x="5450969" y="1764270"/>
            <a:ext cx="3719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File2:  </a:t>
            </a:r>
            <a:r>
              <a:rPr lang="fr-FR" i="1" dirty="0" err="1"/>
              <a:t>Operators</a:t>
            </a:r>
            <a:r>
              <a:rPr lang="fr-FR" b="1" i="1" dirty="0"/>
              <a:t>’</a:t>
            </a:r>
            <a:r>
              <a:rPr lang="fr-FR" i="1" dirty="0"/>
              <a:t> sites: </a:t>
            </a:r>
            <a:r>
              <a:rPr lang="en-US" b="1" dirty="0">
                <a:highlight>
                  <a:srgbClr val="808000"/>
                </a:highlight>
              </a:rPr>
              <a:t>118,087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70FD54-6884-22F1-BF64-60C8D5F45789}"/>
              </a:ext>
            </a:extLst>
          </p:cNvPr>
          <p:cNvSpPr txBox="1"/>
          <p:nvPr/>
        </p:nvSpPr>
        <p:spPr>
          <a:xfrm>
            <a:off x="5450969" y="2133683"/>
            <a:ext cx="107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Source</a:t>
            </a:r>
            <a:r>
              <a:rPr lang="fr-FR" sz="1800" dirty="0"/>
              <a:t>: 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EB48F7-FBF0-5CD2-BAAA-2644FDB5E370}"/>
              </a:ext>
            </a:extLst>
          </p:cNvPr>
          <p:cNvSpPr txBox="1"/>
          <p:nvPr/>
        </p:nvSpPr>
        <p:spPr>
          <a:xfrm>
            <a:off x="5450969" y="2460328"/>
            <a:ext cx="2986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"https://data.arcep.fr/mobile/sites/"</a:t>
            </a:r>
            <a:endParaRPr lang="en-US" dirty="0"/>
          </a:p>
        </p:txBody>
      </p:sp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B8F4CCFA-D9B7-D6B0-973B-E7FA4733A58E}"/>
              </a:ext>
            </a:extLst>
          </p:cNvPr>
          <p:cNvSpPr/>
          <p:nvPr/>
        </p:nvSpPr>
        <p:spPr>
          <a:xfrm>
            <a:off x="746951" y="3595987"/>
            <a:ext cx="3596448" cy="2060147"/>
          </a:xfrm>
          <a:prstGeom prst="flowChartDocumen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845B9B-BEE7-0D89-D8B0-C0532BEBBD6C}"/>
              </a:ext>
            </a:extLst>
          </p:cNvPr>
          <p:cNvSpPr txBox="1"/>
          <p:nvPr/>
        </p:nvSpPr>
        <p:spPr>
          <a:xfrm>
            <a:off x="746951" y="3889967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File3: </a:t>
            </a:r>
            <a:r>
              <a:rPr lang="fr-FR" dirty="0"/>
              <a:t>Population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0653F7-260F-DCE5-6D12-E62657F37DFC}"/>
              </a:ext>
            </a:extLst>
          </p:cNvPr>
          <p:cNvSpPr txBox="1"/>
          <p:nvPr/>
        </p:nvSpPr>
        <p:spPr>
          <a:xfrm>
            <a:off x="746951" y="3580568"/>
            <a:ext cx="963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INSEE</a:t>
            </a:r>
            <a:endParaRPr 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831E57-4A74-C92E-F991-0458AD3E59CB}"/>
              </a:ext>
            </a:extLst>
          </p:cNvPr>
          <p:cNvSpPr txBox="1"/>
          <p:nvPr/>
        </p:nvSpPr>
        <p:spPr>
          <a:xfrm>
            <a:off x="746951" y="4199365"/>
            <a:ext cx="3471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Source</a:t>
            </a:r>
            <a:r>
              <a:rPr lang="fr-FR" dirty="0"/>
              <a:t>:  "https://api.insee.fr/</a:t>
            </a:r>
            <a:r>
              <a:rPr lang="fr-FR" dirty="0" err="1"/>
              <a:t>melodi</a:t>
            </a:r>
            <a:r>
              <a:rPr lang="fr-FR" dirty="0"/>
              <a:t>/data/</a:t>
            </a:r>
            <a:endParaRPr lang="en-US" dirty="0"/>
          </a:p>
        </p:txBody>
      </p:sp>
      <p:sp>
        <p:nvSpPr>
          <p:cNvPr id="33" name="Flowchart: Document 32">
            <a:extLst>
              <a:ext uri="{FF2B5EF4-FFF2-40B4-BE49-F238E27FC236}">
                <a16:creationId xmlns:a16="http://schemas.microsoft.com/office/drawing/2014/main" id="{A84C7154-DC3A-8BBC-14F3-D517D674B72E}"/>
              </a:ext>
            </a:extLst>
          </p:cNvPr>
          <p:cNvSpPr/>
          <p:nvPr/>
        </p:nvSpPr>
        <p:spPr>
          <a:xfrm>
            <a:off x="5450969" y="3685407"/>
            <a:ext cx="3596448" cy="2060147"/>
          </a:xfrm>
          <a:prstGeom prst="flowChartDocumen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4DBA41-147D-39C8-D643-970A6E6E7A39}"/>
              </a:ext>
            </a:extLst>
          </p:cNvPr>
          <p:cNvSpPr txBox="1"/>
          <p:nvPr/>
        </p:nvSpPr>
        <p:spPr>
          <a:xfrm>
            <a:off x="5450969" y="3979387"/>
            <a:ext cx="338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File3: </a:t>
            </a:r>
            <a:r>
              <a:rPr lang="fr-FR" dirty="0"/>
              <a:t>Insee Geo: </a:t>
            </a:r>
            <a:r>
              <a:rPr lang="en-US" b="1" dirty="0">
                <a:highlight>
                  <a:srgbClr val="808000"/>
                </a:highlight>
              </a:rPr>
              <a:t>34,875</a:t>
            </a:r>
            <a:r>
              <a:rPr lang="en-US" dirty="0">
                <a:highlight>
                  <a:srgbClr val="808000"/>
                </a:highlight>
              </a:rPr>
              <a:t> </a:t>
            </a:r>
            <a:r>
              <a:rPr lang="en-US" b="1" dirty="0">
                <a:highlight>
                  <a:srgbClr val="808000"/>
                </a:highlight>
              </a:rPr>
              <a:t>com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F69BFA-D28B-4F99-793A-327A29D88141}"/>
              </a:ext>
            </a:extLst>
          </p:cNvPr>
          <p:cNvSpPr txBox="1"/>
          <p:nvPr/>
        </p:nvSpPr>
        <p:spPr>
          <a:xfrm>
            <a:off x="5450969" y="3669988"/>
            <a:ext cx="963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INSEE</a:t>
            </a:r>
            <a:endParaRPr 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E10A13-ADA5-6EC4-26AC-40ED13EE09BD}"/>
              </a:ext>
            </a:extLst>
          </p:cNvPr>
          <p:cNvSpPr txBox="1"/>
          <p:nvPr/>
        </p:nvSpPr>
        <p:spPr>
          <a:xfrm>
            <a:off x="5450969" y="4288785"/>
            <a:ext cx="3471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flat file  ‘.csv’</a:t>
            </a:r>
            <a:r>
              <a:rPr lang="fr-FR" dirty="0"/>
              <a:t>)</a:t>
            </a:r>
          </a:p>
          <a:p>
            <a:r>
              <a:rPr lang="fr-FR" dirty="0"/>
              <a:t>Source: "https://www.insee.fr/</a:t>
            </a:r>
            <a:endParaRPr lang="en-US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4DC0BB59-7C35-E370-013A-D442036ED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909" y="5995019"/>
            <a:ext cx="5680444" cy="545630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Common Geographic key: </a:t>
            </a:r>
            <a:r>
              <a:rPr lang="en-US" b="1" dirty="0" err="1"/>
              <a:t>insee_com</a:t>
            </a:r>
            <a:endParaRPr lang="en-US" b="1" dirty="0"/>
          </a:p>
          <a:p>
            <a:endParaRPr lang="en-US" b="1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A923F92-E9EE-D856-C50C-77A3A296E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362349">
            <a:off x="3361601" y="1062565"/>
            <a:ext cx="1112044" cy="59107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9740C07-A936-2941-2597-C308E057B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362349">
            <a:off x="8586130" y="907957"/>
            <a:ext cx="1112044" cy="59107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FE023A3-A0F9-5A42-DD49-CC5EFD4EA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975" y="3646052"/>
            <a:ext cx="782079" cy="79945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65C51772-373A-1C6D-E6DD-8CF5F9F4D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2725" y="3708712"/>
            <a:ext cx="772792" cy="67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10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D9A12-4589-EAB6-7243-EF9486F3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rgbClr val="FFFFFF"/>
                </a:solidFill>
              </a:rPr>
              <a:t>3. End-to-End Data Pipeline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C9D6A0-61E4-0417-30B3-D1C78B62268D}"/>
              </a:ext>
            </a:extLst>
          </p:cNvPr>
          <p:cNvPicPr>
            <a:picLocks/>
          </p:cNvPicPr>
          <p:nvPr/>
        </p:nvPicPr>
        <p:blipFill>
          <a:blip r:embed="rId2"/>
          <a:srcRect l="16742" t="4441" r="16956" b="38492"/>
          <a:stretch>
            <a:fillRect/>
          </a:stretch>
        </p:blipFill>
        <p:spPr>
          <a:xfrm>
            <a:off x="5459527" y="228600"/>
            <a:ext cx="624155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17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1D47B-F406-7C15-9D9D-C7C67C023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59" y="1334814"/>
            <a:ext cx="8761795" cy="5379605"/>
          </a:xfrm>
          <a:prstGeom prst="rect">
            <a:avLst/>
          </a:prstGeom>
          <a:ln w="38100" cap="sq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27C8610-69B8-785A-4B4D-FF0762BB9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388" y="148266"/>
            <a:ext cx="8947150" cy="74511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4. MySQL Relational Database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B34AFD6-5A39-9CA4-72DA-72FCD55522D3}"/>
              </a:ext>
            </a:extLst>
          </p:cNvPr>
          <p:cNvSpPr txBox="1">
            <a:spLocks/>
          </p:cNvSpPr>
          <p:nvPr/>
        </p:nvSpPr>
        <p:spPr>
          <a:xfrm>
            <a:off x="2042244" y="814462"/>
            <a:ext cx="7327180" cy="6570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>
                <a:solidFill>
                  <a:schemeClr val="bg1"/>
                </a:solidFill>
              </a:rPr>
              <a:t>From clean data to relational database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852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F07BA-88C1-C0D0-752F-629891C7B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2337501"/>
          </a:xfrm>
        </p:spPr>
        <p:txBody>
          <a:bodyPr>
            <a:normAutofit/>
          </a:bodyPr>
          <a:lstStyle/>
          <a:p>
            <a:pPr algn="r"/>
            <a:r>
              <a:rPr lang="fr-FR" b="1" dirty="0">
                <a:solidFill>
                  <a:srgbClr val="FFFFFF"/>
                </a:solidFill>
              </a:rPr>
              <a:t>5. </a:t>
            </a:r>
            <a:r>
              <a:rPr lang="en-US" b="1" dirty="0" err="1">
                <a:solidFill>
                  <a:srgbClr val="FFFFFF"/>
                </a:solidFill>
              </a:rPr>
              <a:t>BigQuery</a:t>
            </a:r>
            <a:r>
              <a:rPr lang="en-US" b="1" dirty="0">
                <a:solidFill>
                  <a:srgbClr val="FFFFFF"/>
                </a:solidFill>
              </a:rPr>
              <a:t>: Analytical Data Layer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EAAF2C-1997-BECA-AAF4-F1C55B247E3C}"/>
              </a:ext>
            </a:extLst>
          </p:cNvPr>
          <p:cNvPicPr>
            <a:picLocks/>
          </p:cNvPicPr>
          <p:nvPr/>
        </p:nvPicPr>
        <p:blipFill>
          <a:blip r:embed="rId2"/>
          <a:srcRect l="16742" t="61447" r="16956" b="15925"/>
          <a:stretch>
            <a:fillRect/>
          </a:stretch>
        </p:blipFill>
        <p:spPr>
          <a:xfrm>
            <a:off x="5183188" y="2106247"/>
            <a:ext cx="6472784" cy="321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41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62671-3CB5-21D2-ACC2-4E777458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6. Measurement Coverage &amp; Balance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E59CBA0-F2E4-D896-CD73-184FD5BCD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86904" y="2609172"/>
            <a:ext cx="3748552" cy="3174774"/>
          </a:xfrm>
          <a:prstGeom prst="rect">
            <a:avLst/>
          </a:prstGeom>
          <a:ln w="38100" cap="sq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DD21FF-6ACA-754E-A117-5D59BBFDF698}"/>
              </a:ext>
            </a:extLst>
          </p:cNvPr>
          <p:cNvSpPr txBox="1"/>
          <p:nvPr/>
        </p:nvSpPr>
        <p:spPr>
          <a:xfrm>
            <a:off x="9653324" y="4246062"/>
            <a:ext cx="1015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299340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CEA09-2893-A3D5-BA00-C29F93510FB7}"/>
              </a:ext>
            </a:extLst>
          </p:cNvPr>
          <p:cNvSpPr txBox="1"/>
          <p:nvPr/>
        </p:nvSpPr>
        <p:spPr>
          <a:xfrm>
            <a:off x="10611095" y="3164837"/>
            <a:ext cx="16497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50000"/>
                  </a:schemeClr>
                </a:solidFill>
              </a:rPr>
              <a:t>1486 communes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8CF15D-2604-FFC2-773F-6F6CAA895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00" y="2609177"/>
            <a:ext cx="4299429" cy="3174774"/>
          </a:xfrm>
          <a:prstGeom prst="rect">
            <a:avLst/>
          </a:prstGeom>
          <a:ln w="38100" cap="sq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2EBBF1-1941-A1C8-15AC-0EFDADD13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173" y="2609173"/>
            <a:ext cx="3546046" cy="3174775"/>
          </a:xfrm>
          <a:prstGeom prst="rect">
            <a:avLst/>
          </a:prstGeom>
          <a:ln w="38100" cap="sq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FC6155C-8F96-DA7F-A237-14E39EAFD283}"/>
              </a:ext>
            </a:extLst>
          </p:cNvPr>
          <p:cNvSpPr txBox="1">
            <a:spLocks/>
          </p:cNvSpPr>
          <p:nvPr/>
        </p:nvSpPr>
        <p:spPr>
          <a:xfrm>
            <a:off x="3039494" y="6085783"/>
            <a:ext cx="6613829" cy="545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900" b="1" dirty="0"/>
              <a:t>Measurements are evenly distributed on operators</a:t>
            </a:r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248185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BC374-7070-A86A-3CDC-7FE2FC33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558" y="100181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7. What Are the Performance Disparities?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80AEE-1025-01AB-CAB9-DDF3C4C9BB19}"/>
              </a:ext>
            </a:extLst>
          </p:cNvPr>
          <p:cNvSpPr txBox="1"/>
          <p:nvPr/>
        </p:nvSpPr>
        <p:spPr>
          <a:xfrm>
            <a:off x="482649" y="2676207"/>
            <a:ext cx="299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01 — Operator disparities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5D5AAA-7B28-58B2-7A85-1E8200E7B4B5}"/>
              </a:ext>
            </a:extLst>
          </p:cNvPr>
          <p:cNvSpPr txBox="1"/>
          <p:nvPr/>
        </p:nvSpPr>
        <p:spPr>
          <a:xfrm>
            <a:off x="4350988" y="2699152"/>
            <a:ext cx="2986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02 — Territorial disparities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DB6F17-2D42-35FE-88A4-F290F2FC4403}"/>
              </a:ext>
            </a:extLst>
          </p:cNvPr>
          <p:cNvSpPr txBox="1"/>
          <p:nvPr/>
        </p:nvSpPr>
        <p:spPr>
          <a:xfrm>
            <a:off x="7812687" y="2676207"/>
            <a:ext cx="4092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03 — Radio environment disparities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4494016-2B4C-35D8-0C00-7CCD00788671}"/>
              </a:ext>
            </a:extLst>
          </p:cNvPr>
          <p:cNvSpPr/>
          <p:nvPr/>
        </p:nvSpPr>
        <p:spPr>
          <a:xfrm>
            <a:off x="244733" y="2568668"/>
            <a:ext cx="3470564" cy="593929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66DF0D0-C2FF-6107-5965-9FFB4F425E95}"/>
              </a:ext>
            </a:extLst>
          </p:cNvPr>
          <p:cNvSpPr/>
          <p:nvPr/>
        </p:nvSpPr>
        <p:spPr>
          <a:xfrm>
            <a:off x="4135941" y="2545646"/>
            <a:ext cx="3470564" cy="616951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77F017-5145-A7A5-1B94-BBE41DD06D96}"/>
              </a:ext>
            </a:extLst>
          </p:cNvPr>
          <p:cNvSpPr/>
          <p:nvPr/>
        </p:nvSpPr>
        <p:spPr>
          <a:xfrm>
            <a:off x="7805961" y="2545093"/>
            <a:ext cx="4141305" cy="616951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338B7A0-3084-07D1-537B-FEF07F443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3347376"/>
            <a:ext cx="5120497" cy="2698400"/>
          </a:xfrm>
          <a:prstGeom prst="rect">
            <a:avLst/>
          </a:prstGeom>
          <a:ln w="38100" cap="sq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E80B74B-863A-5C28-A63D-3C8048E8E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711" y="3347375"/>
            <a:ext cx="4697949" cy="2698400"/>
          </a:xfrm>
          <a:prstGeom prst="rect">
            <a:avLst/>
          </a:prstGeom>
          <a:ln w="38100" cap="sq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069A94E-5B41-D8C7-A11E-C1208F83A540}"/>
              </a:ext>
            </a:extLst>
          </p:cNvPr>
          <p:cNvSpPr txBox="1">
            <a:spLocks/>
          </p:cNvSpPr>
          <p:nvPr/>
        </p:nvSpPr>
        <p:spPr>
          <a:xfrm>
            <a:off x="1950441" y="1540185"/>
            <a:ext cx="6613829" cy="430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</a:rPr>
              <a:t>Where do we observe differences in 5G performance? </a:t>
            </a:r>
          </a:p>
          <a:p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001A66E-3B88-8359-60CB-86C129CFB03E}"/>
              </a:ext>
            </a:extLst>
          </p:cNvPr>
          <p:cNvSpPr txBox="1">
            <a:spLocks/>
          </p:cNvSpPr>
          <p:nvPr/>
        </p:nvSpPr>
        <p:spPr>
          <a:xfrm>
            <a:off x="581892" y="6190272"/>
            <a:ext cx="11242964" cy="430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b="1" dirty="0"/>
              <a:t>KEY OBSERVATION: 5G performance differs both between operators and  across territories.  Download speed is used as the main KPI for the next steps (explanatory analysis.)</a:t>
            </a:r>
          </a:p>
        </p:txBody>
      </p:sp>
    </p:spTree>
    <p:extLst>
      <p:ext uri="{BB962C8B-B14F-4D97-AF65-F5344CB8AC3E}">
        <p14:creationId xmlns:p14="http://schemas.microsoft.com/office/powerpoint/2010/main" val="26564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4B7CD-AE54-92E9-2C16-DABD8D9C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619" y="3171309"/>
            <a:ext cx="9810093" cy="1400530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“Do these observed differences between operators/territories hold statistically?”</a:t>
            </a:r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263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E76C1-3D4A-93FB-BC94-43F7FD3C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8. Statistical Evidence: Do the Differences Hold?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3D6B2-1390-EF2C-6390-4CE32DDBF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404723" cy="419548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1. Hypotheses</a:t>
            </a:r>
          </a:p>
          <a:p>
            <a:pPr lvl="1"/>
            <a:r>
              <a:rPr lang="en-US" b="1" dirty="0"/>
              <a:t>H₀ — Null hypothesis: </a:t>
            </a:r>
            <a:r>
              <a:rPr lang="en-US" dirty="0"/>
              <a:t>Mean download speed is equal across the four operators.</a:t>
            </a:r>
          </a:p>
          <a:p>
            <a:pPr lvl="1"/>
            <a:r>
              <a:rPr lang="en-US" b="1" dirty="0"/>
              <a:t>H₁ — Alternative hypothesis  </a:t>
            </a:r>
            <a:r>
              <a:rPr lang="en-US" dirty="0"/>
              <a:t>At least one operator has a different mean download speed.</a:t>
            </a:r>
          </a:p>
          <a:p>
            <a:r>
              <a:rPr lang="en-US" b="1" dirty="0"/>
              <a:t>2. Main result</a:t>
            </a:r>
          </a:p>
          <a:p>
            <a:pPr lvl="1"/>
            <a:r>
              <a:rPr lang="en-US" b="1" dirty="0"/>
              <a:t>Test: ANOVA: comparison between more than 3 means, independent observations</a:t>
            </a:r>
            <a:endParaRPr lang="en-US" dirty="0"/>
          </a:p>
          <a:p>
            <a:pPr lvl="1"/>
            <a:r>
              <a:rPr lang="en-US" b="1" dirty="0"/>
              <a:t>F = 32.44</a:t>
            </a:r>
            <a:br>
              <a:rPr lang="en-US" dirty="0"/>
            </a:br>
            <a:r>
              <a:rPr lang="en-US" b="1" dirty="0"/>
              <a:t>p &lt; 0.001</a:t>
            </a:r>
          </a:p>
          <a:p>
            <a:pPr marL="0" indent="0" latinLnBrk="1">
              <a:buNone/>
            </a:pPr>
            <a:r>
              <a:rPr lang="en-US" b="1" dirty="0">
                <a:sym typeface="Wingdings" panose="05000000000000000000" pitchFamily="2" charset="2"/>
              </a:rPr>
              <a:t></a:t>
            </a:r>
            <a:r>
              <a:rPr lang="en-US" dirty="0"/>
              <a:t>p &lt; 0.05 → </a:t>
            </a:r>
            <a:r>
              <a:rPr lang="en-US" b="1" dirty="0">
                <a:highlight>
                  <a:srgbClr val="808000"/>
                </a:highlight>
              </a:rPr>
              <a:t>Reject H₀: </a:t>
            </a:r>
            <a:r>
              <a:rPr lang="en-US" dirty="0"/>
              <a:t>There is statistically significant evidence that the four operators do not all have the same mean download speed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741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346DA4-93D0-52C7-03AD-9197670F1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90" y="1873196"/>
            <a:ext cx="6845118" cy="2293081"/>
          </a:xfrm>
          <a:prstGeom prst="rect">
            <a:avLst/>
          </a:prstGeom>
          <a:ln w="38100" cap="sq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ACB85A9-BD8D-800A-EC91-78FB4FA04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89" y="4308578"/>
            <a:ext cx="6845118" cy="2429683"/>
          </a:xfrm>
          <a:prstGeom prst="rect">
            <a:avLst/>
          </a:prstGeom>
          <a:ln w="38100" cap="sq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43DE2D4-B591-2EAB-5CAA-C8A554203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813" y="1873196"/>
            <a:ext cx="4898897" cy="4865065"/>
          </a:xfrm>
          <a:prstGeom prst="rect">
            <a:avLst/>
          </a:prstGeom>
          <a:ln w="38100" cap="sq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FE9861F3-97D7-AC20-2881-74616FE10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84" y="273596"/>
            <a:ext cx="10295516" cy="92927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9. What Could Explain the Differences?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0FB22D-0C20-FE84-5911-B4404B42173F}"/>
              </a:ext>
            </a:extLst>
          </p:cNvPr>
          <p:cNvSpPr txBox="1"/>
          <p:nvPr/>
        </p:nvSpPr>
        <p:spPr>
          <a:xfrm>
            <a:off x="1172007" y="1205020"/>
            <a:ext cx="9847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Which territorial and network factors are associated with 5G performance?</a:t>
            </a:r>
          </a:p>
        </p:txBody>
      </p:sp>
    </p:spTree>
    <p:extLst>
      <p:ext uri="{BB962C8B-B14F-4D97-AF65-F5344CB8AC3E}">
        <p14:creationId xmlns:p14="http://schemas.microsoft.com/office/powerpoint/2010/main" val="3124106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1512-3512-1574-8E10-D21BACFB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456" y="290946"/>
            <a:ext cx="9404723" cy="862445"/>
          </a:xfrm>
        </p:spPr>
        <p:txBody>
          <a:bodyPr/>
          <a:lstStyle/>
          <a:p>
            <a:r>
              <a:rPr lang="fr-FR" sz="4400" b="1" dirty="0">
                <a:solidFill>
                  <a:schemeClr val="tx1"/>
                </a:solidFill>
              </a:rPr>
              <a:t>9.1. </a:t>
            </a:r>
            <a:r>
              <a:rPr lang="fr-FR" sz="4400" b="1" dirty="0" err="1">
                <a:solidFill>
                  <a:schemeClr val="tx1"/>
                </a:solidFill>
              </a:rPr>
              <a:t>Interpretation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F590D-9D2C-FB01-28CF-3ED252722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9255"/>
            <a:ext cx="11191009" cy="5443649"/>
          </a:xfrm>
        </p:spPr>
        <p:txBody>
          <a:bodyPr>
            <a:normAutofit/>
          </a:bodyPr>
          <a:lstStyle/>
          <a:p>
            <a:r>
              <a:rPr lang="en-US" sz="2400" b="1" dirty="0"/>
              <a:t>Population</a:t>
            </a:r>
            <a:endParaRPr lang="en-US" sz="2400" dirty="0"/>
          </a:p>
          <a:p>
            <a:pPr lvl="1"/>
            <a:r>
              <a:rPr lang="en-US" sz="2000" dirty="0"/>
              <a:t>Positive overall relationship with download speed</a:t>
            </a:r>
          </a:p>
          <a:p>
            <a:pPr lvl="1"/>
            <a:r>
              <a:rPr lang="en-US" sz="2000" dirty="0"/>
              <a:t>More populated regions tend to show higher measured performance</a:t>
            </a:r>
          </a:p>
          <a:p>
            <a:pPr lvl="1"/>
            <a:r>
              <a:rPr lang="en-US" sz="2000" dirty="0"/>
              <a:t>Yet operators remain clearly separated at similar population levels</a:t>
            </a:r>
          </a:p>
          <a:p>
            <a:r>
              <a:rPr lang="en-US" sz="2400" b="1" dirty="0"/>
              <a:t>📡 5G Deployment</a:t>
            </a:r>
            <a:endParaRPr lang="en-US" sz="2400" dirty="0"/>
          </a:p>
          <a:p>
            <a:pPr lvl="1"/>
            <a:r>
              <a:rPr lang="en-US" sz="2000" dirty="0"/>
              <a:t>Positive relationship between the number of pure 5G sites and download performance</a:t>
            </a:r>
          </a:p>
          <a:p>
            <a:pPr lvl="1"/>
            <a:r>
              <a:rPr lang="en-US" sz="2000" dirty="0"/>
              <a:t>Network infrastructure therefore appears to be an important factor</a:t>
            </a:r>
          </a:p>
          <a:p>
            <a:r>
              <a:rPr lang="en-US" sz="2400" b="1" dirty="0"/>
              <a:t>📶 Radio Conditions</a:t>
            </a:r>
            <a:endParaRPr lang="en-US" sz="2400" dirty="0"/>
          </a:p>
          <a:p>
            <a:pPr lvl="1"/>
            <a:r>
              <a:rPr lang="en-US" sz="2000" dirty="0"/>
              <a:t>Better RSRP is associated with higher download performance</a:t>
            </a:r>
          </a:p>
          <a:p>
            <a:pPr lvl="1"/>
            <a:r>
              <a:rPr lang="en-US" sz="2000" dirty="0"/>
              <a:t>Radio environment contributes to the observed differences</a:t>
            </a:r>
          </a:p>
          <a:p>
            <a:endParaRPr lang="en-US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69D12E-998A-76B0-B86F-F77BBB57C6D1}"/>
              </a:ext>
            </a:extLst>
          </p:cNvPr>
          <p:cNvSpPr txBox="1">
            <a:spLocks/>
          </p:cNvSpPr>
          <p:nvPr/>
        </p:nvSpPr>
        <p:spPr>
          <a:xfrm>
            <a:off x="114300" y="6099079"/>
            <a:ext cx="11346874" cy="6538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highlight>
                  <a:srgbClr val="808000"/>
                </a:highlight>
                <a:sym typeface="Wingdings" panose="05000000000000000000" pitchFamily="2" charset="2"/>
              </a:rPr>
              <a:t></a:t>
            </a:r>
            <a:r>
              <a:rPr lang="en-US" dirty="0">
                <a:highlight>
                  <a:srgbClr val="808000"/>
                </a:highlight>
              </a:rPr>
              <a:t>Performance is associated with both network and territorial factors, but operator-specific differences remain visible.</a:t>
            </a:r>
          </a:p>
        </p:txBody>
      </p:sp>
    </p:spTree>
    <p:extLst>
      <p:ext uri="{BB962C8B-B14F-4D97-AF65-F5344CB8AC3E}">
        <p14:creationId xmlns:p14="http://schemas.microsoft.com/office/powerpoint/2010/main" val="3419221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BF32-8755-BFC4-3ADA-8D23EA47A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10. 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096C3-D57F-086A-01E3-2C33A4748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772364"/>
            <a:ext cx="8946541" cy="41954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 did we learn?</a:t>
            </a:r>
          </a:p>
          <a:p>
            <a:r>
              <a:rPr lang="en-US" b="1" dirty="0"/>
              <a:t>1. Performance disparities exist: 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5G download performance differs significantly across operators and territories.</a:t>
            </a:r>
          </a:p>
          <a:p>
            <a:r>
              <a:rPr lang="en-US" b="1" dirty="0"/>
              <a:t>2. Several factors are associated with performance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Territorial context:</a:t>
            </a:r>
            <a:r>
              <a:rPr lang="en-US" dirty="0"/>
              <a:t> population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Network infrastructure:</a:t>
            </a:r>
            <a:r>
              <a:rPr lang="en-US" dirty="0"/>
              <a:t> pure 5G deployment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Radio environment:</a:t>
            </a:r>
            <a:r>
              <a:rPr lang="en-US" dirty="0"/>
              <a:t> RSRP</a:t>
            </a:r>
          </a:p>
          <a:p>
            <a:r>
              <a:rPr lang="en-US" b="1" dirty="0"/>
              <a:t>3. These factors do not tell the whole story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Significant differences remain between operators under similar territorial or infrastructure conditions.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This points to an important </a:t>
            </a:r>
            <a:r>
              <a:rPr lang="en-US" b="1" dirty="0"/>
              <a:t>operator-specific component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097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AF479-7C39-5A7C-39C2-5C495725A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70837"/>
          </a:xfrm>
        </p:spPr>
        <p:txBody>
          <a:bodyPr/>
          <a:lstStyle/>
          <a:p>
            <a:r>
              <a:rPr lang="fr-FR" b="1" dirty="0"/>
              <a:t>11. Challenges and Next </a:t>
            </a:r>
            <a:r>
              <a:rPr lang="fr-FR" b="1" dirty="0" err="1"/>
              <a:t>Steps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6F15-256B-6C9C-30BA-313A397BE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231" y="1574936"/>
            <a:ext cx="9485024" cy="4195481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Challenges:</a:t>
            </a:r>
          </a:p>
          <a:p>
            <a:pPr lvl="1"/>
            <a:r>
              <a:rPr lang="en-US" b="1" dirty="0"/>
              <a:t>Data integration:</a:t>
            </a:r>
            <a:r>
              <a:rPr lang="en-US" dirty="0"/>
              <a:t> Combining ARCEP QoS, mobile-site and INSEE datasets with different granularities and identifiers.</a:t>
            </a:r>
          </a:p>
          <a:p>
            <a:pPr lvl="1"/>
            <a:r>
              <a:rPr lang="en-US" b="1" dirty="0"/>
              <a:t>Territorial granularity:</a:t>
            </a:r>
            <a:r>
              <a:rPr lang="en-US" dirty="0"/>
              <a:t> QoS measurements are collected at specific locations (1610 communes), while population and infrastructure data are aggregated at most of the territory communes.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sz="2400" b="1" dirty="0"/>
              <a:t>Next steps:</a:t>
            </a:r>
          </a:p>
          <a:p>
            <a:pPr lvl="1"/>
            <a:r>
              <a:rPr lang="en-US" b="1" dirty="0"/>
              <a:t>Deeper territorial analysis:</a:t>
            </a:r>
            <a:r>
              <a:rPr lang="en-US" dirty="0"/>
              <a:t> Extend the analysis from regions to departments or communes to identify more localized disparities.</a:t>
            </a:r>
          </a:p>
          <a:p>
            <a:pPr lvl="1"/>
            <a:r>
              <a:rPr lang="en-US" b="1" dirty="0"/>
              <a:t>Operator-level investigation:</a:t>
            </a:r>
            <a:r>
              <a:rPr lang="en-US" dirty="0"/>
              <a:t> Analyze why operators with different deployment strategies achieve different performance levels.</a:t>
            </a:r>
          </a:p>
        </p:txBody>
      </p:sp>
    </p:spTree>
    <p:extLst>
      <p:ext uri="{BB962C8B-B14F-4D97-AF65-F5344CB8AC3E}">
        <p14:creationId xmlns:p14="http://schemas.microsoft.com/office/powerpoint/2010/main" val="1081165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08049-0497-62E7-5DAB-3FBEFE85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671" y="3044537"/>
            <a:ext cx="5565137" cy="1400530"/>
          </a:xfrm>
        </p:spPr>
        <p:txBody>
          <a:bodyPr anchor="ctr">
            <a:normAutofit/>
          </a:bodyPr>
          <a:lstStyle/>
          <a:p>
            <a:r>
              <a:rPr lang="fr-FR" b="1" dirty="0"/>
              <a:t>Power BI Dashboard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42593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6" name="Freeform: Shape 2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C3E49-1BA3-9F41-561B-FF18C0F3E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677" y="2909503"/>
            <a:ext cx="7270924" cy="1400530"/>
          </a:xfrm>
        </p:spPr>
        <p:txBody>
          <a:bodyPr anchor="ctr">
            <a:normAutofit/>
          </a:bodyPr>
          <a:lstStyle/>
          <a:p>
            <a:r>
              <a:rPr lang="fr-FR" b="1" dirty="0">
                <a:solidFill>
                  <a:schemeClr val="accent4">
                    <a:lumMod val="50000"/>
                  </a:schemeClr>
                </a:solidFill>
              </a:rPr>
              <a:t>Merci Pour Votre Attention!</a:t>
            </a: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341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4822</TotalTime>
  <Words>770</Words>
  <Application>Microsoft Office PowerPoint</Application>
  <PresentationFormat>Widescreen</PresentationFormat>
  <Paragraphs>106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Century Gothic</vt:lpstr>
      <vt:lpstr>Wingdings</vt:lpstr>
      <vt:lpstr>Wingdings 3</vt:lpstr>
      <vt:lpstr>Ion</vt:lpstr>
      <vt:lpstr>5G Mobile Network Performance in France</vt:lpstr>
      <vt:lpstr>Agenda</vt:lpstr>
      <vt:lpstr>1. Business Question &amp; Objectives</vt:lpstr>
      <vt:lpstr>2. Data sources</vt:lpstr>
      <vt:lpstr>3. End-to-End Data Pipeline Architecture</vt:lpstr>
      <vt:lpstr>4. MySQL Relational Database</vt:lpstr>
      <vt:lpstr>5. BigQuery: Analytical Data Layer</vt:lpstr>
      <vt:lpstr>6. Measurement Coverage &amp; Balance</vt:lpstr>
      <vt:lpstr>7. What Are the Performance Disparities?</vt:lpstr>
      <vt:lpstr>“Do these observed differences between operators/territories hold statistically?”</vt:lpstr>
      <vt:lpstr>8. Statistical Evidence: Do the Differences Hold?</vt:lpstr>
      <vt:lpstr>9. What Could Explain the Differences?</vt:lpstr>
      <vt:lpstr>9.1. Interpretation </vt:lpstr>
      <vt:lpstr>10. Final Conclusion</vt:lpstr>
      <vt:lpstr>11. Challenges and Next Steps</vt:lpstr>
      <vt:lpstr>Power BI Dashboard</vt:lpstr>
      <vt:lpstr>Merci Pour Votre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Zidène Ourdache</dc:creator>
  <cp:lastModifiedBy>Zidène Ourdache</cp:lastModifiedBy>
  <cp:revision>36</cp:revision>
  <dcterms:created xsi:type="dcterms:W3CDTF">2026-09-12T15:28:50Z</dcterms:created>
  <dcterms:modified xsi:type="dcterms:W3CDTF">2026-09-16T08:53:00Z</dcterms:modified>
</cp:coreProperties>
</file>