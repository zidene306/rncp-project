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x-e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56" r:id="rId2"/>
    <p:sldId id="294" r:id="rId3"/>
    <p:sldId id="275" r:id="rId4"/>
    <p:sldId id="259" r:id="rId5"/>
    <p:sldId id="277" r:id="rId6"/>
    <p:sldId id="279" r:id="rId7"/>
    <p:sldId id="278" r:id="rId8"/>
    <p:sldId id="282" r:id="rId9"/>
    <p:sldId id="296" r:id="rId10"/>
    <p:sldId id="283" r:id="rId11"/>
    <p:sldId id="284" r:id="rId12"/>
    <p:sldId id="285" r:id="rId13"/>
    <p:sldId id="291" r:id="rId14"/>
    <p:sldId id="288" r:id="rId15"/>
    <p:sldId id="295" r:id="rId16"/>
    <p:sldId id="289" r:id="rId17"/>
    <p:sldId id="290" r:id="rId18"/>
    <p:sldId id="293" r:id="rId19"/>
    <p:sldId id="292" r:id="rId20"/>
  </p:sldIdLst>
  <p:sldSz cx="12192000" cy="6858000"/>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0289" autoAdjust="0"/>
  </p:normalViewPr>
  <p:slideViewPr>
    <p:cSldViewPr snapToGrid="0">
      <p:cViewPr varScale="1">
        <p:scale>
          <a:sx n="49" d="100"/>
          <a:sy n="49" d="100"/>
        </p:scale>
        <p:origin x="1582" y="4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3BD72F6E-7BEA-4811-A32F-EB50B2D03A67}" type="datetimeFigureOut">
              <a:rPr lang="en-US" smtClean="0"/>
              <a:t>9/16/2026</a:t>
            </a:fld>
            <a:endParaRPr lang="en-US"/>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en-US"/>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n-US"/>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24BD1F29-6D9C-4F9A-84F0-0549FD512D9F}" type="slidenum">
              <a:rPr lang="en-US" smtClean="0"/>
              <a:t>‹#›</a:t>
            </a:fld>
            <a:endParaRPr lang="en-US"/>
          </a:p>
        </p:txBody>
      </p:sp>
    </p:spTree>
    <p:extLst>
      <p:ext uri="{BB962C8B-B14F-4D97-AF65-F5344CB8AC3E}">
        <p14:creationId xmlns:p14="http://schemas.microsoft.com/office/powerpoint/2010/main" val="130086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Good morning and welcome to my project presentation. My name is Zidene Aourdache, and today I am going to present to you my project about 5G network performance. Why did I chose this subject?</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sym typeface="Wingdings" panose="05000000000000000000" pitchFamily="2" charset="2"/>
              </a:rPr>
              <a: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Nowadays, Mobile connectivity has become an essential part of everyday digital activity. Users increasingly rely on mobile networks for web browsing, video streaming, file transfers and professional applications. However, network quality is not uniform across territories. Differences in infrastructure deployment, radio conditions, population distribution and operator strategies may contribute to variations in measured performance.</a:t>
            </a:r>
          </a:p>
          <a:p>
            <a:r>
              <a:rPr lang="en-US" sz="1200" kern="1200" dirty="0">
                <a:solidFill>
                  <a:schemeClr val="tx1"/>
                </a:solidFill>
                <a:effectLst/>
                <a:latin typeface="+mn-lt"/>
                <a:ea typeface="+mn-ea"/>
                <a:cs typeface="+mn-cs"/>
              </a:rPr>
              <a:t>“This project investigates 5G mobile network performance in metropolitan France. The objective is to identify whether significant territorial disparities exist and to investigate which factors could help explain them</a:t>
            </a:r>
          </a:p>
          <a:p>
            <a:endParaRPr lang="en-US" dirty="0"/>
          </a:p>
        </p:txBody>
      </p:sp>
      <p:sp>
        <p:nvSpPr>
          <p:cNvPr id="4" name="Slide Number Placeholder 3"/>
          <p:cNvSpPr>
            <a:spLocks noGrp="1"/>
          </p:cNvSpPr>
          <p:nvPr>
            <p:ph type="sldNum" sz="quarter" idx="5"/>
          </p:nvPr>
        </p:nvSpPr>
        <p:spPr/>
        <p:txBody>
          <a:bodyPr/>
          <a:lstStyle/>
          <a:p>
            <a:fld id="{24BD1F29-6D9C-4F9A-84F0-0549FD512D9F}" type="slidenum">
              <a:rPr lang="en-US" smtClean="0"/>
              <a:t>1</a:t>
            </a:fld>
            <a:endParaRPr lang="en-US"/>
          </a:p>
        </p:txBody>
      </p:sp>
    </p:spTree>
    <p:extLst>
      <p:ext uri="{BB962C8B-B14F-4D97-AF65-F5344CB8AC3E}">
        <p14:creationId xmlns:p14="http://schemas.microsoft.com/office/powerpoint/2010/main" val="1717467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project starts from a simple business question: are there significant territorial inequalities in mobile network performance in France, and what could explain these disparities?</a:t>
            </a:r>
          </a:p>
          <a:p>
            <a:r>
              <a:rPr lang="en-US" sz="1200" kern="1200" dirty="0">
                <a:solidFill>
                  <a:schemeClr val="tx1"/>
                </a:solidFill>
                <a:effectLst/>
                <a:latin typeface="+mn-lt"/>
                <a:ea typeface="+mn-ea"/>
                <a:cs typeface="+mn-cs"/>
              </a:rPr>
              <a:t>To answer it, I structured the analysis around three objectives. First, Understand the 5G performance using the main QoS indicators. Second, identify differences between operators and territories. And finally, explore potential factors that could be associated with these differences.</a:t>
            </a:r>
          </a:p>
          <a:p>
            <a:r>
              <a:rPr lang="en-US" sz="1200" kern="1200" dirty="0">
                <a:solidFill>
                  <a:schemeClr val="tx1"/>
                </a:solidFill>
                <a:effectLst/>
                <a:latin typeface="+mn-lt"/>
                <a:ea typeface="+mn-ea"/>
                <a:cs typeface="+mn-cs"/>
              </a:rPr>
              <a:t>The analysis focuses on metropolitan France, using 2025 data and four mobile operators.”</a:t>
            </a:r>
          </a:p>
          <a:p>
            <a:endParaRPr lang="en-US" dirty="0"/>
          </a:p>
        </p:txBody>
      </p:sp>
      <p:sp>
        <p:nvSpPr>
          <p:cNvPr id="4" name="Slide Number Placeholder 3"/>
          <p:cNvSpPr>
            <a:spLocks noGrp="1"/>
          </p:cNvSpPr>
          <p:nvPr>
            <p:ph type="sldNum" sz="quarter" idx="5"/>
          </p:nvPr>
        </p:nvSpPr>
        <p:spPr/>
        <p:txBody>
          <a:bodyPr/>
          <a:lstStyle/>
          <a:p>
            <a:fld id="{24BD1F29-6D9C-4F9A-84F0-0549FD512D9F}" type="slidenum">
              <a:rPr lang="en-US" smtClean="0"/>
              <a:t>3</a:t>
            </a:fld>
            <a:endParaRPr lang="en-US"/>
          </a:p>
        </p:txBody>
      </p:sp>
    </p:spTree>
    <p:extLst>
      <p:ext uri="{BB962C8B-B14F-4D97-AF65-F5344CB8AC3E}">
        <p14:creationId xmlns:p14="http://schemas.microsoft.com/office/powerpoint/2010/main" val="3429227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analysis is based on 4 </a:t>
            </a:r>
            <a:r>
              <a:rPr lang="en-US" sz="1200" kern="1200" dirty="0" err="1">
                <a:solidFill>
                  <a:schemeClr val="tx1"/>
                </a:solidFill>
                <a:effectLst/>
                <a:latin typeface="+mn-lt"/>
                <a:ea typeface="+mn-ea"/>
                <a:cs typeface="+mn-cs"/>
              </a:rPr>
              <a:t>dastasets</a:t>
            </a:r>
            <a:r>
              <a:rPr lang="en-US" sz="1200" kern="1200" dirty="0">
                <a:solidFill>
                  <a:schemeClr val="tx1"/>
                </a:solidFill>
                <a:effectLst/>
                <a:latin typeface="+mn-lt"/>
                <a:ea typeface="+mn-ea"/>
                <a:cs typeface="+mn-cs"/>
              </a:rPr>
              <a:t> from 2 public data sources.</a:t>
            </a:r>
          </a:p>
          <a:p>
            <a:r>
              <a:rPr lang="en-US" sz="1200" kern="1200" dirty="0">
                <a:solidFill>
                  <a:schemeClr val="tx1"/>
                </a:solidFill>
                <a:effectLst/>
                <a:latin typeface="+mn-lt"/>
                <a:ea typeface="+mn-ea"/>
                <a:cs typeface="+mn-cs"/>
              </a:rPr>
              <a:t>First, ARCEP Mobile QoS, which provides the network measurements used to evaluate performance. Used collection Method: WEB Scraping</a:t>
            </a:r>
          </a:p>
          <a:p>
            <a:r>
              <a:rPr lang="en-US" sz="1200" kern="1200" dirty="0">
                <a:solidFill>
                  <a:schemeClr val="tx1"/>
                </a:solidFill>
                <a:effectLst/>
                <a:latin typeface="+mn-lt"/>
                <a:ea typeface="+mn-ea"/>
                <a:cs typeface="+mn-cs"/>
              </a:rPr>
              <a:t>Second, ARCEP Mobile Sites, which provides information about network infrastructure and 5G deployment.</a:t>
            </a:r>
          </a:p>
          <a:p>
            <a:r>
              <a:rPr lang="en-US" sz="1200" kern="1200" dirty="0">
                <a:solidFill>
                  <a:schemeClr val="tx1"/>
                </a:solidFill>
                <a:effectLst/>
                <a:latin typeface="+mn-lt"/>
                <a:ea typeface="+mn-ea"/>
                <a:cs typeface="+mn-cs"/>
              </a:rPr>
              <a:t>3</a:t>
            </a:r>
            <a:r>
              <a:rPr lang="en-US" sz="1200" kern="1200" baseline="30000" dirty="0">
                <a:solidFill>
                  <a:schemeClr val="tx1"/>
                </a:solidFill>
                <a:effectLst/>
                <a:latin typeface="+mn-lt"/>
                <a:ea typeface="+mn-ea"/>
                <a:cs typeface="+mn-cs"/>
              </a:rPr>
              <a:t>rd</a:t>
            </a:r>
            <a:r>
              <a:rPr lang="en-US" sz="1200" kern="1200" dirty="0">
                <a:solidFill>
                  <a:schemeClr val="tx1"/>
                </a:solidFill>
                <a:effectLst/>
                <a:latin typeface="+mn-lt"/>
                <a:ea typeface="+mn-ea"/>
                <a:cs typeface="+mn-cs"/>
              </a:rPr>
              <a:t>, I used INSEE population data to add territorial context.</a:t>
            </a:r>
          </a:p>
          <a:p>
            <a:r>
              <a:rPr lang="en-US" sz="1200" kern="1200" dirty="0">
                <a:solidFill>
                  <a:schemeClr val="tx1"/>
                </a:solidFill>
                <a:effectLst/>
                <a:latin typeface="+mn-lt"/>
                <a:ea typeface="+mn-ea"/>
                <a:cs typeface="+mn-cs"/>
              </a:rPr>
              <a:t>4</a:t>
            </a:r>
            <a:r>
              <a:rPr lang="en-US" sz="1200" kern="1200" baseline="30000" dirty="0">
                <a:solidFill>
                  <a:schemeClr val="tx1"/>
                </a:solidFill>
                <a:effectLst/>
                <a:latin typeface="+mn-lt"/>
                <a:ea typeface="+mn-ea"/>
                <a:cs typeface="+mn-cs"/>
              </a:rPr>
              <a:t>th</a:t>
            </a:r>
            <a:r>
              <a:rPr lang="en-US" sz="1200" kern="1200" dirty="0">
                <a:solidFill>
                  <a:schemeClr val="tx1"/>
                </a:solidFill>
                <a:effectLst/>
                <a:latin typeface="+mn-lt"/>
                <a:ea typeface="+mn-ea"/>
                <a:cs typeface="+mn-cs"/>
              </a:rPr>
              <a:t>, Geographic data for administrative territories.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rgbClr val="7030A0"/>
                </a:solidFill>
                <a:effectLst/>
                <a:latin typeface="+mn-lt"/>
                <a:ea typeface="+mn-ea"/>
                <a:cs typeface="+mn-cs"/>
              </a:rPr>
              <a:t>How did I deal </a:t>
            </a:r>
            <a:r>
              <a:rPr lang="en-US" sz="1200" b="1" kern="1200" dirty="0">
                <a:solidFill>
                  <a:srgbClr val="7030A0"/>
                </a:solidFill>
                <a:effectLst/>
                <a:highlight>
                  <a:srgbClr val="FF00FF"/>
                </a:highlight>
                <a:latin typeface="+mn-lt"/>
                <a:ea typeface="+mn-ea"/>
                <a:cs typeface="+mn-cs"/>
              </a:rPr>
              <a:t>with</a:t>
            </a:r>
            <a:r>
              <a:rPr lang="en-US" sz="1200" b="1" kern="1200" dirty="0">
                <a:solidFill>
                  <a:srgbClr val="7030A0"/>
                </a:solidFill>
                <a:effectLst/>
                <a:latin typeface="+mn-lt"/>
                <a:ea typeface="+mn-ea"/>
                <a:cs typeface="+mn-cs"/>
              </a:rPr>
              <a:t> data?</a:t>
            </a:r>
            <a:endParaRPr lang="en-US" sz="1200" kern="1200" dirty="0">
              <a:solidFill>
                <a:srgbClr val="7030A0"/>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24BD1F29-6D9C-4F9A-84F0-0549FD512D9F}" type="slidenum">
              <a:rPr lang="en-US" smtClean="0"/>
              <a:t>4</a:t>
            </a:fld>
            <a:endParaRPr lang="en-US"/>
          </a:p>
        </p:txBody>
      </p:sp>
    </p:spTree>
    <p:extLst>
      <p:ext uri="{BB962C8B-B14F-4D97-AF65-F5344CB8AC3E}">
        <p14:creationId xmlns:p14="http://schemas.microsoft.com/office/powerpoint/2010/main" val="3231313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“After extracting the 4 datasets, I kept the raw data separate and performed the cleaning independently for each source.</a:t>
            </a:r>
          </a:p>
          <a:p>
            <a:r>
              <a:rPr lang="en-US" sz="1200" kern="1200" dirty="0">
                <a:solidFill>
                  <a:schemeClr val="tx1"/>
                </a:solidFill>
                <a:effectLst/>
                <a:latin typeface="+mn-lt"/>
                <a:ea typeface="+mn-ea"/>
                <a:cs typeface="+mn-cs"/>
              </a:rPr>
              <a:t>I standardized the geographic identifiers and data types, cleaned columns names and deleted non relevant ones, handled quality issues (for ex region names).</a:t>
            </a:r>
          </a:p>
          <a:p>
            <a:r>
              <a:rPr lang="en-US" sz="1200" kern="1200" dirty="0">
                <a:solidFill>
                  <a:schemeClr val="tx1"/>
                </a:solidFill>
                <a:effectLst/>
                <a:latin typeface="+mn-lt"/>
                <a:ea typeface="+mn-ea"/>
                <a:cs typeface="+mn-cs"/>
              </a:rPr>
              <a:t>The cleaned data was structured in a relational MySQL database. </a:t>
            </a:r>
          </a:p>
          <a:p>
            <a:r>
              <a:rPr lang="en-US" sz="1200" kern="1200" dirty="0">
                <a:solidFill>
                  <a:schemeClr val="tx1"/>
                </a:solidFill>
                <a:effectLst/>
                <a:latin typeface="+mn-lt"/>
                <a:ea typeface="+mn-ea"/>
                <a:cs typeface="+mn-cs"/>
              </a:rPr>
              <a:t>From this integrated dataset, I performed the statistical analysis and built the Power BI dashboards.”</a:t>
            </a:r>
          </a:p>
          <a:p>
            <a:endParaRPr lang="en-US" dirty="0"/>
          </a:p>
        </p:txBody>
      </p:sp>
      <p:sp>
        <p:nvSpPr>
          <p:cNvPr id="4" name="Slide Number Placeholder 3"/>
          <p:cNvSpPr>
            <a:spLocks noGrp="1"/>
          </p:cNvSpPr>
          <p:nvPr>
            <p:ph type="sldNum" sz="quarter" idx="5"/>
          </p:nvPr>
        </p:nvSpPr>
        <p:spPr/>
        <p:txBody>
          <a:bodyPr/>
          <a:lstStyle/>
          <a:p>
            <a:fld id="{24BD1F29-6D9C-4F9A-84F0-0549FD512D9F}" type="slidenum">
              <a:rPr lang="en-US" smtClean="0"/>
              <a:t>5</a:t>
            </a:fld>
            <a:endParaRPr lang="en-US"/>
          </a:p>
        </p:txBody>
      </p:sp>
    </p:spTree>
    <p:extLst>
      <p:ext uri="{BB962C8B-B14F-4D97-AF65-F5344CB8AC3E}">
        <p14:creationId xmlns:p14="http://schemas.microsoft.com/office/powerpoint/2010/main" val="2791557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model relies on 1 fact table and 4 dimension tables: This separates the geographic and operator dimensions from the two main tables: QoS measurements and mobile sites.</a:t>
            </a:r>
          </a:p>
          <a:p>
            <a:r>
              <a:rPr lang="en-US" sz="1200" kern="1200" dirty="0">
                <a:solidFill>
                  <a:schemeClr val="tx1"/>
                </a:solidFill>
                <a:effectLst/>
                <a:latin typeface="+mn-lt"/>
                <a:ea typeface="+mn-ea"/>
                <a:cs typeface="+mn-cs"/>
              </a:rPr>
              <a:t>The INSEE commune code is the main geographic key used to connect the datasets, while the operator identifier links measurements and infrastructure to the operator dimension.</a:t>
            </a:r>
          </a:p>
          <a:p>
            <a:r>
              <a:rPr lang="en-US" sz="1200" kern="1200" dirty="0">
                <a:solidFill>
                  <a:schemeClr val="tx1"/>
                </a:solidFill>
                <a:effectLst/>
                <a:latin typeface="+mn-lt"/>
                <a:ea typeface="+mn-ea"/>
                <a:cs typeface="+mn-cs"/>
              </a:rPr>
              <a:t>This relational structure provides a consistent foundation for the subsequent analysis.”</a:t>
            </a:r>
          </a:p>
          <a:p>
            <a:endParaRPr lang="en-US" dirty="0"/>
          </a:p>
        </p:txBody>
      </p:sp>
      <p:sp>
        <p:nvSpPr>
          <p:cNvPr id="4" name="Slide Number Placeholder 3"/>
          <p:cNvSpPr>
            <a:spLocks noGrp="1"/>
          </p:cNvSpPr>
          <p:nvPr>
            <p:ph type="sldNum" sz="quarter" idx="5"/>
          </p:nvPr>
        </p:nvSpPr>
        <p:spPr/>
        <p:txBody>
          <a:bodyPr/>
          <a:lstStyle/>
          <a:p>
            <a:fld id="{24BD1F29-6D9C-4F9A-84F0-0549FD512D9F}" type="slidenum">
              <a:rPr lang="en-US" smtClean="0"/>
              <a:t>6</a:t>
            </a:fld>
            <a:endParaRPr lang="en-US"/>
          </a:p>
        </p:txBody>
      </p:sp>
    </p:spTree>
    <p:extLst>
      <p:ext uri="{BB962C8B-B14F-4D97-AF65-F5344CB8AC3E}">
        <p14:creationId xmlns:p14="http://schemas.microsoft.com/office/powerpoint/2010/main" val="3445432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Slide5: 5. </a:t>
            </a:r>
            <a:r>
              <a:rPr lang="en-US" sz="1200" b="1" kern="1200" dirty="0" err="1">
                <a:solidFill>
                  <a:schemeClr val="tx1"/>
                </a:solidFill>
                <a:effectLst/>
                <a:latin typeface="+mn-lt"/>
                <a:ea typeface="+mn-ea"/>
                <a:cs typeface="+mn-cs"/>
              </a:rPr>
              <a:t>BigQuery</a:t>
            </a:r>
            <a:r>
              <a:rPr lang="en-US" sz="1200" b="1" kern="1200" dirty="0">
                <a:solidFill>
                  <a:schemeClr val="tx1"/>
                </a:solidFill>
                <a:effectLst/>
                <a:latin typeface="+mn-lt"/>
                <a:ea typeface="+mn-ea"/>
                <a:cs typeface="+mn-cs"/>
              </a:rPr>
              <a:t>: Analytical Data Layer</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“After creating the relational MySQL database,  I created the denormalized </a:t>
            </a:r>
            <a:r>
              <a:rPr lang="en-US" sz="1200" kern="1200" dirty="0" err="1">
                <a:solidFill>
                  <a:schemeClr val="tx1"/>
                </a:solidFill>
                <a:effectLst/>
                <a:latin typeface="+mn-lt"/>
                <a:ea typeface="+mn-ea"/>
                <a:cs typeface="+mn-cs"/>
              </a:rPr>
              <a:t>qos</a:t>
            </a:r>
            <a:r>
              <a:rPr lang="en-US" sz="1200" kern="1200" dirty="0">
                <a:solidFill>
                  <a:schemeClr val="tx1"/>
                </a:solidFill>
                <a:effectLst/>
                <a:latin typeface="+mn-lt"/>
                <a:ea typeface="+mn-ea"/>
                <a:cs typeface="+mn-cs"/>
              </a:rPr>
              <a:t> table and  imported it to </a:t>
            </a:r>
            <a:r>
              <a:rPr lang="en-US" sz="1200" kern="1200" dirty="0" err="1">
                <a:solidFill>
                  <a:schemeClr val="tx1"/>
                </a:solidFill>
                <a:effectLst/>
                <a:latin typeface="+mn-lt"/>
                <a:ea typeface="+mn-ea"/>
                <a:cs typeface="+mn-cs"/>
              </a:rPr>
              <a:t>BigQuery</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The table contains the integrated QoS, infrastructure and geographic information. I partitioned it by measurement date and clustered it by operator, protocol and geographic identifiers.</a:t>
            </a:r>
          </a:p>
          <a:p>
            <a:r>
              <a:rPr lang="en-US" sz="1200" kern="1200" dirty="0">
                <a:solidFill>
                  <a:schemeClr val="tx1"/>
                </a:solidFill>
                <a:effectLst/>
                <a:latin typeface="+mn-lt"/>
                <a:ea typeface="+mn-ea"/>
                <a:cs typeface="+mn-cs"/>
              </a:rPr>
              <a:t>The relational MySQL database therefore remains the structured data model, while </a:t>
            </a:r>
            <a:r>
              <a:rPr lang="en-US" sz="1200" kern="1200" dirty="0" err="1">
                <a:solidFill>
                  <a:schemeClr val="tx1"/>
                </a:solidFill>
                <a:effectLst/>
                <a:latin typeface="+mn-lt"/>
                <a:ea typeface="+mn-ea"/>
                <a:cs typeface="+mn-cs"/>
              </a:rPr>
              <a:t>BigQuery</a:t>
            </a:r>
            <a:r>
              <a:rPr lang="en-US" sz="1200" kern="1200" dirty="0">
                <a:solidFill>
                  <a:schemeClr val="tx1"/>
                </a:solidFill>
                <a:effectLst/>
                <a:latin typeface="+mn-lt"/>
                <a:ea typeface="+mn-ea"/>
                <a:cs typeface="+mn-cs"/>
              </a:rPr>
              <a:t> provides the analytical representation.”</a:t>
            </a:r>
          </a:p>
          <a:p>
            <a:endParaRPr lang="en-US" dirty="0"/>
          </a:p>
        </p:txBody>
      </p:sp>
      <p:sp>
        <p:nvSpPr>
          <p:cNvPr id="4" name="Slide Number Placeholder 3"/>
          <p:cNvSpPr>
            <a:spLocks noGrp="1"/>
          </p:cNvSpPr>
          <p:nvPr>
            <p:ph type="sldNum" sz="quarter" idx="5"/>
          </p:nvPr>
        </p:nvSpPr>
        <p:spPr/>
        <p:txBody>
          <a:bodyPr/>
          <a:lstStyle/>
          <a:p>
            <a:fld id="{24BD1F29-6D9C-4F9A-84F0-0549FD512D9F}" type="slidenum">
              <a:rPr lang="en-US" smtClean="0"/>
              <a:t>7</a:t>
            </a:fld>
            <a:endParaRPr lang="en-US"/>
          </a:p>
        </p:txBody>
      </p:sp>
    </p:spTree>
    <p:extLst>
      <p:ext uri="{BB962C8B-B14F-4D97-AF65-F5344CB8AC3E}">
        <p14:creationId xmlns:p14="http://schemas.microsoft.com/office/powerpoint/2010/main" val="1685594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Slide6: 6.Measurement Coverage &amp; Balance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“Before looking at performance disparities, I first checked the coverage and distribution of the ARCEP measurements.</a:t>
            </a:r>
          </a:p>
          <a:p>
            <a:r>
              <a:rPr lang="en-US" sz="1200" kern="1200" dirty="0">
                <a:solidFill>
                  <a:schemeClr val="tx1"/>
                </a:solidFill>
                <a:effectLst/>
                <a:latin typeface="+mn-lt"/>
                <a:ea typeface="+mn-ea"/>
                <a:cs typeface="+mn-cs"/>
              </a:rPr>
              <a:t>The dataset contains 300K measurements collected between the 26th of May and the 2nd of September 2025, covering the four operators and the 13 metropolitan regions.</a:t>
            </a:r>
          </a:p>
          <a:p>
            <a:r>
              <a:rPr lang="en-US" sz="1200" kern="1200" dirty="0">
                <a:solidFill>
                  <a:schemeClr val="tx1"/>
                </a:solidFill>
                <a:effectLst/>
                <a:latin typeface="+mn-lt"/>
                <a:ea typeface="+mn-ea"/>
                <a:cs typeface="+mn-cs"/>
              </a:rPr>
              <a:t>We can see that the measurements are not evenly distributed between the protocols. Web measurements represent around 79 percent of the dataset, while Download, Upload and Streaming account for smaller proportions.</a:t>
            </a:r>
          </a:p>
          <a:p>
            <a:r>
              <a:rPr lang="en-US" sz="1200" kern="1200" dirty="0">
                <a:solidFill>
                  <a:schemeClr val="tx1"/>
                </a:solidFill>
                <a:effectLst/>
                <a:latin typeface="+mn-lt"/>
                <a:ea typeface="+mn-ea"/>
                <a:cs typeface="+mn-cs"/>
              </a:rPr>
              <a:t>However; measurements are evenly distributed among the operators, across different protocols and different territories. Which is fair.</a:t>
            </a:r>
          </a:p>
          <a:p>
            <a:r>
              <a:rPr lang="en-US" sz="1200" b="1" kern="1200" dirty="0">
                <a:solidFill>
                  <a:schemeClr val="tx1"/>
                </a:solidFill>
                <a:effectLst/>
                <a:latin typeface="+mn-lt"/>
                <a:ea typeface="+mn-ea"/>
                <a:cs typeface="+mn-cs"/>
              </a:rPr>
              <a:t>“After checking the coverage and distribution of the measurements, let’s do the exploratory analysis to understand what the data reveals about 5G performance.</a:t>
            </a:r>
          </a:p>
          <a:p>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24BD1F29-6D9C-4F9A-84F0-0549FD512D9F}" type="slidenum">
              <a:rPr lang="en-US" smtClean="0"/>
              <a:t>8</a:t>
            </a:fld>
            <a:endParaRPr lang="en-US"/>
          </a:p>
        </p:txBody>
      </p:sp>
    </p:spTree>
    <p:extLst>
      <p:ext uri="{BB962C8B-B14F-4D97-AF65-F5344CB8AC3E}">
        <p14:creationId xmlns:p14="http://schemas.microsoft.com/office/powerpoint/2010/main" val="1075903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 the following slides I will show only one protocol (Download speed), however we will explore the others in the dashboard.</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ordered the disparities into 3 categories: operator, territorial and radio environment.</a:t>
            </a:r>
          </a:p>
          <a:p>
            <a:r>
              <a:rPr lang="en-US" sz="1200" kern="1200" dirty="0">
                <a:solidFill>
                  <a:schemeClr val="tx1"/>
                </a:solidFill>
                <a:effectLst/>
                <a:latin typeface="+mn-lt"/>
                <a:ea typeface="+mn-ea"/>
                <a:cs typeface="+mn-cs"/>
              </a:rPr>
              <a:t>First, we can see differences between the four operators. In terms of average download speed, Orange has the highest value, followed by Bouygues Telecom, SFR and Free Mobile.</a:t>
            </a:r>
          </a:p>
          <a:p>
            <a:r>
              <a:rPr lang="en-US" sz="1200" kern="1200" dirty="0">
                <a:solidFill>
                  <a:schemeClr val="tx1"/>
                </a:solidFill>
                <a:effectLst/>
                <a:latin typeface="+mn-lt"/>
                <a:ea typeface="+mn-ea"/>
                <a:cs typeface="+mn-cs"/>
              </a:rPr>
              <a:t>But the differences are not limited to the operators. When we look at the regional distribution, we also observe geographical variation in download performance.</a:t>
            </a:r>
          </a:p>
          <a:p>
            <a:r>
              <a:rPr lang="en-US" sz="1200" kern="1200" dirty="0">
                <a:solidFill>
                  <a:schemeClr val="tx1"/>
                </a:solidFill>
                <a:effectLst/>
                <a:latin typeface="+mn-lt"/>
                <a:ea typeface="+mn-ea"/>
                <a:cs typeface="+mn-cs"/>
              </a:rPr>
              <a:t>This is important because the objective is not simply to compare operators. The business question also concerns territorial inequalities.</a:t>
            </a:r>
          </a:p>
          <a:p>
            <a:r>
              <a:rPr lang="en-US" sz="1200" kern="1200" dirty="0">
                <a:solidFill>
                  <a:schemeClr val="tx1"/>
                </a:solidFill>
                <a:effectLst/>
                <a:latin typeface="+mn-lt"/>
                <a:ea typeface="+mn-ea"/>
                <a:cs typeface="+mn-cs"/>
              </a:rPr>
              <a:t>At this stage, these are </a:t>
            </a:r>
            <a:r>
              <a:rPr lang="en-US" sz="1200" b="1" kern="1200" dirty="0">
                <a:solidFill>
                  <a:schemeClr val="tx1"/>
                </a:solidFill>
                <a:effectLst/>
                <a:latin typeface="+mn-lt"/>
                <a:ea typeface="+mn-ea"/>
                <a:cs typeface="+mn-cs"/>
              </a:rPr>
              <a:t>observed disparities</a:t>
            </a:r>
            <a:r>
              <a:rPr lang="en-US" sz="1200" kern="1200" dirty="0">
                <a:solidFill>
                  <a:schemeClr val="tx1"/>
                </a:solidFill>
                <a:effectLst/>
                <a:latin typeface="+mn-lt"/>
                <a:ea typeface="+mn-ea"/>
                <a:cs typeface="+mn-cs"/>
              </a:rPr>
              <a:t>. We haven't yet tested whether the differences between operators are statistically significant, and we haven't investigated what could explain them.</a:t>
            </a:r>
          </a:p>
          <a:p>
            <a:r>
              <a:rPr lang="en-US" sz="1200" kern="1200" dirty="0">
                <a:solidFill>
                  <a:schemeClr val="tx1"/>
                </a:solidFill>
                <a:effectLst/>
                <a:latin typeface="+mn-lt"/>
                <a:ea typeface="+mn-ea"/>
                <a:cs typeface="+mn-cs"/>
              </a:rPr>
              <a:t>So the next step is to statistically test these observed differences.”</a:t>
            </a:r>
          </a:p>
          <a:p>
            <a:endParaRPr lang="en-US" dirty="0"/>
          </a:p>
        </p:txBody>
      </p:sp>
      <p:sp>
        <p:nvSpPr>
          <p:cNvPr id="4" name="Slide Number Placeholder 3"/>
          <p:cNvSpPr>
            <a:spLocks noGrp="1"/>
          </p:cNvSpPr>
          <p:nvPr>
            <p:ph type="sldNum" sz="quarter" idx="5"/>
          </p:nvPr>
        </p:nvSpPr>
        <p:spPr/>
        <p:txBody>
          <a:bodyPr/>
          <a:lstStyle/>
          <a:p>
            <a:fld id="{24BD1F29-6D9C-4F9A-84F0-0549FD512D9F}" type="slidenum">
              <a:rPr lang="en-US" smtClean="0"/>
              <a:t>10</a:t>
            </a:fld>
            <a:endParaRPr lang="en-US"/>
          </a:p>
        </p:txBody>
      </p:sp>
    </p:spTree>
    <p:extLst>
      <p:ext uri="{BB962C8B-B14F-4D97-AF65-F5344CB8AC3E}">
        <p14:creationId xmlns:p14="http://schemas.microsoft.com/office/powerpoint/2010/main" val="1671590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Slide8</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8.Statistical Evidence: Do the Differences Hold?</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therefore tested whether these differences were statistically significant. The ANOVA gives a p-value below 0.05, so we reject the hypothesis that all operators have the same mean download performance. Levene's test has a p-value of 0.191, so we do not find evidence that the variances are significantly different. This supports the use of ANOVA and confirms that the operator differences observed in the data are statistically significant.”</a:t>
            </a:r>
          </a:p>
          <a:p>
            <a:r>
              <a:rPr lang="en-US" sz="1200" b="1" kern="1200" dirty="0">
                <a:solidFill>
                  <a:schemeClr val="tx1"/>
                </a:solidFill>
                <a:effectLst/>
                <a:latin typeface="+mn-lt"/>
                <a:ea typeface="+mn-ea"/>
                <a:cs typeface="+mn-cs"/>
                <a:sym typeface="Wingdings" panose="05000000000000000000" pitchFamily="2" charset="2"/>
              </a:rPr>
              <a:t></a:t>
            </a:r>
            <a:r>
              <a:rPr lang="en-US" sz="1200" b="1" kern="1200" dirty="0">
                <a:solidFill>
                  <a:schemeClr val="tx1"/>
                </a:solidFill>
                <a:effectLst/>
                <a:latin typeface="+mn-lt"/>
                <a:ea typeface="+mn-ea"/>
                <a:cs typeface="+mn-cs"/>
              </a:rPr>
              <a:t> “Now that we have established that the differences are statistically significant, I looked at what could be associated with these performance differences</a:t>
            </a:r>
            <a:endParaRPr lang="en-US" b="1" dirty="0"/>
          </a:p>
        </p:txBody>
      </p:sp>
      <p:sp>
        <p:nvSpPr>
          <p:cNvPr id="4" name="Slide Number Placeholder 3"/>
          <p:cNvSpPr>
            <a:spLocks noGrp="1"/>
          </p:cNvSpPr>
          <p:nvPr>
            <p:ph type="sldNum" sz="quarter" idx="5"/>
          </p:nvPr>
        </p:nvSpPr>
        <p:spPr/>
        <p:txBody>
          <a:bodyPr/>
          <a:lstStyle/>
          <a:p>
            <a:fld id="{24BD1F29-6D9C-4F9A-84F0-0549FD512D9F}" type="slidenum">
              <a:rPr lang="en-US" smtClean="0"/>
              <a:t>12</a:t>
            </a:fld>
            <a:endParaRPr lang="en-US"/>
          </a:p>
        </p:txBody>
      </p:sp>
    </p:spTree>
    <p:extLst>
      <p:ext uri="{BB962C8B-B14F-4D97-AF65-F5344CB8AC3E}">
        <p14:creationId xmlns:p14="http://schemas.microsoft.com/office/powerpoint/2010/main" val="3778608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Average download speed increases with population and, to a lesser extent, with the number of 5G sites, suggesting that network deployment and user concentration are associated with performance differences. The clearest relationship appears with RSRP: stronger signal levels are generally associated with higher download speeds across operators. Overall, performance disparities appear to result from a combination of deployment, population density and radio conditions rather than a single factor.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Let’s train two ML model (Linear regression and Decision tree) and see ho likely download speeds can be predicted.</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24BD1F29-6D9C-4F9A-84F0-0549FD512D9F}" type="slidenum">
              <a:rPr lang="en-US" smtClean="0"/>
              <a:t>13</a:t>
            </a:fld>
            <a:endParaRPr lang="en-US"/>
          </a:p>
        </p:txBody>
      </p:sp>
    </p:spTree>
    <p:extLst>
      <p:ext uri="{BB962C8B-B14F-4D97-AF65-F5344CB8AC3E}">
        <p14:creationId xmlns:p14="http://schemas.microsoft.com/office/powerpoint/2010/main" val="444623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R² → How much variation does the model explain?</a:t>
            </a:r>
            <a:br>
              <a:rPr lang="en-US" sz="1200" b="1"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MAE (Mean Absolute Error) → How wrong is it on average?</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RMSE → How bad are the larger mistakes?</a:t>
            </a:r>
            <a:endParaRPr lang="en-US" sz="1200" kern="1200" dirty="0">
              <a:solidFill>
                <a:schemeClr val="tx1"/>
              </a:solidFill>
              <a:effectLst/>
              <a:latin typeface="+mn-lt"/>
              <a:ea typeface="+mn-ea"/>
              <a:cs typeface="+mn-cs"/>
            </a:endParaRPr>
          </a:p>
          <a:p>
            <a:endParaRPr lang="en-US" dirty="0"/>
          </a:p>
          <a:p>
            <a:r>
              <a:rPr lang="en-US" sz="1200" kern="1200" dirty="0">
                <a:solidFill>
                  <a:schemeClr val="tx1"/>
                </a:solidFill>
                <a:effectLst/>
                <a:latin typeface="+mn-lt"/>
                <a:ea typeface="+mn-ea"/>
                <a:cs typeface="+mn-cs"/>
              </a:rPr>
              <a:t>What we can say</a:t>
            </a:r>
          </a:p>
          <a:p>
            <a:pPr lvl="0"/>
            <a:r>
              <a:rPr lang="en-US" sz="1200" kern="1200" dirty="0">
                <a:solidFill>
                  <a:schemeClr val="tx1"/>
                </a:solidFill>
                <a:effectLst/>
                <a:latin typeface="+mn-lt"/>
                <a:ea typeface="+mn-ea"/>
                <a:cs typeface="+mn-cs"/>
              </a:rPr>
              <a:t>The Decision Tree achieved R² = 0.478, meaning that the selected variables explain approximately 48% of the variation in download speed on the test communes. </a:t>
            </a:r>
          </a:p>
          <a:p>
            <a:pPr lvl="0"/>
            <a:r>
              <a:rPr lang="en-US" sz="1200" kern="1200" dirty="0">
                <a:solidFill>
                  <a:schemeClr val="tx1"/>
                </a:solidFill>
                <a:effectLst/>
                <a:latin typeface="+mn-lt"/>
                <a:ea typeface="+mn-ea"/>
                <a:cs typeface="+mn-cs"/>
              </a:rPr>
              <a:t>Linear Regression achieved R² = 0.385. </a:t>
            </a:r>
          </a:p>
          <a:p>
            <a:pPr lvl="0"/>
            <a:r>
              <a:rPr lang="en-US" sz="1200" kern="1200" dirty="0">
                <a:solidFill>
                  <a:schemeClr val="tx1"/>
                </a:solidFill>
                <a:effectLst/>
                <a:latin typeface="+mn-lt"/>
                <a:ea typeface="+mn-ea"/>
                <a:cs typeface="+mn-cs"/>
              </a:rPr>
              <a:t>The Decision Tree also produced lower MAE (81.11 Mbps) and RMSE (113.32 Mbps) than Linear Regression. </a:t>
            </a:r>
          </a:p>
          <a:p>
            <a:pPr lvl="0"/>
            <a:r>
              <a:rPr lang="en-US" sz="1200" kern="1200" dirty="0">
                <a:solidFill>
                  <a:schemeClr val="tx1"/>
                </a:solidFill>
                <a:effectLst/>
                <a:latin typeface="+mn-lt"/>
                <a:ea typeface="+mn-ea"/>
                <a:cs typeface="+mn-cs"/>
              </a:rPr>
              <a:t>This suggests that the relationship between download performance and the selected variables is not purely linear and may involve interactions or threshold effects. </a:t>
            </a:r>
          </a:p>
          <a:p>
            <a:pPr lvl="0"/>
            <a:r>
              <a:rPr lang="en-US" sz="1200" kern="1200" dirty="0">
                <a:solidFill>
                  <a:schemeClr val="tx1"/>
                </a:solidFill>
                <a:effectLst/>
                <a:latin typeface="+mn-lt"/>
                <a:ea typeface="+mn-ea"/>
                <a:cs typeface="+mn-cs"/>
              </a:rPr>
              <a:t>The models also show that the available explanatory variables capture part, but not all, of the territorial variation in 5G performance. </a:t>
            </a:r>
          </a:p>
          <a:p>
            <a:endParaRPr lang="en-US" dirty="0"/>
          </a:p>
        </p:txBody>
      </p:sp>
      <p:sp>
        <p:nvSpPr>
          <p:cNvPr id="4" name="Slide Number Placeholder 3"/>
          <p:cNvSpPr>
            <a:spLocks noGrp="1"/>
          </p:cNvSpPr>
          <p:nvPr>
            <p:ph type="sldNum" sz="quarter" idx="5"/>
          </p:nvPr>
        </p:nvSpPr>
        <p:spPr/>
        <p:txBody>
          <a:bodyPr/>
          <a:lstStyle/>
          <a:p>
            <a:fld id="{24BD1F29-6D9C-4F9A-84F0-0549FD512D9F}" type="slidenum">
              <a:rPr lang="en-US" smtClean="0"/>
              <a:t>15</a:t>
            </a:fld>
            <a:endParaRPr lang="en-US"/>
          </a:p>
        </p:txBody>
      </p:sp>
    </p:spTree>
    <p:extLst>
      <p:ext uri="{BB962C8B-B14F-4D97-AF65-F5344CB8AC3E}">
        <p14:creationId xmlns:p14="http://schemas.microsoft.com/office/powerpoint/2010/main" val="760354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9/15/2026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9/15/2026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9/15/2026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GB"/>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9/15/2026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9/15/2026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9/15/2026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71A0F-AD3E-3998-6079-4D760581048B}"/>
              </a:ext>
            </a:extLst>
          </p:cNvPr>
          <p:cNvSpPr>
            <a:spLocks noGrp="1"/>
          </p:cNvSpPr>
          <p:nvPr>
            <p:ph type="ctrTitle"/>
          </p:nvPr>
        </p:nvSpPr>
        <p:spPr>
          <a:xfrm>
            <a:off x="533401" y="1054986"/>
            <a:ext cx="6837650" cy="1464378"/>
          </a:xfrm>
        </p:spPr>
        <p:txBody>
          <a:bodyPr>
            <a:normAutofit/>
          </a:bodyPr>
          <a:lstStyle/>
          <a:p>
            <a:r>
              <a:rPr lang="en-US" sz="4400" b="1" dirty="0"/>
              <a:t>5G Mobile Network Performance in France</a:t>
            </a:r>
          </a:p>
        </p:txBody>
      </p:sp>
      <p:sp>
        <p:nvSpPr>
          <p:cNvPr id="3" name="Subtitle 2">
            <a:extLst>
              <a:ext uri="{FF2B5EF4-FFF2-40B4-BE49-F238E27FC236}">
                <a16:creationId xmlns:a16="http://schemas.microsoft.com/office/drawing/2014/main" id="{DF78CE50-17C1-A898-C0AE-BF54F32A3405}"/>
              </a:ext>
            </a:extLst>
          </p:cNvPr>
          <p:cNvSpPr>
            <a:spLocks noGrp="1"/>
          </p:cNvSpPr>
          <p:nvPr>
            <p:ph type="subTitle" idx="1"/>
          </p:nvPr>
        </p:nvSpPr>
        <p:spPr>
          <a:xfrm>
            <a:off x="533401" y="3225949"/>
            <a:ext cx="7051963" cy="961587"/>
          </a:xfrm>
        </p:spPr>
        <p:txBody>
          <a:bodyPr>
            <a:normAutofit/>
          </a:bodyPr>
          <a:lstStyle/>
          <a:p>
            <a:r>
              <a:rPr lang="en-US" sz="2400" b="1" dirty="0">
                <a:solidFill>
                  <a:schemeClr val="tx1"/>
                </a:solidFill>
              </a:rPr>
              <a:t>Territorial disparities and potential explanatory factors</a:t>
            </a:r>
          </a:p>
        </p:txBody>
      </p:sp>
      <p:pic>
        <p:nvPicPr>
          <p:cNvPr id="5" name="Picture 4" descr="Cell towers">
            <a:extLst>
              <a:ext uri="{FF2B5EF4-FFF2-40B4-BE49-F238E27FC236}">
                <a16:creationId xmlns:a16="http://schemas.microsoft.com/office/drawing/2014/main" id="{F19B2EB2-D9F6-20A0-07A2-AB5FFCBA7A5A}"/>
              </a:ext>
            </a:extLst>
          </p:cNvPr>
          <p:cNvPicPr>
            <a:picLocks noChangeAspect="1"/>
          </p:cNvPicPr>
          <p:nvPr/>
        </p:nvPicPr>
        <p:blipFill>
          <a:blip r:embed="rId4"/>
          <a:srcRect l="60494" r="-1" b="-1"/>
          <a:stretch>
            <a:fillRect/>
          </a:stretch>
        </p:blipFill>
        <p:spPr>
          <a:xfrm>
            <a:off x="8133050" y="10"/>
            <a:ext cx="4058950" cy="6857990"/>
          </a:xfrm>
          <a:prstGeom prst="rect">
            <a:avLst/>
          </a:prstGeom>
        </p:spPr>
      </p:pic>
      <p:sp>
        <p:nvSpPr>
          <p:cNvPr id="27" name="Rectangle 26">
            <a:extLst>
              <a:ext uri="{FF2B5EF4-FFF2-40B4-BE49-F238E27FC236}">
                <a16:creationId xmlns:a16="http://schemas.microsoft.com/office/drawing/2014/main" id="{252FB517-FF87-4FC2-ACB8-95ECAD68BD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TextBox 6">
            <a:extLst>
              <a:ext uri="{FF2B5EF4-FFF2-40B4-BE49-F238E27FC236}">
                <a16:creationId xmlns:a16="http://schemas.microsoft.com/office/drawing/2014/main" id="{E6671DED-CDC0-D8BB-11C6-7C6C84078201}"/>
              </a:ext>
            </a:extLst>
          </p:cNvPr>
          <p:cNvSpPr txBox="1"/>
          <p:nvPr/>
        </p:nvSpPr>
        <p:spPr>
          <a:xfrm>
            <a:off x="316057" y="4970689"/>
            <a:ext cx="4307898" cy="646331"/>
          </a:xfrm>
          <a:prstGeom prst="rect">
            <a:avLst/>
          </a:prstGeom>
          <a:noFill/>
        </p:spPr>
        <p:txBody>
          <a:bodyPr wrap="square">
            <a:spAutoFit/>
          </a:bodyPr>
          <a:lstStyle/>
          <a:p>
            <a:r>
              <a:rPr lang="en-US" dirty="0"/>
              <a:t>RNCP 37827 · Data Analyst Project</a:t>
            </a:r>
          </a:p>
          <a:p>
            <a:r>
              <a:rPr lang="en-US" dirty="0" err="1"/>
              <a:t>Ironhack</a:t>
            </a:r>
            <a:r>
              <a:rPr lang="en-US" dirty="0"/>
              <a:t> Data Analytics </a:t>
            </a:r>
          </a:p>
        </p:txBody>
      </p:sp>
      <p:sp>
        <p:nvSpPr>
          <p:cNvPr id="9" name="TextBox 8">
            <a:extLst>
              <a:ext uri="{FF2B5EF4-FFF2-40B4-BE49-F238E27FC236}">
                <a16:creationId xmlns:a16="http://schemas.microsoft.com/office/drawing/2014/main" id="{915C4751-8333-5A08-1BEA-E4B3B700CC67}"/>
              </a:ext>
            </a:extLst>
          </p:cNvPr>
          <p:cNvSpPr txBox="1"/>
          <p:nvPr/>
        </p:nvSpPr>
        <p:spPr>
          <a:xfrm>
            <a:off x="4187535" y="5756935"/>
            <a:ext cx="3564515" cy="646331"/>
          </a:xfrm>
          <a:prstGeom prst="rect">
            <a:avLst/>
          </a:prstGeom>
          <a:noFill/>
        </p:spPr>
        <p:txBody>
          <a:bodyPr wrap="square">
            <a:spAutoFit/>
          </a:bodyPr>
          <a:lstStyle/>
          <a:p>
            <a:r>
              <a:rPr lang="en-US" dirty="0"/>
              <a:t>Zidène Aourdache</a:t>
            </a:r>
          </a:p>
          <a:p>
            <a:r>
              <a:rPr lang="en-US" dirty="0"/>
              <a:t>Sept. 2026</a:t>
            </a:r>
          </a:p>
        </p:txBody>
      </p:sp>
    </p:spTree>
    <p:extLst>
      <p:ext uri="{BB962C8B-B14F-4D97-AF65-F5344CB8AC3E}">
        <p14:creationId xmlns:p14="http://schemas.microsoft.com/office/powerpoint/2010/main" val="2957064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117F0-1E7A-947C-17B7-267D97183308}"/>
              </a:ext>
            </a:extLst>
          </p:cNvPr>
          <p:cNvSpPr>
            <a:spLocks noGrp="1"/>
          </p:cNvSpPr>
          <p:nvPr>
            <p:ph type="title"/>
          </p:nvPr>
        </p:nvSpPr>
        <p:spPr/>
        <p:txBody>
          <a:bodyPr/>
          <a:lstStyle/>
          <a:p>
            <a:r>
              <a:rPr lang="fr-FR" b="1" dirty="0"/>
              <a:t>Agenda</a:t>
            </a:r>
            <a:endParaRPr lang="en-US" b="1" dirty="0"/>
          </a:p>
        </p:txBody>
      </p:sp>
      <p:sp>
        <p:nvSpPr>
          <p:cNvPr id="3" name="Content Placeholder 2">
            <a:extLst>
              <a:ext uri="{FF2B5EF4-FFF2-40B4-BE49-F238E27FC236}">
                <a16:creationId xmlns:a16="http://schemas.microsoft.com/office/drawing/2014/main" id="{250212C8-1912-A313-3DE7-2775F79B9967}"/>
              </a:ext>
            </a:extLst>
          </p:cNvPr>
          <p:cNvSpPr>
            <a:spLocks noGrp="1"/>
          </p:cNvSpPr>
          <p:nvPr>
            <p:ph idx="1"/>
          </p:nvPr>
        </p:nvSpPr>
        <p:spPr>
          <a:xfrm>
            <a:off x="2039475" y="1080656"/>
            <a:ext cx="8946541" cy="5538354"/>
          </a:xfrm>
        </p:spPr>
        <p:txBody>
          <a:bodyPr>
            <a:normAutofit fontScale="92500" lnSpcReduction="10000"/>
          </a:bodyPr>
          <a:lstStyle/>
          <a:p>
            <a:r>
              <a:rPr lang="en-US" b="1" dirty="0"/>
              <a:t>01 — Business Question &amp; Objectives</a:t>
            </a:r>
            <a:endParaRPr lang="en-US" dirty="0"/>
          </a:p>
          <a:p>
            <a:r>
              <a:rPr lang="en-US" b="1" dirty="0"/>
              <a:t>02 — Data Sources</a:t>
            </a:r>
            <a:endParaRPr lang="en-US" dirty="0"/>
          </a:p>
          <a:p>
            <a:r>
              <a:rPr lang="en-US" b="1" dirty="0"/>
              <a:t>03 — End-to-End Data Pipeline Architecture</a:t>
            </a:r>
            <a:endParaRPr lang="en-US" dirty="0"/>
          </a:p>
          <a:p>
            <a:r>
              <a:rPr lang="en-US" b="1" dirty="0"/>
              <a:t>04 — MySQL Relational Database</a:t>
            </a:r>
            <a:endParaRPr lang="en-US" dirty="0"/>
          </a:p>
          <a:p>
            <a:r>
              <a:rPr lang="en-US" b="1" dirty="0"/>
              <a:t>05 — </a:t>
            </a:r>
            <a:r>
              <a:rPr lang="en-US" b="1" dirty="0" err="1"/>
              <a:t>BigQuery</a:t>
            </a:r>
            <a:r>
              <a:rPr lang="en-US" b="1" dirty="0"/>
              <a:t>: Analytical Data Layer</a:t>
            </a:r>
            <a:endParaRPr lang="en-US" dirty="0"/>
          </a:p>
          <a:p>
            <a:r>
              <a:rPr lang="en-US" b="1" dirty="0"/>
              <a:t>06 — Measurement Coverage &amp; Balance</a:t>
            </a:r>
            <a:endParaRPr lang="en-US" dirty="0"/>
          </a:p>
          <a:p>
            <a:r>
              <a:rPr lang="en-US" b="1" dirty="0"/>
              <a:t>07 — What Are the Performance Disparities?</a:t>
            </a:r>
            <a:endParaRPr lang="en-US" dirty="0"/>
          </a:p>
          <a:p>
            <a:r>
              <a:rPr lang="en-US" b="1" dirty="0"/>
              <a:t>08 — Statistical Evidence: Do the Differences Hold?</a:t>
            </a:r>
          </a:p>
          <a:p>
            <a:r>
              <a:rPr lang="en-US" b="1" dirty="0"/>
              <a:t>09 — What Could Explain the Differences?</a:t>
            </a:r>
            <a:endParaRPr lang="en-US" dirty="0"/>
          </a:p>
          <a:p>
            <a:pPr lvl="1"/>
            <a:r>
              <a:rPr lang="en-US" b="1" dirty="0"/>
              <a:t>09.1 — Interpretation</a:t>
            </a:r>
            <a:endParaRPr lang="en-US" dirty="0"/>
          </a:p>
          <a:p>
            <a:r>
              <a:rPr lang="en-US" b="1" dirty="0"/>
              <a:t>10 —  ML Process</a:t>
            </a:r>
          </a:p>
          <a:p>
            <a:r>
              <a:rPr lang="en-US" b="1" dirty="0"/>
              <a:t>11 — Final Conclusion</a:t>
            </a:r>
            <a:endParaRPr lang="en-US" dirty="0"/>
          </a:p>
          <a:p>
            <a:r>
              <a:rPr lang="en-US" b="1" dirty="0"/>
              <a:t>12 — Challenges &amp; Next Steps</a:t>
            </a:r>
          </a:p>
          <a:p>
            <a:r>
              <a:rPr lang="en-US" b="1" dirty="0"/>
              <a:t>12 — Power BI Dashboard</a:t>
            </a:r>
          </a:p>
        </p:txBody>
      </p:sp>
    </p:spTree>
    <p:extLst>
      <p:ext uri="{BB962C8B-B14F-4D97-AF65-F5344CB8AC3E}">
        <p14:creationId xmlns:p14="http://schemas.microsoft.com/office/powerpoint/2010/main" val="2954346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386D6-7DAF-BCAC-3FDA-4437780BB4EF}"/>
              </a:ext>
            </a:extLst>
          </p:cNvPr>
          <p:cNvSpPr>
            <a:spLocks noGrp="1"/>
          </p:cNvSpPr>
          <p:nvPr>
            <p:ph type="title"/>
          </p:nvPr>
        </p:nvSpPr>
        <p:spPr>
          <a:xfrm>
            <a:off x="646111" y="452718"/>
            <a:ext cx="9404723" cy="887709"/>
          </a:xfrm>
        </p:spPr>
        <p:txBody>
          <a:bodyPr/>
          <a:lstStyle/>
          <a:p>
            <a:r>
              <a:rPr lang="en-US" b="1" dirty="0"/>
              <a:t>1. Business Question &amp; Objectives</a:t>
            </a:r>
          </a:p>
        </p:txBody>
      </p:sp>
      <p:sp>
        <p:nvSpPr>
          <p:cNvPr id="3" name="Content Placeholder 2">
            <a:extLst>
              <a:ext uri="{FF2B5EF4-FFF2-40B4-BE49-F238E27FC236}">
                <a16:creationId xmlns:a16="http://schemas.microsoft.com/office/drawing/2014/main" id="{70B4B548-16FD-0E29-1727-FF913F3046EF}"/>
              </a:ext>
            </a:extLst>
          </p:cNvPr>
          <p:cNvSpPr>
            <a:spLocks noGrp="1"/>
          </p:cNvSpPr>
          <p:nvPr>
            <p:ph idx="1"/>
          </p:nvPr>
        </p:nvSpPr>
        <p:spPr>
          <a:xfrm>
            <a:off x="1104293" y="2017262"/>
            <a:ext cx="8946541" cy="887709"/>
          </a:xfrm>
        </p:spPr>
        <p:txBody>
          <a:bodyPr/>
          <a:lstStyle/>
          <a:p>
            <a:r>
              <a:rPr lang="en-US" b="1" dirty="0"/>
              <a:t>Are there significant territorial inequalities in mobile network performance in France, and what can explain these disparities?</a:t>
            </a:r>
          </a:p>
        </p:txBody>
      </p:sp>
      <p:sp>
        <p:nvSpPr>
          <p:cNvPr id="6" name="Subtitle 2">
            <a:extLst>
              <a:ext uri="{FF2B5EF4-FFF2-40B4-BE49-F238E27FC236}">
                <a16:creationId xmlns:a16="http://schemas.microsoft.com/office/drawing/2014/main" id="{0B654BB1-9296-7F8F-29F2-1A9E80205032}"/>
              </a:ext>
            </a:extLst>
          </p:cNvPr>
          <p:cNvSpPr txBox="1">
            <a:spLocks/>
          </p:cNvSpPr>
          <p:nvPr/>
        </p:nvSpPr>
        <p:spPr>
          <a:xfrm>
            <a:off x="803564" y="2904971"/>
            <a:ext cx="2070765" cy="4348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fr-FR" sz="2200" b="1" dirty="0"/>
              <a:t>OBJECTIVES:</a:t>
            </a:r>
            <a:endParaRPr lang="en-US" sz="2200" b="1" dirty="0"/>
          </a:p>
        </p:txBody>
      </p:sp>
      <p:sp>
        <p:nvSpPr>
          <p:cNvPr id="8" name="Subtitle 2">
            <a:extLst>
              <a:ext uri="{FF2B5EF4-FFF2-40B4-BE49-F238E27FC236}">
                <a16:creationId xmlns:a16="http://schemas.microsoft.com/office/drawing/2014/main" id="{9505EF17-E0C4-699B-FB79-483C1BA69C4F}"/>
              </a:ext>
            </a:extLst>
          </p:cNvPr>
          <p:cNvSpPr txBox="1">
            <a:spLocks/>
          </p:cNvSpPr>
          <p:nvPr/>
        </p:nvSpPr>
        <p:spPr>
          <a:xfrm>
            <a:off x="803563" y="1327939"/>
            <a:ext cx="2916381" cy="560966"/>
          </a:xfrm>
          <a:prstGeom prst="rect">
            <a:avLst/>
          </a:prstGeom>
        </p:spPr>
        <p:txBody>
          <a:bodyPr vert="horz" lIns="91440" tIns="45720" rIns="91440" bIns="45720" rtlCol="0">
            <a:normAutofit fontScale="925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fr-FR" sz="2400" b="1" dirty="0"/>
              <a:t>BUSINESS QUESTION:</a:t>
            </a:r>
            <a:endParaRPr lang="en-US" sz="2400" b="1" dirty="0"/>
          </a:p>
        </p:txBody>
      </p:sp>
      <p:sp>
        <p:nvSpPr>
          <p:cNvPr id="9" name="Rectangle: Rounded Corners 8">
            <a:extLst>
              <a:ext uri="{FF2B5EF4-FFF2-40B4-BE49-F238E27FC236}">
                <a16:creationId xmlns:a16="http://schemas.microsoft.com/office/drawing/2014/main" id="{BAA576EF-7B8D-F02A-B01A-E2E73BD5CD4A}"/>
              </a:ext>
            </a:extLst>
          </p:cNvPr>
          <p:cNvSpPr/>
          <p:nvPr/>
        </p:nvSpPr>
        <p:spPr>
          <a:xfrm>
            <a:off x="526471" y="3678381"/>
            <a:ext cx="3470564" cy="1497574"/>
          </a:xfrm>
          <a:prstGeom prst="round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72C78373-96D0-09B6-86BB-7A7413FC1964}"/>
              </a:ext>
            </a:extLst>
          </p:cNvPr>
          <p:cNvSpPr/>
          <p:nvPr/>
        </p:nvSpPr>
        <p:spPr>
          <a:xfrm>
            <a:off x="8194965" y="3678381"/>
            <a:ext cx="3470564" cy="1497574"/>
          </a:xfrm>
          <a:prstGeom prst="round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265E91A-7D05-5D7B-F8AF-48AC2AB85FB8}"/>
              </a:ext>
            </a:extLst>
          </p:cNvPr>
          <p:cNvSpPr txBox="1"/>
          <p:nvPr/>
        </p:nvSpPr>
        <p:spPr>
          <a:xfrm>
            <a:off x="1104293" y="3699291"/>
            <a:ext cx="1709122" cy="369332"/>
          </a:xfrm>
          <a:prstGeom prst="rect">
            <a:avLst/>
          </a:prstGeom>
          <a:noFill/>
        </p:spPr>
        <p:txBody>
          <a:bodyPr wrap="none" rtlCol="0">
            <a:spAutoFit/>
          </a:bodyPr>
          <a:lstStyle/>
          <a:p>
            <a:r>
              <a:rPr lang="en-US" b="1" dirty="0"/>
              <a:t>01 — Analyze</a:t>
            </a:r>
          </a:p>
        </p:txBody>
      </p:sp>
      <p:sp>
        <p:nvSpPr>
          <p:cNvPr id="15" name="TextBox 14">
            <a:extLst>
              <a:ext uri="{FF2B5EF4-FFF2-40B4-BE49-F238E27FC236}">
                <a16:creationId xmlns:a16="http://schemas.microsoft.com/office/drawing/2014/main" id="{D1557A51-241E-EC2F-E21E-8E93EE410090}"/>
              </a:ext>
            </a:extLst>
          </p:cNvPr>
          <p:cNvSpPr txBox="1"/>
          <p:nvPr/>
        </p:nvSpPr>
        <p:spPr>
          <a:xfrm>
            <a:off x="646111" y="4191068"/>
            <a:ext cx="3307776" cy="646331"/>
          </a:xfrm>
          <a:prstGeom prst="rect">
            <a:avLst/>
          </a:prstGeom>
          <a:noFill/>
        </p:spPr>
        <p:txBody>
          <a:bodyPr wrap="square" rtlCol="0">
            <a:spAutoFit/>
          </a:bodyPr>
          <a:lstStyle/>
          <a:p>
            <a:pPr algn="ctr"/>
            <a:r>
              <a:rPr lang="en-US" dirty="0"/>
              <a:t>5G network performance across key QoS indicators</a:t>
            </a:r>
          </a:p>
        </p:txBody>
      </p:sp>
      <p:sp>
        <p:nvSpPr>
          <p:cNvPr id="17" name="Rectangle: Rounded Corners 16">
            <a:extLst>
              <a:ext uri="{FF2B5EF4-FFF2-40B4-BE49-F238E27FC236}">
                <a16:creationId xmlns:a16="http://schemas.microsoft.com/office/drawing/2014/main" id="{AAAFEDD3-861F-13D0-A389-BF5761ED592C}"/>
              </a:ext>
            </a:extLst>
          </p:cNvPr>
          <p:cNvSpPr/>
          <p:nvPr/>
        </p:nvSpPr>
        <p:spPr>
          <a:xfrm>
            <a:off x="4360718" y="3678381"/>
            <a:ext cx="3470564" cy="1497574"/>
          </a:xfrm>
          <a:prstGeom prst="round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5C6E234-F5EE-B399-F63F-DB3E1742C458}"/>
              </a:ext>
            </a:extLst>
          </p:cNvPr>
          <p:cNvSpPr txBox="1"/>
          <p:nvPr/>
        </p:nvSpPr>
        <p:spPr>
          <a:xfrm>
            <a:off x="4970692" y="3699291"/>
            <a:ext cx="1624163" cy="369332"/>
          </a:xfrm>
          <a:prstGeom prst="rect">
            <a:avLst/>
          </a:prstGeom>
          <a:noFill/>
        </p:spPr>
        <p:txBody>
          <a:bodyPr wrap="none" rtlCol="0">
            <a:spAutoFit/>
          </a:bodyPr>
          <a:lstStyle/>
          <a:p>
            <a:r>
              <a:rPr lang="en-US" b="1" dirty="0"/>
              <a:t>02 — Identify</a:t>
            </a:r>
          </a:p>
        </p:txBody>
      </p:sp>
      <p:sp>
        <p:nvSpPr>
          <p:cNvPr id="21" name="TextBox 20">
            <a:extLst>
              <a:ext uri="{FF2B5EF4-FFF2-40B4-BE49-F238E27FC236}">
                <a16:creationId xmlns:a16="http://schemas.microsoft.com/office/drawing/2014/main" id="{0AC2D5BF-D51F-DDA9-EECF-0F1652D9E596}"/>
              </a:ext>
            </a:extLst>
          </p:cNvPr>
          <p:cNvSpPr txBox="1"/>
          <p:nvPr/>
        </p:nvSpPr>
        <p:spPr>
          <a:xfrm>
            <a:off x="4512510" y="4191068"/>
            <a:ext cx="3307776" cy="646331"/>
          </a:xfrm>
          <a:prstGeom prst="rect">
            <a:avLst/>
          </a:prstGeom>
          <a:noFill/>
        </p:spPr>
        <p:txBody>
          <a:bodyPr wrap="square" rtlCol="0">
            <a:spAutoFit/>
          </a:bodyPr>
          <a:lstStyle/>
          <a:p>
            <a:pPr algn="ctr"/>
            <a:r>
              <a:rPr lang="en-US" dirty="0"/>
              <a:t>Territorial and operator-level disparities</a:t>
            </a:r>
          </a:p>
        </p:txBody>
      </p:sp>
      <p:sp>
        <p:nvSpPr>
          <p:cNvPr id="23" name="TextBox 22">
            <a:extLst>
              <a:ext uri="{FF2B5EF4-FFF2-40B4-BE49-F238E27FC236}">
                <a16:creationId xmlns:a16="http://schemas.microsoft.com/office/drawing/2014/main" id="{584EDA3A-026F-F130-D842-3152C9EF0519}"/>
              </a:ext>
            </a:extLst>
          </p:cNvPr>
          <p:cNvSpPr txBox="1"/>
          <p:nvPr/>
        </p:nvSpPr>
        <p:spPr>
          <a:xfrm>
            <a:off x="8815935" y="3699291"/>
            <a:ext cx="1630575" cy="369332"/>
          </a:xfrm>
          <a:prstGeom prst="rect">
            <a:avLst/>
          </a:prstGeom>
          <a:noFill/>
        </p:spPr>
        <p:txBody>
          <a:bodyPr wrap="none" rtlCol="0">
            <a:spAutoFit/>
          </a:bodyPr>
          <a:lstStyle/>
          <a:p>
            <a:r>
              <a:rPr lang="en-US" b="1" dirty="0"/>
              <a:t>03 — Explore</a:t>
            </a:r>
          </a:p>
        </p:txBody>
      </p:sp>
      <p:sp>
        <p:nvSpPr>
          <p:cNvPr id="25" name="TextBox 24">
            <a:extLst>
              <a:ext uri="{FF2B5EF4-FFF2-40B4-BE49-F238E27FC236}">
                <a16:creationId xmlns:a16="http://schemas.microsoft.com/office/drawing/2014/main" id="{F91178EF-D160-833E-D462-12FBA4B51586}"/>
              </a:ext>
            </a:extLst>
          </p:cNvPr>
          <p:cNvSpPr txBox="1"/>
          <p:nvPr/>
        </p:nvSpPr>
        <p:spPr>
          <a:xfrm>
            <a:off x="8238113" y="4052568"/>
            <a:ext cx="3307776" cy="923330"/>
          </a:xfrm>
          <a:prstGeom prst="rect">
            <a:avLst/>
          </a:prstGeom>
          <a:noFill/>
        </p:spPr>
        <p:txBody>
          <a:bodyPr wrap="square" rtlCol="0">
            <a:spAutoFit/>
          </a:bodyPr>
          <a:lstStyle/>
          <a:p>
            <a:pPr algn="ctr"/>
            <a:r>
              <a:rPr lang="en-US" dirty="0"/>
              <a:t>Potential factors associated with performance difference</a:t>
            </a:r>
          </a:p>
        </p:txBody>
      </p:sp>
      <p:sp>
        <p:nvSpPr>
          <p:cNvPr id="27" name="Subtitle 2">
            <a:extLst>
              <a:ext uri="{FF2B5EF4-FFF2-40B4-BE49-F238E27FC236}">
                <a16:creationId xmlns:a16="http://schemas.microsoft.com/office/drawing/2014/main" id="{7FC84E5E-B126-1769-7891-363D4535DB6F}"/>
              </a:ext>
            </a:extLst>
          </p:cNvPr>
          <p:cNvSpPr txBox="1">
            <a:spLocks/>
          </p:cNvSpPr>
          <p:nvPr/>
        </p:nvSpPr>
        <p:spPr>
          <a:xfrm>
            <a:off x="877133" y="5471215"/>
            <a:ext cx="2070765" cy="4348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fr-FR" sz="2200" b="1" dirty="0"/>
              <a:t>SCOPE:</a:t>
            </a:r>
            <a:endParaRPr lang="en-US" sz="2200" b="1" dirty="0"/>
          </a:p>
        </p:txBody>
      </p:sp>
      <p:sp>
        <p:nvSpPr>
          <p:cNvPr id="29" name="TextBox 28">
            <a:extLst>
              <a:ext uri="{FF2B5EF4-FFF2-40B4-BE49-F238E27FC236}">
                <a16:creationId xmlns:a16="http://schemas.microsoft.com/office/drawing/2014/main" id="{71424EC0-1E2A-6B4E-19CE-5871A1C88317}"/>
              </a:ext>
            </a:extLst>
          </p:cNvPr>
          <p:cNvSpPr txBox="1"/>
          <p:nvPr/>
        </p:nvSpPr>
        <p:spPr>
          <a:xfrm>
            <a:off x="1923557" y="5906069"/>
            <a:ext cx="6892377" cy="369332"/>
          </a:xfrm>
          <a:prstGeom prst="rect">
            <a:avLst/>
          </a:prstGeom>
          <a:noFill/>
        </p:spPr>
        <p:txBody>
          <a:bodyPr wrap="square">
            <a:spAutoFit/>
          </a:bodyPr>
          <a:lstStyle/>
          <a:p>
            <a:r>
              <a:rPr lang="en-US" dirty="0"/>
              <a:t>Metropolitan France · 2025(T3) · 4 * 5G QoS · 4 operators</a:t>
            </a:r>
          </a:p>
        </p:txBody>
      </p:sp>
    </p:spTree>
    <p:extLst>
      <p:ext uri="{BB962C8B-B14F-4D97-AF65-F5344CB8AC3E}">
        <p14:creationId xmlns:p14="http://schemas.microsoft.com/office/powerpoint/2010/main" val="749991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037B9-6064-E947-BFE6-555E1D42FD8E}"/>
              </a:ext>
            </a:extLst>
          </p:cNvPr>
          <p:cNvSpPr>
            <a:spLocks noGrp="1"/>
          </p:cNvSpPr>
          <p:nvPr>
            <p:ph type="title"/>
          </p:nvPr>
        </p:nvSpPr>
        <p:spPr>
          <a:xfrm>
            <a:off x="646110" y="329139"/>
            <a:ext cx="7791307" cy="717374"/>
          </a:xfrm>
        </p:spPr>
        <p:txBody>
          <a:bodyPr/>
          <a:lstStyle/>
          <a:p>
            <a:r>
              <a:rPr lang="en-US" b="1" dirty="0"/>
              <a:t>2. Data sources &amp; Collection</a:t>
            </a:r>
          </a:p>
        </p:txBody>
      </p:sp>
      <p:sp>
        <p:nvSpPr>
          <p:cNvPr id="5" name="Flowchart: Document 4">
            <a:extLst>
              <a:ext uri="{FF2B5EF4-FFF2-40B4-BE49-F238E27FC236}">
                <a16:creationId xmlns:a16="http://schemas.microsoft.com/office/drawing/2014/main" id="{49CA1F66-32C2-7987-B642-0E921884CA0F}"/>
              </a:ext>
            </a:extLst>
          </p:cNvPr>
          <p:cNvSpPr/>
          <p:nvPr/>
        </p:nvSpPr>
        <p:spPr>
          <a:xfrm>
            <a:off x="809297" y="1408388"/>
            <a:ext cx="3596448" cy="2060147"/>
          </a:xfrm>
          <a:prstGeom prst="flowChartDocumen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0E128987-19E8-100E-07C0-8A48FF288AEE}"/>
              </a:ext>
            </a:extLst>
          </p:cNvPr>
          <p:cNvSpPr txBox="1"/>
          <p:nvPr/>
        </p:nvSpPr>
        <p:spPr>
          <a:xfrm>
            <a:off x="809297" y="1764270"/>
            <a:ext cx="3565400" cy="369332"/>
          </a:xfrm>
          <a:prstGeom prst="rect">
            <a:avLst/>
          </a:prstGeom>
          <a:noFill/>
        </p:spPr>
        <p:txBody>
          <a:bodyPr wrap="none" rtlCol="0">
            <a:spAutoFit/>
          </a:bodyPr>
          <a:lstStyle/>
          <a:p>
            <a:r>
              <a:rPr lang="fr-FR" b="1" dirty="0"/>
              <a:t>File1: </a:t>
            </a:r>
            <a:r>
              <a:rPr lang="fr-FR" i="1" dirty="0"/>
              <a:t>5G_Mobile_QoS: </a:t>
            </a:r>
            <a:r>
              <a:rPr lang="en-US" b="1" dirty="0">
                <a:highlight>
                  <a:srgbClr val="808000"/>
                </a:highlight>
              </a:rPr>
              <a:t>317,998</a:t>
            </a:r>
          </a:p>
        </p:txBody>
      </p:sp>
      <p:sp>
        <p:nvSpPr>
          <p:cNvPr id="9" name="TextBox 8">
            <a:extLst>
              <a:ext uri="{FF2B5EF4-FFF2-40B4-BE49-F238E27FC236}">
                <a16:creationId xmlns:a16="http://schemas.microsoft.com/office/drawing/2014/main" id="{2E2FF9CF-FC64-DC74-109B-303A3C822599}"/>
              </a:ext>
            </a:extLst>
          </p:cNvPr>
          <p:cNvSpPr txBox="1"/>
          <p:nvPr/>
        </p:nvSpPr>
        <p:spPr>
          <a:xfrm>
            <a:off x="809297" y="1454871"/>
            <a:ext cx="963757" cy="369332"/>
          </a:xfrm>
          <a:prstGeom prst="rect">
            <a:avLst/>
          </a:prstGeom>
          <a:noFill/>
        </p:spPr>
        <p:txBody>
          <a:bodyPr wrap="square">
            <a:spAutoFit/>
          </a:bodyPr>
          <a:lstStyle/>
          <a:p>
            <a:r>
              <a:rPr lang="fr-FR" sz="1800" b="1" dirty="0"/>
              <a:t>ARCEP</a:t>
            </a:r>
            <a:endParaRPr lang="en-US" b="1" dirty="0"/>
          </a:p>
        </p:txBody>
      </p:sp>
      <p:sp>
        <p:nvSpPr>
          <p:cNvPr id="10" name="TextBox 9">
            <a:extLst>
              <a:ext uri="{FF2B5EF4-FFF2-40B4-BE49-F238E27FC236}">
                <a16:creationId xmlns:a16="http://schemas.microsoft.com/office/drawing/2014/main" id="{4A5BB98F-A00A-A9CD-460A-8E18C260A7B8}"/>
              </a:ext>
            </a:extLst>
          </p:cNvPr>
          <p:cNvSpPr txBox="1"/>
          <p:nvPr/>
        </p:nvSpPr>
        <p:spPr>
          <a:xfrm>
            <a:off x="809297" y="2073668"/>
            <a:ext cx="3471757" cy="1200329"/>
          </a:xfrm>
          <a:prstGeom prst="rect">
            <a:avLst/>
          </a:prstGeom>
          <a:noFill/>
        </p:spPr>
        <p:txBody>
          <a:bodyPr wrap="square" rtlCol="0">
            <a:spAutoFit/>
          </a:bodyPr>
          <a:lstStyle/>
          <a:p>
            <a:r>
              <a:rPr lang="fr-FR" b="1" dirty="0"/>
              <a:t>Source</a:t>
            </a:r>
            <a:r>
              <a:rPr lang="fr-FR" dirty="0"/>
              <a:t>:  "https://data.arcep.fr/mobile/</a:t>
            </a:r>
            <a:r>
              <a:rPr lang="fr-FR" dirty="0" err="1"/>
              <a:t>mesures_qualite_arcep</a:t>
            </a:r>
            <a:r>
              <a:rPr lang="fr-FR" dirty="0"/>
              <a:t>/2025/</a:t>
            </a:r>
            <a:r>
              <a:rPr lang="fr-FR" dirty="0" err="1"/>
              <a:t>Metropole</a:t>
            </a:r>
            <a:r>
              <a:rPr lang="fr-FR" dirty="0"/>
              <a:t>/"</a:t>
            </a:r>
            <a:endParaRPr lang="en-US" dirty="0"/>
          </a:p>
        </p:txBody>
      </p:sp>
      <p:sp>
        <p:nvSpPr>
          <p:cNvPr id="12" name="Flowchart: Document 11">
            <a:extLst>
              <a:ext uri="{FF2B5EF4-FFF2-40B4-BE49-F238E27FC236}">
                <a16:creationId xmlns:a16="http://schemas.microsoft.com/office/drawing/2014/main" id="{D8082410-3BCC-4FFA-A17A-23747747AD64}"/>
              </a:ext>
            </a:extLst>
          </p:cNvPr>
          <p:cNvSpPr/>
          <p:nvPr/>
        </p:nvSpPr>
        <p:spPr>
          <a:xfrm>
            <a:off x="5450969" y="1408387"/>
            <a:ext cx="3596448" cy="2060147"/>
          </a:xfrm>
          <a:prstGeom prst="flowChartDocumen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8F4FB69D-8E10-D52F-5ACC-648B486EE79F}"/>
              </a:ext>
            </a:extLst>
          </p:cNvPr>
          <p:cNvSpPr txBox="1"/>
          <p:nvPr/>
        </p:nvSpPr>
        <p:spPr>
          <a:xfrm>
            <a:off x="5450969" y="1482138"/>
            <a:ext cx="963757" cy="369332"/>
          </a:xfrm>
          <a:prstGeom prst="rect">
            <a:avLst/>
          </a:prstGeom>
          <a:noFill/>
        </p:spPr>
        <p:txBody>
          <a:bodyPr wrap="square">
            <a:spAutoFit/>
          </a:bodyPr>
          <a:lstStyle/>
          <a:p>
            <a:r>
              <a:rPr lang="fr-FR" sz="1800" b="1" dirty="0"/>
              <a:t>ARCEP</a:t>
            </a:r>
            <a:endParaRPr lang="en-US" b="1" dirty="0"/>
          </a:p>
        </p:txBody>
      </p:sp>
      <p:sp>
        <p:nvSpPr>
          <p:cNvPr id="18" name="TextBox 17">
            <a:extLst>
              <a:ext uri="{FF2B5EF4-FFF2-40B4-BE49-F238E27FC236}">
                <a16:creationId xmlns:a16="http://schemas.microsoft.com/office/drawing/2014/main" id="{F6D874F8-D429-9289-117B-2F9C118C7C18}"/>
              </a:ext>
            </a:extLst>
          </p:cNvPr>
          <p:cNvSpPr txBox="1"/>
          <p:nvPr/>
        </p:nvSpPr>
        <p:spPr>
          <a:xfrm>
            <a:off x="5450969" y="1764270"/>
            <a:ext cx="3719288" cy="369332"/>
          </a:xfrm>
          <a:prstGeom prst="rect">
            <a:avLst/>
          </a:prstGeom>
          <a:noFill/>
        </p:spPr>
        <p:txBody>
          <a:bodyPr wrap="none" rtlCol="0">
            <a:spAutoFit/>
          </a:bodyPr>
          <a:lstStyle/>
          <a:p>
            <a:r>
              <a:rPr lang="fr-FR" b="1" dirty="0"/>
              <a:t>File2:  </a:t>
            </a:r>
            <a:r>
              <a:rPr lang="fr-FR" i="1" dirty="0" err="1"/>
              <a:t>Operators</a:t>
            </a:r>
            <a:r>
              <a:rPr lang="fr-FR" b="1" i="1" dirty="0"/>
              <a:t>’</a:t>
            </a:r>
            <a:r>
              <a:rPr lang="fr-FR" i="1" dirty="0"/>
              <a:t> sites: </a:t>
            </a:r>
            <a:r>
              <a:rPr lang="en-US" b="1" dirty="0">
                <a:highlight>
                  <a:srgbClr val="808000"/>
                </a:highlight>
              </a:rPr>
              <a:t>118,087 </a:t>
            </a:r>
          </a:p>
        </p:txBody>
      </p:sp>
      <p:sp>
        <p:nvSpPr>
          <p:cNvPr id="20" name="TextBox 19">
            <a:extLst>
              <a:ext uri="{FF2B5EF4-FFF2-40B4-BE49-F238E27FC236}">
                <a16:creationId xmlns:a16="http://schemas.microsoft.com/office/drawing/2014/main" id="{CA70FD54-6884-22F1-BF64-60C8D5F45789}"/>
              </a:ext>
            </a:extLst>
          </p:cNvPr>
          <p:cNvSpPr txBox="1"/>
          <p:nvPr/>
        </p:nvSpPr>
        <p:spPr>
          <a:xfrm>
            <a:off x="5450969" y="2133683"/>
            <a:ext cx="1078057" cy="369332"/>
          </a:xfrm>
          <a:prstGeom prst="rect">
            <a:avLst/>
          </a:prstGeom>
          <a:noFill/>
        </p:spPr>
        <p:txBody>
          <a:bodyPr wrap="square">
            <a:spAutoFit/>
          </a:bodyPr>
          <a:lstStyle/>
          <a:p>
            <a:r>
              <a:rPr lang="fr-FR" sz="1800" b="1" dirty="0"/>
              <a:t>Source</a:t>
            </a:r>
            <a:r>
              <a:rPr lang="fr-FR" sz="1800" dirty="0"/>
              <a:t>: </a:t>
            </a:r>
            <a:endParaRPr lang="en-US" dirty="0"/>
          </a:p>
        </p:txBody>
      </p:sp>
      <p:sp>
        <p:nvSpPr>
          <p:cNvPr id="23" name="TextBox 22">
            <a:extLst>
              <a:ext uri="{FF2B5EF4-FFF2-40B4-BE49-F238E27FC236}">
                <a16:creationId xmlns:a16="http://schemas.microsoft.com/office/drawing/2014/main" id="{8FEB48F7-FBF0-5CD2-BAAA-2644FDB5E370}"/>
              </a:ext>
            </a:extLst>
          </p:cNvPr>
          <p:cNvSpPr txBox="1"/>
          <p:nvPr/>
        </p:nvSpPr>
        <p:spPr>
          <a:xfrm>
            <a:off x="5450969" y="2460328"/>
            <a:ext cx="2986449" cy="646331"/>
          </a:xfrm>
          <a:prstGeom prst="rect">
            <a:avLst/>
          </a:prstGeom>
          <a:noFill/>
        </p:spPr>
        <p:txBody>
          <a:bodyPr wrap="square" rtlCol="0">
            <a:spAutoFit/>
          </a:bodyPr>
          <a:lstStyle/>
          <a:p>
            <a:r>
              <a:rPr lang="fr-FR" dirty="0"/>
              <a:t>"https://data.arcep.fr/mobile/sites/"</a:t>
            </a:r>
            <a:endParaRPr lang="en-US" dirty="0"/>
          </a:p>
        </p:txBody>
      </p:sp>
      <p:sp>
        <p:nvSpPr>
          <p:cNvPr id="25" name="Flowchart: Document 24">
            <a:extLst>
              <a:ext uri="{FF2B5EF4-FFF2-40B4-BE49-F238E27FC236}">
                <a16:creationId xmlns:a16="http://schemas.microsoft.com/office/drawing/2014/main" id="{B8F4CCFA-D9B7-D6B0-973B-E7FA4733A58E}"/>
              </a:ext>
            </a:extLst>
          </p:cNvPr>
          <p:cNvSpPr/>
          <p:nvPr/>
        </p:nvSpPr>
        <p:spPr>
          <a:xfrm>
            <a:off x="746951" y="3595987"/>
            <a:ext cx="3596448" cy="2060147"/>
          </a:xfrm>
          <a:prstGeom prst="flowChartDocumen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7E845B9B-BEE7-0D89-D8B0-C0532BEBBD6C}"/>
              </a:ext>
            </a:extLst>
          </p:cNvPr>
          <p:cNvSpPr txBox="1"/>
          <p:nvPr/>
        </p:nvSpPr>
        <p:spPr>
          <a:xfrm>
            <a:off x="746951" y="3889967"/>
            <a:ext cx="2018501" cy="369332"/>
          </a:xfrm>
          <a:prstGeom prst="rect">
            <a:avLst/>
          </a:prstGeom>
          <a:noFill/>
        </p:spPr>
        <p:txBody>
          <a:bodyPr wrap="none" rtlCol="0">
            <a:spAutoFit/>
          </a:bodyPr>
          <a:lstStyle/>
          <a:p>
            <a:r>
              <a:rPr lang="fr-FR" b="1" dirty="0"/>
              <a:t>File3: </a:t>
            </a:r>
            <a:r>
              <a:rPr lang="fr-FR" dirty="0"/>
              <a:t>Population</a:t>
            </a:r>
            <a:endParaRPr lang="en-US" dirty="0"/>
          </a:p>
        </p:txBody>
      </p:sp>
      <p:sp>
        <p:nvSpPr>
          <p:cNvPr id="29" name="TextBox 28">
            <a:extLst>
              <a:ext uri="{FF2B5EF4-FFF2-40B4-BE49-F238E27FC236}">
                <a16:creationId xmlns:a16="http://schemas.microsoft.com/office/drawing/2014/main" id="{F80653F7-260F-DCE5-6D12-E62657F37DFC}"/>
              </a:ext>
            </a:extLst>
          </p:cNvPr>
          <p:cNvSpPr txBox="1"/>
          <p:nvPr/>
        </p:nvSpPr>
        <p:spPr>
          <a:xfrm>
            <a:off x="746951" y="3580568"/>
            <a:ext cx="963757" cy="369332"/>
          </a:xfrm>
          <a:prstGeom prst="rect">
            <a:avLst/>
          </a:prstGeom>
          <a:noFill/>
        </p:spPr>
        <p:txBody>
          <a:bodyPr wrap="square">
            <a:spAutoFit/>
          </a:bodyPr>
          <a:lstStyle/>
          <a:p>
            <a:r>
              <a:rPr lang="fr-FR" sz="1800" b="1" dirty="0"/>
              <a:t>INSEE</a:t>
            </a:r>
            <a:endParaRPr lang="en-US" b="1" dirty="0"/>
          </a:p>
        </p:txBody>
      </p:sp>
      <p:sp>
        <p:nvSpPr>
          <p:cNvPr id="31" name="TextBox 30">
            <a:extLst>
              <a:ext uri="{FF2B5EF4-FFF2-40B4-BE49-F238E27FC236}">
                <a16:creationId xmlns:a16="http://schemas.microsoft.com/office/drawing/2014/main" id="{E1831E57-4A74-C92E-F991-0458AD3E59CB}"/>
              </a:ext>
            </a:extLst>
          </p:cNvPr>
          <p:cNvSpPr txBox="1"/>
          <p:nvPr/>
        </p:nvSpPr>
        <p:spPr>
          <a:xfrm>
            <a:off x="746951" y="4199365"/>
            <a:ext cx="3471757" cy="923330"/>
          </a:xfrm>
          <a:prstGeom prst="rect">
            <a:avLst/>
          </a:prstGeom>
          <a:noFill/>
        </p:spPr>
        <p:txBody>
          <a:bodyPr wrap="square" rtlCol="0">
            <a:spAutoFit/>
          </a:bodyPr>
          <a:lstStyle/>
          <a:p>
            <a:r>
              <a:rPr lang="fr-FR" b="1" dirty="0"/>
              <a:t>Source</a:t>
            </a:r>
            <a:r>
              <a:rPr lang="fr-FR" dirty="0"/>
              <a:t>:  "https://api.insee.fr/</a:t>
            </a:r>
            <a:r>
              <a:rPr lang="fr-FR" dirty="0" err="1"/>
              <a:t>melodi</a:t>
            </a:r>
            <a:r>
              <a:rPr lang="fr-FR" dirty="0"/>
              <a:t>/data/</a:t>
            </a:r>
            <a:endParaRPr lang="en-US" dirty="0"/>
          </a:p>
        </p:txBody>
      </p:sp>
      <p:sp>
        <p:nvSpPr>
          <p:cNvPr id="33" name="Flowchart: Document 32">
            <a:extLst>
              <a:ext uri="{FF2B5EF4-FFF2-40B4-BE49-F238E27FC236}">
                <a16:creationId xmlns:a16="http://schemas.microsoft.com/office/drawing/2014/main" id="{A84C7154-DC3A-8BBC-14F3-D517D674B72E}"/>
              </a:ext>
            </a:extLst>
          </p:cNvPr>
          <p:cNvSpPr/>
          <p:nvPr/>
        </p:nvSpPr>
        <p:spPr>
          <a:xfrm>
            <a:off x="5450969" y="3685407"/>
            <a:ext cx="3596448" cy="2060147"/>
          </a:xfrm>
          <a:prstGeom prst="flowChartDocumen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254DBA41-147D-39C8-D643-970A6E6E7A39}"/>
              </a:ext>
            </a:extLst>
          </p:cNvPr>
          <p:cNvSpPr txBox="1"/>
          <p:nvPr/>
        </p:nvSpPr>
        <p:spPr>
          <a:xfrm>
            <a:off x="5450969" y="3979387"/>
            <a:ext cx="3382657" cy="369332"/>
          </a:xfrm>
          <a:prstGeom prst="rect">
            <a:avLst/>
          </a:prstGeom>
          <a:noFill/>
        </p:spPr>
        <p:txBody>
          <a:bodyPr wrap="none" rtlCol="0">
            <a:spAutoFit/>
          </a:bodyPr>
          <a:lstStyle/>
          <a:p>
            <a:r>
              <a:rPr lang="fr-FR" b="1" dirty="0"/>
              <a:t>File4: </a:t>
            </a:r>
            <a:r>
              <a:rPr lang="fr-FR" dirty="0"/>
              <a:t>Insee Geo: </a:t>
            </a:r>
            <a:r>
              <a:rPr lang="en-US" b="1" dirty="0">
                <a:highlight>
                  <a:srgbClr val="808000"/>
                </a:highlight>
              </a:rPr>
              <a:t>34,875</a:t>
            </a:r>
            <a:r>
              <a:rPr lang="en-US" dirty="0">
                <a:highlight>
                  <a:srgbClr val="808000"/>
                </a:highlight>
              </a:rPr>
              <a:t> </a:t>
            </a:r>
            <a:r>
              <a:rPr lang="en-US" b="1" dirty="0">
                <a:highlight>
                  <a:srgbClr val="808000"/>
                </a:highlight>
              </a:rPr>
              <a:t>com</a:t>
            </a:r>
          </a:p>
        </p:txBody>
      </p:sp>
      <p:sp>
        <p:nvSpPr>
          <p:cNvPr id="37" name="TextBox 36">
            <a:extLst>
              <a:ext uri="{FF2B5EF4-FFF2-40B4-BE49-F238E27FC236}">
                <a16:creationId xmlns:a16="http://schemas.microsoft.com/office/drawing/2014/main" id="{9DF69BFA-D28B-4F99-793A-327A29D88141}"/>
              </a:ext>
            </a:extLst>
          </p:cNvPr>
          <p:cNvSpPr txBox="1"/>
          <p:nvPr/>
        </p:nvSpPr>
        <p:spPr>
          <a:xfrm>
            <a:off x="5450969" y="3669988"/>
            <a:ext cx="963757" cy="369332"/>
          </a:xfrm>
          <a:prstGeom prst="rect">
            <a:avLst/>
          </a:prstGeom>
          <a:noFill/>
        </p:spPr>
        <p:txBody>
          <a:bodyPr wrap="square">
            <a:spAutoFit/>
          </a:bodyPr>
          <a:lstStyle/>
          <a:p>
            <a:r>
              <a:rPr lang="fr-FR" sz="1800" b="1" dirty="0"/>
              <a:t>INSEE</a:t>
            </a:r>
            <a:endParaRPr lang="en-US" b="1" dirty="0"/>
          </a:p>
        </p:txBody>
      </p:sp>
      <p:sp>
        <p:nvSpPr>
          <p:cNvPr id="39" name="TextBox 38">
            <a:extLst>
              <a:ext uri="{FF2B5EF4-FFF2-40B4-BE49-F238E27FC236}">
                <a16:creationId xmlns:a16="http://schemas.microsoft.com/office/drawing/2014/main" id="{20E10A13-ADA5-6EC4-26AC-40ED13EE09BD}"/>
              </a:ext>
            </a:extLst>
          </p:cNvPr>
          <p:cNvSpPr txBox="1"/>
          <p:nvPr/>
        </p:nvSpPr>
        <p:spPr>
          <a:xfrm>
            <a:off x="5450969" y="4288785"/>
            <a:ext cx="3471757" cy="646331"/>
          </a:xfrm>
          <a:prstGeom prst="rect">
            <a:avLst/>
          </a:prstGeom>
          <a:noFill/>
        </p:spPr>
        <p:txBody>
          <a:bodyPr wrap="square" rtlCol="0">
            <a:spAutoFit/>
          </a:bodyPr>
          <a:lstStyle/>
          <a:p>
            <a:r>
              <a:rPr lang="fr-FR" b="1" dirty="0"/>
              <a:t>flat file  ‘.csv’</a:t>
            </a:r>
            <a:r>
              <a:rPr lang="fr-FR" dirty="0"/>
              <a:t>)</a:t>
            </a:r>
          </a:p>
          <a:p>
            <a:r>
              <a:rPr lang="fr-FR" dirty="0"/>
              <a:t>Source: "https://www.insee.fr/</a:t>
            </a:r>
            <a:endParaRPr lang="en-US" dirty="0"/>
          </a:p>
        </p:txBody>
      </p:sp>
      <p:sp>
        <p:nvSpPr>
          <p:cNvPr id="43" name="Content Placeholder 2">
            <a:extLst>
              <a:ext uri="{FF2B5EF4-FFF2-40B4-BE49-F238E27FC236}">
                <a16:creationId xmlns:a16="http://schemas.microsoft.com/office/drawing/2014/main" id="{4DC0BB59-7C35-E370-013A-D442036EDA67}"/>
              </a:ext>
            </a:extLst>
          </p:cNvPr>
          <p:cNvSpPr>
            <a:spLocks noGrp="1"/>
          </p:cNvSpPr>
          <p:nvPr>
            <p:ph idx="1"/>
          </p:nvPr>
        </p:nvSpPr>
        <p:spPr>
          <a:xfrm>
            <a:off x="1849909" y="5995019"/>
            <a:ext cx="5680444" cy="545630"/>
          </a:xfrm>
        </p:spPr>
        <p:txBody>
          <a:bodyPr>
            <a:normAutofit/>
          </a:bodyPr>
          <a:lstStyle/>
          <a:p>
            <a:pPr lvl="0"/>
            <a:r>
              <a:rPr lang="en-US" b="1" dirty="0"/>
              <a:t>Common Geographic key: </a:t>
            </a:r>
            <a:r>
              <a:rPr lang="en-US" b="1" dirty="0" err="1"/>
              <a:t>insee_com</a:t>
            </a:r>
            <a:endParaRPr lang="en-US" b="1" dirty="0"/>
          </a:p>
          <a:p>
            <a:endParaRPr lang="en-US" b="1" dirty="0"/>
          </a:p>
        </p:txBody>
      </p:sp>
      <p:pic>
        <p:nvPicPr>
          <p:cNvPr id="53" name="Picture 52">
            <a:extLst>
              <a:ext uri="{FF2B5EF4-FFF2-40B4-BE49-F238E27FC236}">
                <a16:creationId xmlns:a16="http://schemas.microsoft.com/office/drawing/2014/main" id="{9A923F92-E9EE-D856-C50C-77A3A296EDBE}"/>
              </a:ext>
            </a:extLst>
          </p:cNvPr>
          <p:cNvPicPr>
            <a:picLocks noChangeAspect="1"/>
          </p:cNvPicPr>
          <p:nvPr/>
        </p:nvPicPr>
        <p:blipFill>
          <a:blip r:embed="rId3"/>
          <a:stretch>
            <a:fillRect/>
          </a:stretch>
        </p:blipFill>
        <p:spPr>
          <a:xfrm rot="20362349">
            <a:off x="3361601" y="1062565"/>
            <a:ext cx="1112044" cy="591074"/>
          </a:xfrm>
          <a:prstGeom prst="rect">
            <a:avLst/>
          </a:prstGeom>
        </p:spPr>
      </p:pic>
      <p:pic>
        <p:nvPicPr>
          <p:cNvPr id="55" name="Picture 54">
            <a:extLst>
              <a:ext uri="{FF2B5EF4-FFF2-40B4-BE49-F238E27FC236}">
                <a16:creationId xmlns:a16="http://schemas.microsoft.com/office/drawing/2014/main" id="{09740C07-A936-2941-2597-C308E057BCD7}"/>
              </a:ext>
            </a:extLst>
          </p:cNvPr>
          <p:cNvPicPr>
            <a:picLocks noChangeAspect="1"/>
          </p:cNvPicPr>
          <p:nvPr/>
        </p:nvPicPr>
        <p:blipFill>
          <a:blip r:embed="rId3"/>
          <a:stretch>
            <a:fillRect/>
          </a:stretch>
        </p:blipFill>
        <p:spPr>
          <a:xfrm rot="20362349">
            <a:off x="8586130" y="907957"/>
            <a:ext cx="1112044" cy="591074"/>
          </a:xfrm>
          <a:prstGeom prst="rect">
            <a:avLst/>
          </a:prstGeom>
        </p:spPr>
      </p:pic>
      <p:pic>
        <p:nvPicPr>
          <p:cNvPr id="57" name="Picture 56">
            <a:extLst>
              <a:ext uri="{FF2B5EF4-FFF2-40B4-BE49-F238E27FC236}">
                <a16:creationId xmlns:a16="http://schemas.microsoft.com/office/drawing/2014/main" id="{4FE023A3-A0F9-5A42-DD49-CC5EFD4EA786}"/>
              </a:ext>
            </a:extLst>
          </p:cNvPr>
          <p:cNvPicPr>
            <a:picLocks noChangeAspect="1"/>
          </p:cNvPicPr>
          <p:nvPr/>
        </p:nvPicPr>
        <p:blipFill>
          <a:blip r:embed="rId4"/>
          <a:stretch>
            <a:fillRect/>
          </a:stretch>
        </p:blipFill>
        <p:spPr>
          <a:xfrm>
            <a:off x="3498975" y="3646052"/>
            <a:ext cx="782079" cy="799459"/>
          </a:xfrm>
          <a:prstGeom prst="rect">
            <a:avLst/>
          </a:prstGeom>
        </p:spPr>
      </p:pic>
      <p:pic>
        <p:nvPicPr>
          <p:cNvPr id="59" name="Picture 58">
            <a:extLst>
              <a:ext uri="{FF2B5EF4-FFF2-40B4-BE49-F238E27FC236}">
                <a16:creationId xmlns:a16="http://schemas.microsoft.com/office/drawing/2014/main" id="{65C51772-373A-1C6D-E6DD-8CF5F9F4D616}"/>
              </a:ext>
            </a:extLst>
          </p:cNvPr>
          <p:cNvPicPr>
            <a:picLocks noChangeAspect="1"/>
          </p:cNvPicPr>
          <p:nvPr/>
        </p:nvPicPr>
        <p:blipFill>
          <a:blip r:embed="rId5"/>
          <a:stretch>
            <a:fillRect/>
          </a:stretch>
        </p:blipFill>
        <p:spPr>
          <a:xfrm>
            <a:off x="8922725" y="3708712"/>
            <a:ext cx="772792" cy="674137"/>
          </a:xfrm>
          <a:prstGeom prst="rect">
            <a:avLst/>
          </a:prstGeom>
        </p:spPr>
      </p:pic>
    </p:spTree>
    <p:extLst>
      <p:ext uri="{BB962C8B-B14F-4D97-AF65-F5344CB8AC3E}">
        <p14:creationId xmlns:p14="http://schemas.microsoft.com/office/powerpoint/2010/main" val="3278610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2">
              <a:alpha val="20000"/>
            </a:schemeClr>
          </a:solidFill>
          <a:ln>
            <a:noFill/>
          </a:ln>
        </p:spPr>
        <p:txBody>
          <a:bodyPr rtlCol="0" anchor="ctr"/>
          <a:lstStyle/>
          <a:p>
            <a:pPr algn="ctr"/>
            <a:endParaRPr lang="en-US"/>
          </a:p>
        </p:txBody>
      </p:sp>
      <p:sp>
        <p:nvSpPr>
          <p:cNvPr id="12" name="Freeform: Shape 11">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0AD9A12-4589-EAB6-7243-EF9486F3BAC3}"/>
              </a:ext>
            </a:extLst>
          </p:cNvPr>
          <p:cNvSpPr>
            <a:spLocks noGrp="1"/>
          </p:cNvSpPr>
          <p:nvPr>
            <p:ph type="title"/>
          </p:nvPr>
        </p:nvSpPr>
        <p:spPr>
          <a:xfrm>
            <a:off x="653143" y="1645920"/>
            <a:ext cx="3522879" cy="4470821"/>
          </a:xfrm>
        </p:spPr>
        <p:txBody>
          <a:bodyPr>
            <a:normAutofit/>
          </a:bodyPr>
          <a:lstStyle/>
          <a:p>
            <a:pPr algn="r"/>
            <a:r>
              <a:rPr lang="en-US" b="1" dirty="0">
                <a:solidFill>
                  <a:srgbClr val="FFFFFF"/>
                </a:solidFill>
              </a:rPr>
              <a:t>3. End-to-End Data Pipeline Architecture</a:t>
            </a:r>
          </a:p>
        </p:txBody>
      </p:sp>
      <p:pic>
        <p:nvPicPr>
          <p:cNvPr id="11" name="Picture 10">
            <a:extLst>
              <a:ext uri="{FF2B5EF4-FFF2-40B4-BE49-F238E27FC236}">
                <a16:creationId xmlns:a16="http://schemas.microsoft.com/office/drawing/2014/main" id="{79C9D6A0-61E4-0417-30B3-D1C78B62268D}"/>
              </a:ext>
            </a:extLst>
          </p:cNvPr>
          <p:cNvPicPr>
            <a:picLocks/>
          </p:cNvPicPr>
          <p:nvPr/>
        </p:nvPicPr>
        <p:blipFill>
          <a:blip r:embed="rId3"/>
          <a:srcRect l="16742" t="4441" r="16956" b="38492"/>
          <a:stretch>
            <a:fillRect/>
          </a:stretch>
        </p:blipFill>
        <p:spPr>
          <a:xfrm>
            <a:off x="5523535" y="228600"/>
            <a:ext cx="6241557" cy="6400800"/>
          </a:xfrm>
          <a:prstGeom prst="rect">
            <a:avLst/>
          </a:prstGeom>
        </p:spPr>
      </p:pic>
      <p:sp>
        <p:nvSpPr>
          <p:cNvPr id="18" name="Call-out: Line 17">
            <a:extLst>
              <a:ext uri="{FF2B5EF4-FFF2-40B4-BE49-F238E27FC236}">
                <a16:creationId xmlns:a16="http://schemas.microsoft.com/office/drawing/2014/main" id="{59283CA5-8A32-FC44-1E71-1C42D6D4EE2A}"/>
              </a:ext>
            </a:extLst>
          </p:cNvPr>
          <p:cNvSpPr/>
          <p:nvPr/>
        </p:nvSpPr>
        <p:spPr>
          <a:xfrm>
            <a:off x="5026997" y="349804"/>
            <a:ext cx="1499755" cy="595700"/>
          </a:xfrm>
          <a:prstGeom prst="borderCallout1">
            <a:avLst>
              <a:gd name="adj1" fmla="val 103992"/>
              <a:gd name="adj2" fmla="val 50872"/>
              <a:gd name="adj3" fmla="val 214370"/>
              <a:gd name="adj4" fmla="val 6879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dirty="0"/>
              <a:t>File </a:t>
            </a:r>
            <a:r>
              <a:rPr lang="fr-FR" sz="1400" b="1" dirty="0" err="1"/>
              <a:t>names</a:t>
            </a:r>
            <a:r>
              <a:rPr lang="fr-FR" sz="1400" b="1" dirty="0"/>
              <a:t>: </a:t>
            </a:r>
            <a:r>
              <a:rPr lang="fr-FR" sz="1400" b="1" dirty="0" err="1"/>
              <a:t>refer</a:t>
            </a:r>
            <a:r>
              <a:rPr lang="fr-FR" sz="1400" b="1" dirty="0"/>
              <a:t> to slide4</a:t>
            </a:r>
            <a:endParaRPr lang="en-US" sz="1400" b="1" dirty="0"/>
          </a:p>
          <a:p>
            <a:pPr algn="ctr"/>
            <a:endParaRPr lang="en-US" sz="1400" b="1" dirty="0"/>
          </a:p>
        </p:txBody>
      </p:sp>
      <p:sp>
        <p:nvSpPr>
          <p:cNvPr id="22" name="Call-out: Line 21">
            <a:extLst>
              <a:ext uri="{FF2B5EF4-FFF2-40B4-BE49-F238E27FC236}">
                <a16:creationId xmlns:a16="http://schemas.microsoft.com/office/drawing/2014/main" id="{86B9FE9F-0C45-83E9-C2B4-EF33CF35FC9E}"/>
              </a:ext>
            </a:extLst>
          </p:cNvPr>
          <p:cNvSpPr/>
          <p:nvPr/>
        </p:nvSpPr>
        <p:spPr>
          <a:xfrm>
            <a:off x="10274481" y="3113942"/>
            <a:ext cx="1819181" cy="595700"/>
          </a:xfrm>
          <a:prstGeom prst="borderCallout1">
            <a:avLst>
              <a:gd name="adj1" fmla="val 53337"/>
              <a:gd name="adj2" fmla="val 877"/>
              <a:gd name="adj3" fmla="val 68545"/>
              <a:gd name="adj4" fmla="val -2693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“mobile_5g_network_fr”</a:t>
            </a:r>
            <a:endParaRPr lang="en-US" sz="900" b="1" dirty="0"/>
          </a:p>
        </p:txBody>
      </p:sp>
    </p:spTree>
    <p:extLst>
      <p:ext uri="{BB962C8B-B14F-4D97-AF65-F5344CB8AC3E}">
        <p14:creationId xmlns:p14="http://schemas.microsoft.com/office/powerpoint/2010/main" val="350071725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pic>
        <p:nvPicPr>
          <p:cNvPr id="5" name="Picture 4">
            <a:extLst>
              <a:ext uri="{FF2B5EF4-FFF2-40B4-BE49-F238E27FC236}">
                <a16:creationId xmlns:a16="http://schemas.microsoft.com/office/drawing/2014/main" id="{6B81D47B-F406-7C15-9D9D-C7C67C023563}"/>
              </a:ext>
            </a:extLst>
          </p:cNvPr>
          <p:cNvPicPr>
            <a:picLocks noChangeAspect="1"/>
          </p:cNvPicPr>
          <p:nvPr/>
        </p:nvPicPr>
        <p:blipFill>
          <a:blip r:embed="rId3"/>
          <a:stretch>
            <a:fillRect/>
          </a:stretch>
        </p:blipFill>
        <p:spPr>
          <a:xfrm>
            <a:off x="1011859" y="1334814"/>
            <a:ext cx="8761795" cy="5379605"/>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sp>
        <p:nvSpPr>
          <p:cNvPr id="6" name="Title 1">
            <a:extLst>
              <a:ext uri="{FF2B5EF4-FFF2-40B4-BE49-F238E27FC236}">
                <a16:creationId xmlns:a16="http://schemas.microsoft.com/office/drawing/2014/main" id="{F27C8610-69B8-785A-4B4D-FF0762BB99D7}"/>
              </a:ext>
            </a:extLst>
          </p:cNvPr>
          <p:cNvSpPr>
            <a:spLocks noGrp="1"/>
          </p:cNvSpPr>
          <p:nvPr>
            <p:ph type="title"/>
          </p:nvPr>
        </p:nvSpPr>
        <p:spPr>
          <a:xfrm>
            <a:off x="1068388" y="148266"/>
            <a:ext cx="8947150" cy="745114"/>
          </a:xfrm>
        </p:spPr>
        <p:txBody>
          <a:bodyPr/>
          <a:lstStyle/>
          <a:p>
            <a:r>
              <a:rPr lang="en-US" b="1" dirty="0">
                <a:solidFill>
                  <a:schemeClr val="bg1"/>
                </a:solidFill>
              </a:rPr>
              <a:t>4. ERD &amp; Relational Database</a:t>
            </a:r>
          </a:p>
        </p:txBody>
      </p:sp>
      <p:sp>
        <p:nvSpPr>
          <p:cNvPr id="9" name="Title 1">
            <a:extLst>
              <a:ext uri="{FF2B5EF4-FFF2-40B4-BE49-F238E27FC236}">
                <a16:creationId xmlns:a16="http://schemas.microsoft.com/office/drawing/2014/main" id="{8B34AFD6-5A39-9CA4-72DA-72FCD55522D3}"/>
              </a:ext>
            </a:extLst>
          </p:cNvPr>
          <p:cNvSpPr txBox="1">
            <a:spLocks/>
          </p:cNvSpPr>
          <p:nvPr/>
        </p:nvSpPr>
        <p:spPr>
          <a:xfrm>
            <a:off x="2042244" y="814462"/>
            <a:ext cx="7327180" cy="65707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a:solidFill>
                  <a:schemeClr val="bg1"/>
                </a:solidFill>
              </a:rPr>
              <a:t>From clean data to relational database</a:t>
            </a:r>
            <a:endParaRPr lang="en-US" sz="2800" b="1" dirty="0">
              <a:solidFill>
                <a:schemeClr val="bg1"/>
              </a:solidFill>
            </a:endParaRPr>
          </a:p>
        </p:txBody>
      </p:sp>
      <p:sp>
        <p:nvSpPr>
          <p:cNvPr id="11" name="TextBox 10">
            <a:extLst>
              <a:ext uri="{FF2B5EF4-FFF2-40B4-BE49-F238E27FC236}">
                <a16:creationId xmlns:a16="http://schemas.microsoft.com/office/drawing/2014/main" id="{ADCD03B1-5159-3BC0-973B-A92F5B93E820}"/>
              </a:ext>
            </a:extLst>
          </p:cNvPr>
          <p:cNvSpPr txBox="1"/>
          <p:nvPr/>
        </p:nvSpPr>
        <p:spPr>
          <a:xfrm>
            <a:off x="7148945" y="1471537"/>
            <a:ext cx="1166763" cy="461665"/>
          </a:xfrm>
          <a:prstGeom prst="rect">
            <a:avLst/>
          </a:prstGeom>
          <a:noFill/>
        </p:spPr>
        <p:txBody>
          <a:bodyPr wrap="square" rtlCol="0">
            <a:spAutoFit/>
          </a:bodyPr>
          <a:lstStyle/>
          <a:p>
            <a:r>
              <a:rPr lang="fr-FR" sz="2400" b="1" dirty="0"/>
              <a:t>ERD</a:t>
            </a:r>
            <a:endParaRPr lang="en-US" sz="2400" b="1" dirty="0"/>
          </a:p>
        </p:txBody>
      </p:sp>
    </p:spTree>
    <p:extLst>
      <p:ext uri="{BB962C8B-B14F-4D97-AF65-F5344CB8AC3E}">
        <p14:creationId xmlns:p14="http://schemas.microsoft.com/office/powerpoint/2010/main" val="403985297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2">
              <a:alpha val="20000"/>
            </a:schemeClr>
          </a:solidFill>
          <a:ln>
            <a:noFill/>
          </a:ln>
        </p:spPr>
        <p:txBody>
          <a:bodyPr rtlCol="0" anchor="ctr"/>
          <a:lstStyle/>
          <a:p>
            <a:pPr algn="ctr"/>
            <a:endParaRPr lang="en-US"/>
          </a:p>
        </p:txBody>
      </p:sp>
      <p:sp>
        <p:nvSpPr>
          <p:cNvPr id="12" name="Freeform: Shape 11">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CBF07BA-88C1-C0D0-752F-629891C7BC5A}"/>
              </a:ext>
            </a:extLst>
          </p:cNvPr>
          <p:cNvSpPr>
            <a:spLocks noGrp="1"/>
          </p:cNvSpPr>
          <p:nvPr>
            <p:ph type="title"/>
          </p:nvPr>
        </p:nvSpPr>
        <p:spPr>
          <a:xfrm>
            <a:off x="498489" y="2128207"/>
            <a:ext cx="3522879" cy="2337501"/>
          </a:xfrm>
        </p:spPr>
        <p:txBody>
          <a:bodyPr>
            <a:normAutofit/>
          </a:bodyPr>
          <a:lstStyle/>
          <a:p>
            <a:pPr algn="r"/>
            <a:r>
              <a:rPr lang="fr-FR" b="1" dirty="0">
                <a:solidFill>
                  <a:srgbClr val="FFFFFF"/>
                </a:solidFill>
              </a:rPr>
              <a:t>5. </a:t>
            </a:r>
            <a:r>
              <a:rPr lang="en-US" b="1" dirty="0" err="1">
                <a:solidFill>
                  <a:srgbClr val="FFFFFF"/>
                </a:solidFill>
              </a:rPr>
              <a:t>BigQuery</a:t>
            </a:r>
            <a:r>
              <a:rPr lang="en-US" b="1" dirty="0">
                <a:solidFill>
                  <a:srgbClr val="FFFFFF"/>
                </a:solidFill>
              </a:rPr>
              <a:t>: Analytical Data Layer</a:t>
            </a:r>
          </a:p>
        </p:txBody>
      </p:sp>
      <p:pic>
        <p:nvPicPr>
          <p:cNvPr id="7" name="Picture 6">
            <a:extLst>
              <a:ext uri="{FF2B5EF4-FFF2-40B4-BE49-F238E27FC236}">
                <a16:creationId xmlns:a16="http://schemas.microsoft.com/office/drawing/2014/main" id="{FBEAAF2C-1997-BECA-AAF4-F1C55B247E3C}"/>
              </a:ext>
            </a:extLst>
          </p:cNvPr>
          <p:cNvPicPr>
            <a:picLocks/>
          </p:cNvPicPr>
          <p:nvPr/>
        </p:nvPicPr>
        <p:blipFill>
          <a:blip r:embed="rId3"/>
          <a:srcRect l="16742" t="61447" r="16956" b="15925"/>
          <a:stretch>
            <a:fillRect/>
          </a:stretch>
        </p:blipFill>
        <p:spPr>
          <a:xfrm>
            <a:off x="5288863" y="-25751"/>
            <a:ext cx="5946695" cy="2840421"/>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pic>
        <p:nvPicPr>
          <p:cNvPr id="11" name="Picture 10">
            <a:extLst>
              <a:ext uri="{FF2B5EF4-FFF2-40B4-BE49-F238E27FC236}">
                <a16:creationId xmlns:a16="http://schemas.microsoft.com/office/drawing/2014/main" id="{6696C199-9E00-B297-08B0-6A033D80137C}"/>
              </a:ext>
            </a:extLst>
          </p:cNvPr>
          <p:cNvPicPr>
            <a:picLocks noChangeAspect="1"/>
          </p:cNvPicPr>
          <p:nvPr/>
        </p:nvPicPr>
        <p:blipFill>
          <a:blip r:embed="rId4"/>
          <a:stretch>
            <a:fillRect/>
          </a:stretch>
        </p:blipFill>
        <p:spPr>
          <a:xfrm>
            <a:off x="4977811" y="2962999"/>
            <a:ext cx="3108904" cy="2655099"/>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pic>
        <p:nvPicPr>
          <p:cNvPr id="26" name="Picture 25">
            <a:extLst>
              <a:ext uri="{FF2B5EF4-FFF2-40B4-BE49-F238E27FC236}">
                <a16:creationId xmlns:a16="http://schemas.microsoft.com/office/drawing/2014/main" id="{7F701572-2596-A8D0-A519-30E7D9714CEF}"/>
              </a:ext>
            </a:extLst>
          </p:cNvPr>
          <p:cNvPicPr>
            <a:picLocks/>
          </p:cNvPicPr>
          <p:nvPr/>
        </p:nvPicPr>
        <p:blipFill>
          <a:blip r:embed="rId3"/>
          <a:srcRect l="16742" t="61447" r="16956" b="15925"/>
          <a:stretch>
            <a:fillRect/>
          </a:stretch>
        </p:blipFill>
        <p:spPr>
          <a:xfrm>
            <a:off x="5288863" y="0"/>
            <a:ext cx="5946695" cy="2840421"/>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pic>
        <p:nvPicPr>
          <p:cNvPr id="30" name="Picture 29">
            <a:extLst>
              <a:ext uri="{FF2B5EF4-FFF2-40B4-BE49-F238E27FC236}">
                <a16:creationId xmlns:a16="http://schemas.microsoft.com/office/drawing/2014/main" id="{AF225D25-4777-06CA-C2EF-A99BDAEC0E0B}"/>
              </a:ext>
            </a:extLst>
          </p:cNvPr>
          <p:cNvPicPr>
            <a:picLocks noChangeAspect="1"/>
          </p:cNvPicPr>
          <p:nvPr/>
        </p:nvPicPr>
        <p:blipFill>
          <a:blip r:embed="rId5"/>
          <a:stretch>
            <a:fillRect/>
          </a:stretch>
        </p:blipFill>
        <p:spPr>
          <a:xfrm>
            <a:off x="8258348" y="2963000"/>
            <a:ext cx="3379900" cy="2655099"/>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pic>
        <p:nvPicPr>
          <p:cNvPr id="35" name="Picture 34">
            <a:extLst>
              <a:ext uri="{FF2B5EF4-FFF2-40B4-BE49-F238E27FC236}">
                <a16:creationId xmlns:a16="http://schemas.microsoft.com/office/drawing/2014/main" id="{941C9A69-7D84-433F-3FDB-5253ACE9500C}"/>
              </a:ext>
            </a:extLst>
          </p:cNvPr>
          <p:cNvPicPr>
            <a:picLocks noChangeAspect="1"/>
          </p:cNvPicPr>
          <p:nvPr/>
        </p:nvPicPr>
        <p:blipFill>
          <a:blip r:embed="rId6"/>
          <a:stretch>
            <a:fillRect/>
          </a:stretch>
        </p:blipFill>
        <p:spPr>
          <a:xfrm>
            <a:off x="6673642" y="5454697"/>
            <a:ext cx="3379900" cy="1348836"/>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sp>
        <p:nvSpPr>
          <p:cNvPr id="36" name="Rectangle 35">
            <a:extLst>
              <a:ext uri="{FF2B5EF4-FFF2-40B4-BE49-F238E27FC236}">
                <a16:creationId xmlns:a16="http://schemas.microsoft.com/office/drawing/2014/main" id="{457B4915-8E38-1D51-0F69-BB83FBAB4472}"/>
              </a:ext>
            </a:extLst>
          </p:cNvPr>
          <p:cNvSpPr/>
          <p:nvPr/>
        </p:nvSpPr>
        <p:spPr>
          <a:xfrm>
            <a:off x="4951927" y="5055221"/>
            <a:ext cx="1132609" cy="2286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1682AAD-4C5C-F924-D14A-9EAB6EB72A02}"/>
              </a:ext>
            </a:extLst>
          </p:cNvPr>
          <p:cNvSpPr/>
          <p:nvPr/>
        </p:nvSpPr>
        <p:spPr>
          <a:xfrm>
            <a:off x="6741842" y="5902036"/>
            <a:ext cx="1516506" cy="32211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126301B-1FE7-ED36-6A0E-E9DE1FFDAE37}"/>
              </a:ext>
            </a:extLst>
          </p:cNvPr>
          <p:cNvSpPr/>
          <p:nvPr/>
        </p:nvSpPr>
        <p:spPr>
          <a:xfrm>
            <a:off x="6673642" y="6508092"/>
            <a:ext cx="2676067" cy="32119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8941755"/>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A3C62671-3CB5-21D2-ACC2-4E7774584869}"/>
              </a:ext>
            </a:extLst>
          </p:cNvPr>
          <p:cNvSpPr>
            <a:spLocks noGrp="1"/>
          </p:cNvSpPr>
          <p:nvPr>
            <p:ph type="title"/>
          </p:nvPr>
        </p:nvSpPr>
        <p:spPr>
          <a:xfrm>
            <a:off x="1103312" y="452718"/>
            <a:ext cx="8947522" cy="1400530"/>
          </a:xfrm>
        </p:spPr>
        <p:txBody>
          <a:bodyPr anchor="ctr">
            <a:normAutofit fontScale="90000"/>
          </a:bodyPr>
          <a:lstStyle/>
          <a:p>
            <a:r>
              <a:rPr lang="en-US" sz="4400" b="1" dirty="0">
                <a:solidFill>
                  <a:srgbClr val="FFFFFF"/>
                </a:solidFill>
              </a:rPr>
              <a:t>6. Initial EDA: Measurement Coverage &amp; Balance 1/2</a:t>
            </a:r>
            <a:endParaRPr lang="en-US" dirty="0">
              <a:solidFill>
                <a:srgbClr val="FFFFFF"/>
              </a:solidFill>
            </a:endParaRPr>
          </a:p>
        </p:txBody>
      </p:sp>
      <p:pic>
        <p:nvPicPr>
          <p:cNvPr id="4" name="Content Placeholder 4">
            <a:extLst>
              <a:ext uri="{FF2B5EF4-FFF2-40B4-BE49-F238E27FC236}">
                <a16:creationId xmlns:a16="http://schemas.microsoft.com/office/drawing/2014/main" id="{FE59CBA0-F2E4-D896-CD73-184FD5BCD383}"/>
              </a:ext>
            </a:extLst>
          </p:cNvPr>
          <p:cNvPicPr>
            <a:picLocks noGrp="1" noChangeAspect="1"/>
          </p:cNvPicPr>
          <p:nvPr>
            <p:ph idx="1"/>
          </p:nvPr>
        </p:nvPicPr>
        <p:blipFill>
          <a:blip r:embed="rId3"/>
          <a:stretch>
            <a:fillRect/>
          </a:stretch>
        </p:blipFill>
        <p:spPr>
          <a:xfrm>
            <a:off x="6430807" y="2161698"/>
            <a:ext cx="4625478" cy="3917472"/>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01DD21FF-6ACA-754E-A117-5D59BBFDF698}"/>
              </a:ext>
            </a:extLst>
          </p:cNvPr>
          <p:cNvSpPr txBox="1"/>
          <p:nvPr/>
        </p:nvSpPr>
        <p:spPr>
          <a:xfrm>
            <a:off x="8235690" y="4272833"/>
            <a:ext cx="1015711" cy="369332"/>
          </a:xfrm>
          <a:prstGeom prst="rect">
            <a:avLst/>
          </a:prstGeom>
          <a:noFill/>
        </p:spPr>
        <p:txBody>
          <a:bodyPr wrap="square">
            <a:spAutoFit/>
          </a:bodyPr>
          <a:lstStyle/>
          <a:p>
            <a:r>
              <a:rPr lang="en-US" b="1" dirty="0">
                <a:solidFill>
                  <a:schemeClr val="accent4">
                    <a:lumMod val="50000"/>
                  </a:schemeClr>
                </a:solidFill>
              </a:rPr>
              <a:t>299340</a:t>
            </a:r>
          </a:p>
        </p:txBody>
      </p:sp>
      <p:sp>
        <p:nvSpPr>
          <p:cNvPr id="9" name="TextBox 8">
            <a:extLst>
              <a:ext uri="{FF2B5EF4-FFF2-40B4-BE49-F238E27FC236}">
                <a16:creationId xmlns:a16="http://schemas.microsoft.com/office/drawing/2014/main" id="{146CEA09-2893-A3D5-BA00-C29F93510FB7}"/>
              </a:ext>
            </a:extLst>
          </p:cNvPr>
          <p:cNvSpPr txBox="1"/>
          <p:nvPr/>
        </p:nvSpPr>
        <p:spPr>
          <a:xfrm>
            <a:off x="9612938" y="3001286"/>
            <a:ext cx="1649747" cy="584775"/>
          </a:xfrm>
          <a:prstGeom prst="rect">
            <a:avLst/>
          </a:prstGeom>
          <a:noFill/>
        </p:spPr>
        <p:txBody>
          <a:bodyPr wrap="square">
            <a:spAutoFit/>
          </a:bodyPr>
          <a:lstStyle/>
          <a:p>
            <a:r>
              <a:rPr lang="en-US" sz="1600" b="1" dirty="0">
                <a:solidFill>
                  <a:schemeClr val="accent4">
                    <a:lumMod val="50000"/>
                  </a:schemeClr>
                </a:solidFill>
              </a:rPr>
              <a:t>1486 communes</a:t>
            </a:r>
          </a:p>
        </p:txBody>
      </p:sp>
      <p:pic>
        <p:nvPicPr>
          <p:cNvPr id="13" name="Picture 12">
            <a:extLst>
              <a:ext uri="{FF2B5EF4-FFF2-40B4-BE49-F238E27FC236}">
                <a16:creationId xmlns:a16="http://schemas.microsoft.com/office/drawing/2014/main" id="{0A8CF15D-2604-FFC2-773F-6F6CAA895056}"/>
              </a:ext>
            </a:extLst>
          </p:cNvPr>
          <p:cNvPicPr>
            <a:picLocks noChangeAspect="1"/>
          </p:cNvPicPr>
          <p:nvPr/>
        </p:nvPicPr>
        <p:blipFill>
          <a:blip r:embed="rId4"/>
          <a:stretch>
            <a:fillRect/>
          </a:stretch>
        </p:blipFill>
        <p:spPr>
          <a:xfrm>
            <a:off x="842388" y="2155085"/>
            <a:ext cx="5338874" cy="3942318"/>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48185281"/>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092B-A291-A3A2-2309-206097201B33}"/>
              </a:ext>
            </a:extLst>
          </p:cNvPr>
          <p:cNvSpPr>
            <a:spLocks noGrp="1"/>
          </p:cNvSpPr>
          <p:nvPr>
            <p:ph type="title"/>
          </p:nvPr>
        </p:nvSpPr>
        <p:spPr>
          <a:xfrm>
            <a:off x="645130" y="255291"/>
            <a:ext cx="9404723" cy="1400530"/>
          </a:xfrm>
        </p:spPr>
        <p:txBody>
          <a:bodyPr/>
          <a:lstStyle/>
          <a:p>
            <a:r>
              <a:rPr lang="en-US" sz="4000" b="1" dirty="0">
                <a:solidFill>
                  <a:srgbClr val="FFFFFF"/>
                </a:solidFill>
              </a:rPr>
              <a:t>6. Initial EDA: Measurement Coverage &amp; Balance 2/2</a:t>
            </a:r>
            <a:endParaRPr lang="en-US" dirty="0"/>
          </a:p>
        </p:txBody>
      </p:sp>
      <p:sp>
        <p:nvSpPr>
          <p:cNvPr id="3" name="Content Placeholder 2">
            <a:extLst>
              <a:ext uri="{FF2B5EF4-FFF2-40B4-BE49-F238E27FC236}">
                <a16:creationId xmlns:a16="http://schemas.microsoft.com/office/drawing/2014/main" id="{6CF62B12-E347-D89D-4F60-E2AB278D805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5DB2DE1-2AC9-4F7B-6A9F-4AC5C616AE80}"/>
              </a:ext>
            </a:extLst>
          </p:cNvPr>
          <p:cNvPicPr>
            <a:picLocks noChangeAspect="1"/>
          </p:cNvPicPr>
          <p:nvPr/>
        </p:nvPicPr>
        <p:blipFill>
          <a:blip r:embed="rId2"/>
          <a:stretch>
            <a:fillRect/>
          </a:stretch>
        </p:blipFill>
        <p:spPr>
          <a:xfrm>
            <a:off x="330801" y="2052918"/>
            <a:ext cx="4551568" cy="4075019"/>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C3FE2F62-456A-1024-20E0-9E4BE47884C5}"/>
              </a:ext>
            </a:extLst>
          </p:cNvPr>
          <p:cNvPicPr>
            <a:picLocks noChangeAspect="1"/>
          </p:cNvPicPr>
          <p:nvPr/>
        </p:nvPicPr>
        <p:blipFill>
          <a:blip r:embed="rId3"/>
          <a:stretch>
            <a:fillRect/>
          </a:stretch>
        </p:blipFill>
        <p:spPr>
          <a:xfrm>
            <a:off x="5076498" y="2052918"/>
            <a:ext cx="6894786" cy="4075019"/>
          </a:xfrm>
          <a:prstGeom prst="rect">
            <a:avLst/>
          </a:prstGeom>
          <a:ln w="38100" cap="sq">
            <a:solidFill>
              <a:schemeClr val="bg2">
                <a:lumMod val="40000"/>
                <a:lumOff val="60000"/>
              </a:schemeClr>
            </a:solidFill>
            <a:prstDash val="solid"/>
            <a:miter lim="800000"/>
          </a:ln>
          <a:effectLst>
            <a:outerShdw blurRad="50800" dist="38100" dir="2700000" algn="tl" rotWithShape="0">
              <a:srgbClr val="000000">
                <a:alpha val="43000"/>
              </a:srgbClr>
            </a:outerShdw>
          </a:effectLst>
        </p:spPr>
      </p:pic>
      <p:sp>
        <p:nvSpPr>
          <p:cNvPr id="9" name="Content Placeholder 2">
            <a:extLst>
              <a:ext uri="{FF2B5EF4-FFF2-40B4-BE49-F238E27FC236}">
                <a16:creationId xmlns:a16="http://schemas.microsoft.com/office/drawing/2014/main" id="{2F5AA7BB-D995-4890-DA0A-490000F95C50}"/>
              </a:ext>
            </a:extLst>
          </p:cNvPr>
          <p:cNvSpPr txBox="1">
            <a:spLocks/>
          </p:cNvSpPr>
          <p:nvPr/>
        </p:nvSpPr>
        <p:spPr>
          <a:xfrm>
            <a:off x="2467994" y="6252042"/>
            <a:ext cx="6613829" cy="54563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r>
              <a:rPr lang="en-US" sz="1900" b="1" dirty="0"/>
              <a:t>Measurements are evenly distributed on operators</a:t>
            </a:r>
          </a:p>
          <a:p>
            <a:endParaRPr lang="en-US" sz="1800" b="1" dirty="0"/>
          </a:p>
        </p:txBody>
      </p:sp>
    </p:spTree>
    <p:extLst>
      <p:ext uri="{BB962C8B-B14F-4D97-AF65-F5344CB8AC3E}">
        <p14:creationId xmlns:p14="http://schemas.microsoft.com/office/powerpoint/2010/main" val="898181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A0ABC374-7070-A86A-3CDC-7FE2FC33BDF3}"/>
              </a:ext>
            </a:extLst>
          </p:cNvPr>
          <p:cNvSpPr>
            <a:spLocks noGrp="1"/>
          </p:cNvSpPr>
          <p:nvPr>
            <p:ph type="title"/>
          </p:nvPr>
        </p:nvSpPr>
        <p:spPr>
          <a:xfrm>
            <a:off x="911558" y="100181"/>
            <a:ext cx="8947522" cy="1400530"/>
          </a:xfrm>
        </p:spPr>
        <p:txBody>
          <a:bodyPr anchor="ctr">
            <a:normAutofit/>
          </a:bodyPr>
          <a:lstStyle/>
          <a:p>
            <a:r>
              <a:rPr lang="en-US" b="1" dirty="0">
                <a:solidFill>
                  <a:schemeClr val="bg1"/>
                </a:solidFill>
              </a:rPr>
              <a:t>7. What Are the Performance Disparities?</a:t>
            </a:r>
          </a:p>
        </p:txBody>
      </p:sp>
      <p:sp>
        <p:nvSpPr>
          <p:cNvPr id="7" name="TextBox 6">
            <a:extLst>
              <a:ext uri="{FF2B5EF4-FFF2-40B4-BE49-F238E27FC236}">
                <a16:creationId xmlns:a16="http://schemas.microsoft.com/office/drawing/2014/main" id="{D8180AEE-1025-01AB-CAB9-DDF3C4C9BB19}"/>
              </a:ext>
            </a:extLst>
          </p:cNvPr>
          <p:cNvSpPr txBox="1"/>
          <p:nvPr/>
        </p:nvSpPr>
        <p:spPr>
          <a:xfrm>
            <a:off x="482649" y="2520342"/>
            <a:ext cx="2994731" cy="369332"/>
          </a:xfrm>
          <a:prstGeom prst="rect">
            <a:avLst/>
          </a:prstGeom>
          <a:noFill/>
        </p:spPr>
        <p:txBody>
          <a:bodyPr wrap="none" rtlCol="0">
            <a:spAutoFit/>
          </a:bodyPr>
          <a:lstStyle/>
          <a:p>
            <a:r>
              <a:rPr lang="en-US" b="1" dirty="0"/>
              <a:t>01 — Operator disparities</a:t>
            </a:r>
          </a:p>
        </p:txBody>
      </p:sp>
      <p:sp>
        <p:nvSpPr>
          <p:cNvPr id="15" name="TextBox 14">
            <a:extLst>
              <a:ext uri="{FF2B5EF4-FFF2-40B4-BE49-F238E27FC236}">
                <a16:creationId xmlns:a16="http://schemas.microsoft.com/office/drawing/2014/main" id="{0F5D5AAA-7B28-58B2-7A85-1E8200E7B4B5}"/>
              </a:ext>
            </a:extLst>
          </p:cNvPr>
          <p:cNvSpPr txBox="1"/>
          <p:nvPr/>
        </p:nvSpPr>
        <p:spPr>
          <a:xfrm>
            <a:off x="4350988" y="2543287"/>
            <a:ext cx="2986715" cy="369332"/>
          </a:xfrm>
          <a:prstGeom prst="rect">
            <a:avLst/>
          </a:prstGeom>
          <a:noFill/>
        </p:spPr>
        <p:txBody>
          <a:bodyPr wrap="none" rtlCol="0">
            <a:spAutoFit/>
          </a:bodyPr>
          <a:lstStyle/>
          <a:p>
            <a:r>
              <a:rPr lang="en-US" b="1" dirty="0"/>
              <a:t>02 — Territorial disparities</a:t>
            </a:r>
          </a:p>
        </p:txBody>
      </p:sp>
      <p:sp>
        <p:nvSpPr>
          <p:cNvPr id="19" name="TextBox 18">
            <a:extLst>
              <a:ext uri="{FF2B5EF4-FFF2-40B4-BE49-F238E27FC236}">
                <a16:creationId xmlns:a16="http://schemas.microsoft.com/office/drawing/2014/main" id="{C2DB6F17-2D42-35FE-88A4-F290F2FC4403}"/>
              </a:ext>
            </a:extLst>
          </p:cNvPr>
          <p:cNvSpPr txBox="1"/>
          <p:nvPr/>
        </p:nvSpPr>
        <p:spPr>
          <a:xfrm>
            <a:off x="7812687" y="2520342"/>
            <a:ext cx="4092787" cy="369332"/>
          </a:xfrm>
          <a:prstGeom prst="rect">
            <a:avLst/>
          </a:prstGeom>
          <a:noFill/>
        </p:spPr>
        <p:txBody>
          <a:bodyPr wrap="none" rtlCol="0">
            <a:spAutoFit/>
          </a:bodyPr>
          <a:lstStyle/>
          <a:p>
            <a:r>
              <a:rPr lang="en-US" b="1" dirty="0"/>
              <a:t>03 — Radio environment disparities</a:t>
            </a:r>
          </a:p>
        </p:txBody>
      </p:sp>
      <p:sp>
        <p:nvSpPr>
          <p:cNvPr id="23" name="Rectangle: Rounded Corners 22">
            <a:extLst>
              <a:ext uri="{FF2B5EF4-FFF2-40B4-BE49-F238E27FC236}">
                <a16:creationId xmlns:a16="http://schemas.microsoft.com/office/drawing/2014/main" id="{C4494016-2B4C-35D8-0C00-7CCD00788671}"/>
              </a:ext>
            </a:extLst>
          </p:cNvPr>
          <p:cNvSpPr/>
          <p:nvPr/>
        </p:nvSpPr>
        <p:spPr>
          <a:xfrm>
            <a:off x="244733" y="2412803"/>
            <a:ext cx="3470564" cy="593929"/>
          </a:xfrm>
          <a:prstGeom prst="round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B66DF0D0-C2FF-6107-5965-9FFB4F425E95}"/>
              </a:ext>
            </a:extLst>
          </p:cNvPr>
          <p:cNvSpPr/>
          <p:nvPr/>
        </p:nvSpPr>
        <p:spPr>
          <a:xfrm>
            <a:off x="3859236" y="2389781"/>
            <a:ext cx="3816891" cy="616951"/>
          </a:xfrm>
          <a:prstGeom prst="round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8D77F017-5145-A7A5-1B94-BBE41DD06D96}"/>
              </a:ext>
            </a:extLst>
          </p:cNvPr>
          <p:cNvSpPr/>
          <p:nvPr/>
        </p:nvSpPr>
        <p:spPr>
          <a:xfrm>
            <a:off x="7805961" y="2389228"/>
            <a:ext cx="4141305" cy="616951"/>
          </a:xfrm>
          <a:prstGeom prst="round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3E80B74B-863A-5C28-A63D-3C8048E8EFB7}"/>
              </a:ext>
            </a:extLst>
          </p:cNvPr>
          <p:cNvPicPr>
            <a:picLocks noChangeAspect="1"/>
          </p:cNvPicPr>
          <p:nvPr/>
        </p:nvPicPr>
        <p:blipFill>
          <a:blip r:embed="rId3"/>
          <a:stretch>
            <a:fillRect/>
          </a:stretch>
        </p:blipFill>
        <p:spPr>
          <a:xfrm>
            <a:off x="7812688" y="3288145"/>
            <a:ext cx="4134578" cy="2832603"/>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sp>
        <p:nvSpPr>
          <p:cNvPr id="33" name="Content Placeholder 2">
            <a:extLst>
              <a:ext uri="{FF2B5EF4-FFF2-40B4-BE49-F238E27FC236}">
                <a16:creationId xmlns:a16="http://schemas.microsoft.com/office/drawing/2014/main" id="{6069A94E-5B41-D8C7-A11E-C1208F83A540}"/>
              </a:ext>
            </a:extLst>
          </p:cNvPr>
          <p:cNvSpPr txBox="1">
            <a:spLocks/>
          </p:cNvSpPr>
          <p:nvPr/>
        </p:nvSpPr>
        <p:spPr>
          <a:xfrm>
            <a:off x="1950441" y="1540185"/>
            <a:ext cx="6613829" cy="43002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r>
              <a:rPr lang="en-US" sz="1800" b="1" dirty="0">
                <a:solidFill>
                  <a:schemeClr val="bg1"/>
                </a:solidFill>
              </a:rPr>
              <a:t>Where do we observe differences in 5G performance? </a:t>
            </a:r>
          </a:p>
          <a:p>
            <a:endParaRPr lang="en-US" sz="1800" b="1" dirty="0">
              <a:solidFill>
                <a:schemeClr val="bg1"/>
              </a:solidFill>
            </a:endParaRPr>
          </a:p>
        </p:txBody>
      </p:sp>
      <p:sp>
        <p:nvSpPr>
          <p:cNvPr id="36" name="Content Placeholder 2">
            <a:extLst>
              <a:ext uri="{FF2B5EF4-FFF2-40B4-BE49-F238E27FC236}">
                <a16:creationId xmlns:a16="http://schemas.microsoft.com/office/drawing/2014/main" id="{8001A66E-3B88-8359-60CB-86C129CFB03E}"/>
              </a:ext>
            </a:extLst>
          </p:cNvPr>
          <p:cNvSpPr txBox="1">
            <a:spLocks/>
          </p:cNvSpPr>
          <p:nvPr/>
        </p:nvSpPr>
        <p:spPr>
          <a:xfrm>
            <a:off x="581892" y="6190272"/>
            <a:ext cx="11242964" cy="43002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r>
              <a:rPr lang="en-US" sz="1800" b="1" dirty="0"/>
              <a:t>KEY OBSERVATION: </a:t>
            </a:r>
            <a:r>
              <a:rPr lang="en-US" sz="1800" dirty="0"/>
              <a:t>5G performance differs both between operators and  across territories.  Download speed is used as the main KPI for the next steps (explanatory analysis.)</a:t>
            </a:r>
          </a:p>
        </p:txBody>
      </p:sp>
      <p:pic>
        <p:nvPicPr>
          <p:cNvPr id="38" name="Picture 37">
            <a:extLst>
              <a:ext uri="{FF2B5EF4-FFF2-40B4-BE49-F238E27FC236}">
                <a16:creationId xmlns:a16="http://schemas.microsoft.com/office/drawing/2014/main" id="{1737D40D-01C3-0FF7-7829-4546FD40E863}"/>
              </a:ext>
            </a:extLst>
          </p:cNvPr>
          <p:cNvPicPr>
            <a:picLocks noChangeAspect="1"/>
          </p:cNvPicPr>
          <p:nvPr/>
        </p:nvPicPr>
        <p:blipFill>
          <a:blip r:embed="rId4"/>
          <a:stretch>
            <a:fillRect/>
          </a:stretch>
        </p:blipFill>
        <p:spPr>
          <a:xfrm>
            <a:off x="244734" y="3288145"/>
            <a:ext cx="3470564" cy="2816859"/>
          </a:xfrm>
          <a:prstGeom prst="rect">
            <a:avLst/>
          </a:prstGeom>
          <a:ln w="38100" cap="sq">
            <a:solidFill>
              <a:schemeClr val="tx2">
                <a:lumMod val="40000"/>
                <a:lumOff val="60000"/>
              </a:schemeClr>
            </a:solidFill>
            <a:prstDash val="solid"/>
            <a:miter lim="800000"/>
          </a:ln>
          <a:effectLst>
            <a:outerShdw blurRad="50800" dist="38100" dir="2700000" algn="tl" rotWithShape="0">
              <a:srgbClr val="000000">
                <a:alpha val="43000"/>
              </a:srgbClr>
            </a:outerShdw>
          </a:effectLst>
        </p:spPr>
      </p:pic>
      <p:pic>
        <p:nvPicPr>
          <p:cNvPr id="44" name="Picture 43">
            <a:extLst>
              <a:ext uri="{FF2B5EF4-FFF2-40B4-BE49-F238E27FC236}">
                <a16:creationId xmlns:a16="http://schemas.microsoft.com/office/drawing/2014/main" id="{7FB0C0C6-26F6-B86A-66A7-4DCD81EE661D}"/>
              </a:ext>
            </a:extLst>
          </p:cNvPr>
          <p:cNvPicPr>
            <a:picLocks noChangeAspect="1"/>
          </p:cNvPicPr>
          <p:nvPr/>
        </p:nvPicPr>
        <p:blipFill>
          <a:blip r:embed="rId5"/>
          <a:stretch>
            <a:fillRect/>
          </a:stretch>
        </p:blipFill>
        <p:spPr>
          <a:xfrm>
            <a:off x="3871646" y="3267363"/>
            <a:ext cx="3761688" cy="2848216"/>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5643185"/>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D684B7CD-AE54-92E9-2C16-DABD8D9CD661}"/>
              </a:ext>
            </a:extLst>
          </p:cNvPr>
          <p:cNvSpPr>
            <a:spLocks noGrp="1"/>
          </p:cNvSpPr>
          <p:nvPr>
            <p:ph type="title"/>
          </p:nvPr>
        </p:nvSpPr>
        <p:spPr>
          <a:xfrm>
            <a:off x="970619" y="3171309"/>
            <a:ext cx="9810093" cy="1400530"/>
          </a:xfrm>
        </p:spPr>
        <p:txBody>
          <a:bodyPr anchor="ctr">
            <a:normAutofit fontScale="90000"/>
          </a:bodyPr>
          <a:lstStyle/>
          <a:p>
            <a:r>
              <a:rPr lang="en-US" b="1" dirty="0"/>
              <a:t>“Do these observed differences between operators/territories hold statistically?”</a:t>
            </a:r>
            <a:endParaRPr lang="en-US" b="1" dirty="0">
              <a:solidFill>
                <a:srgbClr val="FFFFFF"/>
              </a:solidFill>
            </a:endParaRPr>
          </a:p>
        </p:txBody>
      </p:sp>
    </p:spTree>
    <p:extLst>
      <p:ext uri="{BB962C8B-B14F-4D97-AF65-F5344CB8AC3E}">
        <p14:creationId xmlns:p14="http://schemas.microsoft.com/office/powerpoint/2010/main" val="1465263182"/>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E76C1-3D4A-93FB-BC94-43F7FD3C18B3}"/>
              </a:ext>
            </a:extLst>
          </p:cNvPr>
          <p:cNvSpPr>
            <a:spLocks noGrp="1"/>
          </p:cNvSpPr>
          <p:nvPr>
            <p:ph type="title"/>
          </p:nvPr>
        </p:nvSpPr>
        <p:spPr/>
        <p:txBody>
          <a:bodyPr/>
          <a:lstStyle/>
          <a:p>
            <a:r>
              <a:rPr lang="en-US" b="1" dirty="0"/>
              <a:t>8. Statistical Evidence: Do the Differences Hold?</a:t>
            </a:r>
          </a:p>
        </p:txBody>
      </p:sp>
      <p:sp>
        <p:nvSpPr>
          <p:cNvPr id="3" name="Content Placeholder 2">
            <a:extLst>
              <a:ext uri="{FF2B5EF4-FFF2-40B4-BE49-F238E27FC236}">
                <a16:creationId xmlns:a16="http://schemas.microsoft.com/office/drawing/2014/main" id="{B193D6B2-1390-EF2C-6390-4CE32DDBF956}"/>
              </a:ext>
            </a:extLst>
          </p:cNvPr>
          <p:cNvSpPr>
            <a:spLocks noGrp="1"/>
          </p:cNvSpPr>
          <p:nvPr>
            <p:ph idx="1"/>
          </p:nvPr>
        </p:nvSpPr>
        <p:spPr>
          <a:xfrm>
            <a:off x="1103312" y="2052918"/>
            <a:ext cx="9596772" cy="4195481"/>
          </a:xfrm>
        </p:spPr>
        <p:txBody>
          <a:bodyPr>
            <a:normAutofit lnSpcReduction="10000"/>
          </a:bodyPr>
          <a:lstStyle/>
          <a:p>
            <a:r>
              <a:rPr lang="en-US" b="1" dirty="0"/>
              <a:t>1. Hypotheses</a:t>
            </a:r>
          </a:p>
          <a:p>
            <a:pPr lvl="1"/>
            <a:r>
              <a:rPr lang="en-US" b="1" dirty="0"/>
              <a:t>H₀ — Null hypothesis: </a:t>
            </a:r>
            <a:r>
              <a:rPr lang="en-US" dirty="0"/>
              <a:t>Mean download speed is equal across the four operators.</a:t>
            </a:r>
          </a:p>
          <a:p>
            <a:pPr lvl="1"/>
            <a:r>
              <a:rPr lang="en-US" b="1" dirty="0"/>
              <a:t>H₁ — Alternative hypothesis  </a:t>
            </a:r>
            <a:r>
              <a:rPr lang="en-US" dirty="0"/>
              <a:t>At least one operator has a different mean download speed.</a:t>
            </a:r>
          </a:p>
          <a:p>
            <a:r>
              <a:rPr lang="en-US" b="1" dirty="0"/>
              <a:t>2. Main result</a:t>
            </a:r>
          </a:p>
          <a:p>
            <a:pPr lvl="1"/>
            <a:r>
              <a:rPr lang="en-US" b="1" dirty="0"/>
              <a:t>Test: One-way ANOVA: comparison between more than 3 means, independent observations</a:t>
            </a:r>
            <a:endParaRPr lang="en-US" dirty="0"/>
          </a:p>
          <a:p>
            <a:pPr lvl="1"/>
            <a:r>
              <a:rPr lang="en-US" b="1" dirty="0"/>
              <a:t>F = 32.44</a:t>
            </a:r>
            <a:br>
              <a:rPr lang="en-US" dirty="0"/>
            </a:br>
            <a:r>
              <a:rPr lang="en-US" b="1" dirty="0"/>
              <a:t>p &lt; 0.001</a:t>
            </a:r>
          </a:p>
          <a:p>
            <a:pPr marL="0" indent="0" latinLnBrk="1">
              <a:buNone/>
            </a:pPr>
            <a:r>
              <a:rPr lang="en-US" b="1" dirty="0">
                <a:sym typeface="Wingdings" panose="05000000000000000000" pitchFamily="2" charset="2"/>
              </a:rPr>
              <a:t></a:t>
            </a:r>
            <a:r>
              <a:rPr lang="en-US" dirty="0"/>
              <a:t>p &lt; 0.05 → </a:t>
            </a:r>
            <a:r>
              <a:rPr lang="en-US" b="1" dirty="0">
                <a:highlight>
                  <a:srgbClr val="808000"/>
                </a:highlight>
              </a:rPr>
              <a:t>Reject H₀: </a:t>
            </a:r>
            <a:r>
              <a:rPr lang="en-US" dirty="0"/>
              <a:t>There is statistically significant evidence that the four operators do not all have the same mean download speed</a:t>
            </a:r>
          </a:p>
          <a:p>
            <a:endParaRPr lang="en-US" dirty="0"/>
          </a:p>
        </p:txBody>
      </p:sp>
    </p:spTree>
    <p:extLst>
      <p:ext uri="{BB962C8B-B14F-4D97-AF65-F5344CB8AC3E}">
        <p14:creationId xmlns:p14="http://schemas.microsoft.com/office/powerpoint/2010/main" val="2218741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pic>
        <p:nvPicPr>
          <p:cNvPr id="15" name="Picture 14">
            <a:extLst>
              <a:ext uri="{FF2B5EF4-FFF2-40B4-BE49-F238E27FC236}">
                <a16:creationId xmlns:a16="http://schemas.microsoft.com/office/drawing/2014/main" id="{1A346DA4-93D0-52C7-03AD-9197670F1AC8}"/>
              </a:ext>
            </a:extLst>
          </p:cNvPr>
          <p:cNvPicPr>
            <a:picLocks noChangeAspect="1"/>
          </p:cNvPicPr>
          <p:nvPr/>
        </p:nvPicPr>
        <p:blipFill>
          <a:blip r:embed="rId3"/>
          <a:stretch>
            <a:fillRect/>
          </a:stretch>
        </p:blipFill>
        <p:spPr>
          <a:xfrm>
            <a:off x="146290" y="1873196"/>
            <a:ext cx="6845118" cy="2293081"/>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pic>
        <p:nvPicPr>
          <p:cNvPr id="27" name="Picture 26">
            <a:extLst>
              <a:ext uri="{FF2B5EF4-FFF2-40B4-BE49-F238E27FC236}">
                <a16:creationId xmlns:a16="http://schemas.microsoft.com/office/drawing/2014/main" id="{AACB85A9-BD8D-800A-EC91-78FB4FA0408E}"/>
              </a:ext>
            </a:extLst>
          </p:cNvPr>
          <p:cNvPicPr>
            <a:picLocks noChangeAspect="1"/>
          </p:cNvPicPr>
          <p:nvPr/>
        </p:nvPicPr>
        <p:blipFill>
          <a:blip r:embed="rId4"/>
          <a:stretch>
            <a:fillRect/>
          </a:stretch>
        </p:blipFill>
        <p:spPr>
          <a:xfrm>
            <a:off x="146289" y="4308578"/>
            <a:ext cx="6845118" cy="2429683"/>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pic>
        <p:nvPicPr>
          <p:cNvPr id="31" name="Picture 30">
            <a:extLst>
              <a:ext uri="{FF2B5EF4-FFF2-40B4-BE49-F238E27FC236}">
                <a16:creationId xmlns:a16="http://schemas.microsoft.com/office/drawing/2014/main" id="{F43DE2D4-B591-2EAB-5CAA-C8A554203715}"/>
              </a:ext>
            </a:extLst>
          </p:cNvPr>
          <p:cNvPicPr>
            <a:picLocks noChangeAspect="1"/>
          </p:cNvPicPr>
          <p:nvPr/>
        </p:nvPicPr>
        <p:blipFill>
          <a:blip r:embed="rId5"/>
          <a:stretch>
            <a:fillRect/>
          </a:stretch>
        </p:blipFill>
        <p:spPr>
          <a:xfrm>
            <a:off x="7146813" y="1873196"/>
            <a:ext cx="4898897" cy="4865065"/>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sp>
        <p:nvSpPr>
          <p:cNvPr id="32" name="Title 1">
            <a:extLst>
              <a:ext uri="{FF2B5EF4-FFF2-40B4-BE49-F238E27FC236}">
                <a16:creationId xmlns:a16="http://schemas.microsoft.com/office/drawing/2014/main" id="{FE9861F3-97D7-AC20-2881-74616FE10ECD}"/>
              </a:ext>
            </a:extLst>
          </p:cNvPr>
          <p:cNvSpPr>
            <a:spLocks noGrp="1"/>
          </p:cNvSpPr>
          <p:nvPr>
            <p:ph type="title"/>
          </p:nvPr>
        </p:nvSpPr>
        <p:spPr>
          <a:xfrm>
            <a:off x="562984" y="273596"/>
            <a:ext cx="10295516" cy="929273"/>
          </a:xfrm>
        </p:spPr>
        <p:txBody>
          <a:bodyPr/>
          <a:lstStyle/>
          <a:p>
            <a:r>
              <a:rPr lang="en-US" b="1" dirty="0">
                <a:solidFill>
                  <a:schemeClr val="bg1"/>
                </a:solidFill>
              </a:rPr>
              <a:t>9. What Could Explain the Differences?</a:t>
            </a:r>
          </a:p>
        </p:txBody>
      </p:sp>
      <p:sp>
        <p:nvSpPr>
          <p:cNvPr id="34" name="TextBox 33">
            <a:extLst>
              <a:ext uri="{FF2B5EF4-FFF2-40B4-BE49-F238E27FC236}">
                <a16:creationId xmlns:a16="http://schemas.microsoft.com/office/drawing/2014/main" id="{E90FB22D-0C20-FE84-5911-B4404B42173F}"/>
              </a:ext>
            </a:extLst>
          </p:cNvPr>
          <p:cNvSpPr txBox="1"/>
          <p:nvPr/>
        </p:nvSpPr>
        <p:spPr>
          <a:xfrm>
            <a:off x="1172007" y="1085263"/>
            <a:ext cx="9847985" cy="400110"/>
          </a:xfrm>
          <a:prstGeom prst="rect">
            <a:avLst/>
          </a:prstGeom>
          <a:noFill/>
        </p:spPr>
        <p:txBody>
          <a:bodyPr wrap="square">
            <a:spAutoFit/>
          </a:bodyPr>
          <a:lstStyle/>
          <a:p>
            <a:r>
              <a:rPr lang="en-US" sz="2000" dirty="0">
                <a:solidFill>
                  <a:schemeClr val="bg1"/>
                </a:solidFill>
              </a:rPr>
              <a:t>Which territorial and network factors are associated with 5G performance?</a:t>
            </a:r>
          </a:p>
        </p:txBody>
      </p:sp>
    </p:spTree>
    <p:extLst>
      <p:ext uri="{BB962C8B-B14F-4D97-AF65-F5344CB8AC3E}">
        <p14:creationId xmlns:p14="http://schemas.microsoft.com/office/powerpoint/2010/main" val="3124106493"/>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1512-3512-1574-8E10-D21BACFB142A}"/>
              </a:ext>
            </a:extLst>
          </p:cNvPr>
          <p:cNvSpPr>
            <a:spLocks noGrp="1"/>
          </p:cNvSpPr>
          <p:nvPr>
            <p:ph type="title"/>
          </p:nvPr>
        </p:nvSpPr>
        <p:spPr>
          <a:xfrm>
            <a:off x="708456" y="290946"/>
            <a:ext cx="9404723" cy="862445"/>
          </a:xfrm>
        </p:spPr>
        <p:txBody>
          <a:bodyPr/>
          <a:lstStyle/>
          <a:p>
            <a:r>
              <a:rPr lang="fr-FR" sz="4400" b="1" dirty="0">
                <a:solidFill>
                  <a:schemeClr val="tx1"/>
                </a:solidFill>
              </a:rPr>
              <a:t>9.1. </a:t>
            </a:r>
            <a:r>
              <a:rPr lang="fr-FR" sz="4400" b="1" dirty="0" err="1">
                <a:solidFill>
                  <a:schemeClr val="tx1"/>
                </a:solidFill>
              </a:rPr>
              <a:t>Interpretation</a:t>
            </a:r>
            <a:br>
              <a:rPr lang="en-US" b="1" dirty="0">
                <a:solidFill>
                  <a:schemeClr val="tx1"/>
                </a:solidFill>
              </a:rPr>
            </a:br>
            <a:endParaRPr lang="en-US" dirty="0">
              <a:solidFill>
                <a:schemeClr val="tx1"/>
              </a:solidFill>
            </a:endParaRPr>
          </a:p>
        </p:txBody>
      </p:sp>
      <p:sp>
        <p:nvSpPr>
          <p:cNvPr id="3" name="Content Placeholder 2">
            <a:extLst>
              <a:ext uri="{FF2B5EF4-FFF2-40B4-BE49-F238E27FC236}">
                <a16:creationId xmlns:a16="http://schemas.microsoft.com/office/drawing/2014/main" id="{44BF590D-9D2C-FB01-28CF-3ED252722E8F}"/>
              </a:ext>
            </a:extLst>
          </p:cNvPr>
          <p:cNvSpPr>
            <a:spLocks noGrp="1"/>
          </p:cNvSpPr>
          <p:nvPr>
            <p:ph idx="1"/>
          </p:nvPr>
        </p:nvSpPr>
        <p:spPr>
          <a:xfrm>
            <a:off x="457200" y="1309255"/>
            <a:ext cx="11191009" cy="5443649"/>
          </a:xfrm>
        </p:spPr>
        <p:txBody>
          <a:bodyPr>
            <a:normAutofit/>
          </a:bodyPr>
          <a:lstStyle/>
          <a:p>
            <a:r>
              <a:rPr lang="en-US" sz="2400" b="1" dirty="0"/>
              <a:t>Population</a:t>
            </a:r>
            <a:endParaRPr lang="en-US" sz="2400" dirty="0"/>
          </a:p>
          <a:p>
            <a:pPr lvl="1"/>
            <a:r>
              <a:rPr lang="en-US" sz="2000" dirty="0"/>
              <a:t>Positive overall relationship with download speed</a:t>
            </a:r>
          </a:p>
          <a:p>
            <a:pPr lvl="1"/>
            <a:r>
              <a:rPr lang="en-US" sz="2000" dirty="0"/>
              <a:t>More populated regions tend to show higher measured performance</a:t>
            </a:r>
          </a:p>
          <a:p>
            <a:pPr lvl="1"/>
            <a:r>
              <a:rPr lang="en-US" sz="2000" dirty="0"/>
              <a:t>Yet operators remain clearly separated at similar population levels</a:t>
            </a:r>
          </a:p>
          <a:p>
            <a:r>
              <a:rPr lang="en-US" sz="2400" b="1" dirty="0"/>
              <a:t>📡 5G Deployment</a:t>
            </a:r>
            <a:endParaRPr lang="en-US" sz="2400" dirty="0"/>
          </a:p>
          <a:p>
            <a:pPr lvl="1"/>
            <a:r>
              <a:rPr lang="en-US" sz="2000" dirty="0"/>
              <a:t>Positive relationship between the number of pure 5G sites and download performance</a:t>
            </a:r>
          </a:p>
          <a:p>
            <a:pPr lvl="1"/>
            <a:r>
              <a:rPr lang="en-US" sz="2000" dirty="0"/>
              <a:t>Network infrastructure therefore appears to be an important factor</a:t>
            </a:r>
          </a:p>
          <a:p>
            <a:r>
              <a:rPr lang="en-US" sz="2400" b="1" dirty="0"/>
              <a:t>📶 Radio Conditions</a:t>
            </a:r>
            <a:endParaRPr lang="en-US" sz="2400" dirty="0"/>
          </a:p>
          <a:p>
            <a:pPr lvl="1"/>
            <a:r>
              <a:rPr lang="en-US" sz="2000" dirty="0"/>
              <a:t>Better RSRP is associated with higher download performance</a:t>
            </a:r>
          </a:p>
          <a:p>
            <a:pPr lvl="1"/>
            <a:r>
              <a:rPr lang="en-US" sz="2000" dirty="0"/>
              <a:t>Radio environment contributes to the observed differences</a:t>
            </a:r>
          </a:p>
          <a:p>
            <a:endParaRPr lang="en-US" sz="2400" dirty="0"/>
          </a:p>
        </p:txBody>
      </p:sp>
      <p:sp>
        <p:nvSpPr>
          <p:cNvPr id="5" name="Content Placeholder 2">
            <a:extLst>
              <a:ext uri="{FF2B5EF4-FFF2-40B4-BE49-F238E27FC236}">
                <a16:creationId xmlns:a16="http://schemas.microsoft.com/office/drawing/2014/main" id="{1C69D12E-998A-76B0-B86F-F77BBB57C6D1}"/>
              </a:ext>
            </a:extLst>
          </p:cNvPr>
          <p:cNvSpPr txBox="1">
            <a:spLocks/>
          </p:cNvSpPr>
          <p:nvPr/>
        </p:nvSpPr>
        <p:spPr>
          <a:xfrm>
            <a:off x="114300" y="6099079"/>
            <a:ext cx="11346874" cy="653825"/>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gn="ctr">
              <a:buNone/>
            </a:pPr>
            <a:r>
              <a:rPr lang="en-US" b="1" dirty="0">
                <a:highlight>
                  <a:srgbClr val="808000"/>
                </a:highlight>
                <a:sym typeface="Wingdings" panose="05000000000000000000" pitchFamily="2" charset="2"/>
              </a:rPr>
              <a:t></a:t>
            </a:r>
            <a:r>
              <a:rPr lang="en-US" dirty="0">
                <a:highlight>
                  <a:srgbClr val="808000"/>
                </a:highlight>
              </a:rPr>
              <a:t>Performance is associated with both network and territorial factors, but operator-specific differences remain visible.</a:t>
            </a:r>
          </a:p>
        </p:txBody>
      </p:sp>
    </p:spTree>
    <p:extLst>
      <p:ext uri="{BB962C8B-B14F-4D97-AF65-F5344CB8AC3E}">
        <p14:creationId xmlns:p14="http://schemas.microsoft.com/office/powerpoint/2010/main" val="3419221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3A446B6-2204-48B8-A7C5-606E45BCA1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866990-844B-2A3C-274A-3C973D1D9D47}"/>
              </a:ext>
            </a:extLst>
          </p:cNvPr>
          <p:cNvSpPr>
            <a:spLocks noGrp="1"/>
          </p:cNvSpPr>
          <p:nvPr>
            <p:ph type="title"/>
          </p:nvPr>
        </p:nvSpPr>
        <p:spPr>
          <a:xfrm>
            <a:off x="648929" y="965201"/>
            <a:ext cx="3903412" cy="4773612"/>
          </a:xfrm>
        </p:spPr>
        <p:txBody>
          <a:bodyPr anchor="ctr">
            <a:normAutofit/>
          </a:bodyPr>
          <a:lstStyle/>
          <a:p>
            <a:r>
              <a:rPr lang="fr-FR" b="1" dirty="0">
                <a:solidFill>
                  <a:srgbClr val="EBEBEB"/>
                </a:solidFill>
              </a:rPr>
              <a:t>10. ML Process </a:t>
            </a:r>
            <a:endParaRPr lang="en-US" b="1" dirty="0">
              <a:solidFill>
                <a:srgbClr val="EBEBEB"/>
              </a:solidFill>
            </a:endParaRPr>
          </a:p>
        </p:txBody>
      </p:sp>
      <p:sp>
        <p:nvSpPr>
          <p:cNvPr id="25" name="Rectangle 24">
            <a:extLst>
              <a:ext uri="{FF2B5EF4-FFF2-40B4-BE49-F238E27FC236}">
                <a16:creationId xmlns:a16="http://schemas.microsoft.com/office/drawing/2014/main" id="{FBF70932-2C39-4BA6-AA08-EF3AD899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ounded Rectangle 9">
            <a:extLst>
              <a:ext uri="{FF2B5EF4-FFF2-40B4-BE49-F238E27FC236}">
                <a16:creationId xmlns:a16="http://schemas.microsoft.com/office/drawing/2014/main" id="{0FD39269-4644-4CAE-8A56-899A62A9C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02302A5-B07A-48BB-9A56-89192DCCA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11" name="Content Placeholder 10">
            <a:extLst>
              <a:ext uri="{FF2B5EF4-FFF2-40B4-BE49-F238E27FC236}">
                <a16:creationId xmlns:a16="http://schemas.microsoft.com/office/drawing/2014/main" id="{A77D9E10-D02D-1D8C-3A04-333BCB807F9C}"/>
              </a:ext>
            </a:extLst>
          </p:cNvPr>
          <p:cNvGraphicFramePr>
            <a:graphicFrameLocks noGrp="1"/>
          </p:cNvGraphicFramePr>
          <p:nvPr>
            <p:ph idx="1"/>
            <p:extLst>
              <p:ext uri="{D42A27DB-BD31-4B8C-83A1-F6EECF244321}">
                <p14:modId xmlns:p14="http://schemas.microsoft.com/office/powerpoint/2010/main" val="513356525"/>
              </p:ext>
            </p:extLst>
          </p:nvPr>
        </p:nvGraphicFramePr>
        <p:xfrm>
          <a:off x="5879110" y="1870364"/>
          <a:ext cx="4916730" cy="2622117"/>
        </p:xfrm>
        <a:graphic>
          <a:graphicData uri="http://schemas.openxmlformats.org/drawingml/2006/table">
            <a:tbl>
              <a:tblPr firstRow="1" bandRow="1">
                <a:tableStyleId>{00A15C55-8517-42AA-B614-E9B94910E393}</a:tableStyleId>
              </a:tblPr>
              <a:tblGrid>
                <a:gridCol w="1843322">
                  <a:extLst>
                    <a:ext uri="{9D8B030D-6E8A-4147-A177-3AD203B41FA5}">
                      <a16:colId xmlns:a16="http://schemas.microsoft.com/office/drawing/2014/main" val="2156652215"/>
                    </a:ext>
                  </a:extLst>
                </a:gridCol>
                <a:gridCol w="1210282">
                  <a:extLst>
                    <a:ext uri="{9D8B030D-6E8A-4147-A177-3AD203B41FA5}">
                      <a16:colId xmlns:a16="http://schemas.microsoft.com/office/drawing/2014/main" val="926857948"/>
                    </a:ext>
                  </a:extLst>
                </a:gridCol>
                <a:gridCol w="1863126">
                  <a:extLst>
                    <a:ext uri="{9D8B030D-6E8A-4147-A177-3AD203B41FA5}">
                      <a16:colId xmlns:a16="http://schemas.microsoft.com/office/drawing/2014/main" val="3318665075"/>
                    </a:ext>
                  </a:extLst>
                </a:gridCol>
              </a:tblGrid>
              <a:tr h="644563">
                <a:tc>
                  <a:txBody>
                    <a:bodyPr/>
                    <a:lstStyle/>
                    <a:p>
                      <a:pPr algn="ctr" fontAlgn="ctr">
                        <a:buNone/>
                      </a:pPr>
                      <a:r>
                        <a:rPr lang="en-US" sz="1800" b="1" u="none" strike="noStrike" cap="none" spc="0">
                          <a:solidFill>
                            <a:schemeClr val="tx1"/>
                          </a:solidFill>
                          <a:effectLst/>
                        </a:rPr>
                        <a:t>Model</a:t>
                      </a:r>
                      <a:endParaRPr lang="en-US" sz="1800" b="1" i="0" u="none" strike="noStrike" cap="none" spc="0">
                        <a:solidFill>
                          <a:schemeClr val="tx1"/>
                        </a:solidFill>
                        <a:effectLst/>
                        <a:latin typeface="Aptos Narrow" panose="020B0004020202020204" pitchFamily="34" charset="0"/>
                      </a:endParaRPr>
                    </a:p>
                  </a:txBody>
                  <a:tcPr marL="113466" marR="12097" marT="32419" marB="243142" anchor="b"/>
                </a:tc>
                <a:tc>
                  <a:txBody>
                    <a:bodyPr/>
                    <a:lstStyle/>
                    <a:p>
                      <a:pPr algn="ctr" fontAlgn="ctr">
                        <a:buNone/>
                      </a:pPr>
                      <a:r>
                        <a:rPr lang="en-US" sz="1800" b="1" u="none" strike="noStrike" cap="none" spc="0">
                          <a:solidFill>
                            <a:schemeClr val="tx1"/>
                          </a:solidFill>
                          <a:effectLst/>
                        </a:rPr>
                        <a:t>R²</a:t>
                      </a:r>
                      <a:endParaRPr lang="en-US" sz="1800" b="1" i="0" u="none" strike="noStrike" cap="none" spc="0">
                        <a:solidFill>
                          <a:schemeClr val="tx1"/>
                        </a:solidFill>
                        <a:effectLst/>
                        <a:latin typeface="Aptos Narrow" panose="020B0004020202020204" pitchFamily="34" charset="0"/>
                      </a:endParaRPr>
                    </a:p>
                  </a:txBody>
                  <a:tcPr marL="113466" marR="12097" marT="32419" marB="243142" anchor="b"/>
                </a:tc>
                <a:tc>
                  <a:txBody>
                    <a:bodyPr/>
                    <a:lstStyle/>
                    <a:p>
                      <a:pPr algn="ctr" fontAlgn="ctr">
                        <a:buNone/>
                      </a:pPr>
                      <a:r>
                        <a:rPr lang="en-US" sz="1800" b="1" u="none" strike="noStrike" cap="none" spc="0">
                          <a:solidFill>
                            <a:schemeClr val="tx1"/>
                          </a:solidFill>
                          <a:effectLst/>
                        </a:rPr>
                        <a:t>MAE (Mbps)</a:t>
                      </a:r>
                      <a:endParaRPr lang="en-US" sz="1800" b="1" i="0" u="none" strike="noStrike" cap="none" spc="0">
                        <a:solidFill>
                          <a:schemeClr val="tx1"/>
                        </a:solidFill>
                        <a:effectLst/>
                        <a:latin typeface="Aptos Narrow" panose="020B0004020202020204" pitchFamily="34" charset="0"/>
                      </a:endParaRPr>
                    </a:p>
                  </a:txBody>
                  <a:tcPr marL="113466" marR="12097" marT="32419" marB="243142" anchor="b"/>
                </a:tc>
                <a:extLst>
                  <a:ext uri="{0D108BD9-81ED-4DB2-BD59-A6C34878D82A}">
                    <a16:rowId xmlns:a16="http://schemas.microsoft.com/office/drawing/2014/main" val="2972688445"/>
                  </a:ext>
                </a:extLst>
              </a:tr>
              <a:tr h="988777">
                <a:tc>
                  <a:txBody>
                    <a:bodyPr/>
                    <a:lstStyle/>
                    <a:p>
                      <a:pPr algn="l" fontAlgn="ctr">
                        <a:buNone/>
                      </a:pPr>
                      <a:r>
                        <a:rPr lang="en-US" sz="1600" b="1" u="none" strike="noStrike" cap="none" spc="0">
                          <a:solidFill>
                            <a:schemeClr val="tx1"/>
                          </a:solidFill>
                          <a:effectLst/>
                        </a:rPr>
                        <a:t>Decision Tree</a:t>
                      </a:r>
                      <a:endParaRPr lang="en-US" sz="1600" b="1" i="0" u="none" strike="noStrike" cap="none" spc="0">
                        <a:solidFill>
                          <a:schemeClr val="tx1"/>
                        </a:solidFill>
                        <a:effectLst/>
                        <a:latin typeface="Aptos Narrow" panose="020B0004020202020204" pitchFamily="34" charset="0"/>
                      </a:endParaRPr>
                    </a:p>
                  </a:txBody>
                  <a:tcPr marL="113466" marR="12097" marT="32419" marB="243142" anchor="ctr"/>
                </a:tc>
                <a:tc>
                  <a:txBody>
                    <a:bodyPr/>
                    <a:lstStyle/>
                    <a:p>
                      <a:pPr algn="ctr" fontAlgn="ctr">
                        <a:buNone/>
                      </a:pPr>
                      <a:r>
                        <a:rPr lang="en-US" sz="1600" u="none" strike="noStrike" cap="none" spc="0" dirty="0">
                          <a:solidFill>
                            <a:schemeClr val="tx1"/>
                          </a:solidFill>
                          <a:effectLst/>
                        </a:rPr>
                        <a:t>0.478</a:t>
                      </a:r>
                      <a:endParaRPr lang="en-US" sz="1600" b="0" i="0" u="none" strike="noStrike" cap="none" spc="0" dirty="0">
                        <a:solidFill>
                          <a:schemeClr val="tx1"/>
                        </a:solidFill>
                        <a:effectLst/>
                        <a:latin typeface="Aptos Narrow" panose="020B0004020202020204" pitchFamily="34" charset="0"/>
                      </a:endParaRPr>
                    </a:p>
                  </a:txBody>
                  <a:tcPr marL="113466" marR="12097" marT="32419" marB="243142" anchor="ctr"/>
                </a:tc>
                <a:tc>
                  <a:txBody>
                    <a:bodyPr/>
                    <a:lstStyle/>
                    <a:p>
                      <a:pPr algn="ctr" fontAlgn="ctr">
                        <a:buNone/>
                      </a:pPr>
                      <a:r>
                        <a:rPr lang="en-US" sz="1600" u="none" strike="noStrike" cap="none" spc="0" dirty="0">
                          <a:solidFill>
                            <a:schemeClr val="tx1"/>
                          </a:solidFill>
                          <a:effectLst/>
                        </a:rPr>
                        <a:t>81</a:t>
                      </a:r>
                      <a:endParaRPr lang="en-US" sz="1600" b="0" i="0" u="none" strike="noStrike" cap="none" spc="0" dirty="0">
                        <a:solidFill>
                          <a:schemeClr val="tx1"/>
                        </a:solidFill>
                        <a:effectLst/>
                        <a:latin typeface="Aptos Narrow" panose="020B0004020202020204" pitchFamily="34" charset="0"/>
                      </a:endParaRPr>
                    </a:p>
                  </a:txBody>
                  <a:tcPr marL="113466" marR="12097" marT="32419" marB="243142" anchor="ctr"/>
                </a:tc>
                <a:extLst>
                  <a:ext uri="{0D108BD9-81ED-4DB2-BD59-A6C34878D82A}">
                    <a16:rowId xmlns:a16="http://schemas.microsoft.com/office/drawing/2014/main" val="3817651728"/>
                  </a:ext>
                </a:extLst>
              </a:tr>
              <a:tr h="988777">
                <a:tc>
                  <a:txBody>
                    <a:bodyPr/>
                    <a:lstStyle/>
                    <a:p>
                      <a:pPr algn="l" fontAlgn="ctr">
                        <a:buNone/>
                      </a:pPr>
                      <a:r>
                        <a:rPr lang="en-US" sz="1600" b="1" u="none" strike="noStrike" cap="none" spc="0" dirty="0">
                          <a:solidFill>
                            <a:schemeClr val="tx1"/>
                          </a:solidFill>
                          <a:effectLst/>
                        </a:rPr>
                        <a:t>Linear Regression</a:t>
                      </a:r>
                      <a:endParaRPr lang="en-US" sz="1600" b="1" i="0" u="none" strike="noStrike" cap="none" spc="0" dirty="0">
                        <a:solidFill>
                          <a:schemeClr val="tx1"/>
                        </a:solidFill>
                        <a:effectLst/>
                        <a:latin typeface="Aptos Narrow" panose="020B0004020202020204" pitchFamily="34" charset="0"/>
                      </a:endParaRPr>
                    </a:p>
                  </a:txBody>
                  <a:tcPr marL="113466" marR="12097" marT="32419" marB="243142" anchor="ctr"/>
                </a:tc>
                <a:tc>
                  <a:txBody>
                    <a:bodyPr/>
                    <a:lstStyle/>
                    <a:p>
                      <a:pPr algn="ctr" fontAlgn="ctr">
                        <a:buNone/>
                      </a:pPr>
                      <a:r>
                        <a:rPr lang="en-US" sz="1600" u="none" strike="noStrike" cap="none" spc="0" dirty="0">
                          <a:solidFill>
                            <a:schemeClr val="tx1"/>
                          </a:solidFill>
                          <a:effectLst/>
                        </a:rPr>
                        <a:t>0.385</a:t>
                      </a:r>
                      <a:endParaRPr lang="en-US" sz="1600" b="0" i="0" u="none" strike="noStrike" cap="none" spc="0" dirty="0">
                        <a:solidFill>
                          <a:schemeClr val="tx1"/>
                        </a:solidFill>
                        <a:effectLst/>
                        <a:latin typeface="Aptos Narrow" panose="020B0004020202020204" pitchFamily="34" charset="0"/>
                      </a:endParaRPr>
                    </a:p>
                  </a:txBody>
                  <a:tcPr marL="113466" marR="12097" marT="32419" marB="243142" anchor="ctr"/>
                </a:tc>
                <a:tc>
                  <a:txBody>
                    <a:bodyPr/>
                    <a:lstStyle/>
                    <a:p>
                      <a:pPr algn="ctr" fontAlgn="ctr">
                        <a:buNone/>
                      </a:pPr>
                      <a:r>
                        <a:rPr lang="en-US" sz="1600" u="none" strike="noStrike" cap="none" spc="0" dirty="0">
                          <a:solidFill>
                            <a:schemeClr val="tx1"/>
                          </a:solidFill>
                          <a:effectLst/>
                        </a:rPr>
                        <a:t>99</a:t>
                      </a:r>
                      <a:endParaRPr lang="en-US" sz="1600" b="0" i="0" u="none" strike="noStrike" cap="none" spc="0" dirty="0">
                        <a:solidFill>
                          <a:schemeClr val="tx1"/>
                        </a:solidFill>
                        <a:effectLst/>
                        <a:latin typeface="Aptos Narrow" panose="020B0004020202020204" pitchFamily="34" charset="0"/>
                      </a:endParaRPr>
                    </a:p>
                  </a:txBody>
                  <a:tcPr marL="113466" marR="12097" marT="32419" marB="243142" anchor="ctr"/>
                </a:tc>
                <a:extLst>
                  <a:ext uri="{0D108BD9-81ED-4DB2-BD59-A6C34878D82A}">
                    <a16:rowId xmlns:a16="http://schemas.microsoft.com/office/drawing/2014/main" val="3101008567"/>
                  </a:ext>
                </a:extLst>
              </a:tr>
            </a:tbl>
          </a:graphicData>
        </a:graphic>
      </p:graphicFrame>
      <p:sp>
        <p:nvSpPr>
          <p:cNvPr id="14" name="Content Placeholder 2">
            <a:extLst>
              <a:ext uri="{FF2B5EF4-FFF2-40B4-BE49-F238E27FC236}">
                <a16:creationId xmlns:a16="http://schemas.microsoft.com/office/drawing/2014/main" id="{E6BB7A09-3B40-B677-2CC9-904ED1166620}"/>
              </a:ext>
            </a:extLst>
          </p:cNvPr>
          <p:cNvSpPr txBox="1">
            <a:spLocks/>
          </p:cNvSpPr>
          <p:nvPr/>
        </p:nvSpPr>
        <p:spPr>
          <a:xfrm>
            <a:off x="5131879" y="4834839"/>
            <a:ext cx="6411192" cy="118884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r>
              <a:rPr lang="en-US" sz="1600" dirty="0"/>
              <a:t>The Decision Tree captures more of the variation than the linear model, suggesting that the relationship between network performance, infrastructure, population and radio conditions is not purely linear.</a:t>
            </a:r>
          </a:p>
        </p:txBody>
      </p:sp>
      <p:sp>
        <p:nvSpPr>
          <p:cNvPr id="29" name="TextBox 28">
            <a:extLst>
              <a:ext uri="{FF2B5EF4-FFF2-40B4-BE49-F238E27FC236}">
                <a16:creationId xmlns:a16="http://schemas.microsoft.com/office/drawing/2014/main" id="{22297E07-9CF5-9CD5-AE74-D0C6928D0F6E}"/>
              </a:ext>
            </a:extLst>
          </p:cNvPr>
          <p:cNvSpPr txBox="1"/>
          <p:nvPr/>
        </p:nvSpPr>
        <p:spPr>
          <a:xfrm>
            <a:off x="5787736" y="862445"/>
            <a:ext cx="4281055" cy="923330"/>
          </a:xfrm>
          <a:prstGeom prst="rect">
            <a:avLst/>
          </a:prstGeom>
          <a:noFill/>
        </p:spPr>
        <p:txBody>
          <a:bodyPr wrap="square" rtlCol="0">
            <a:spAutoFit/>
          </a:bodyPr>
          <a:lstStyle/>
          <a:p>
            <a:r>
              <a:rPr lang="fr-FR" b="1" dirty="0" err="1"/>
              <a:t>Features</a:t>
            </a:r>
            <a:r>
              <a:rPr lang="fr-FR" b="1" dirty="0"/>
              <a:t> </a:t>
            </a:r>
            <a:r>
              <a:rPr lang="fr-FR" b="1" dirty="0" err="1"/>
              <a:t>selection</a:t>
            </a:r>
            <a:r>
              <a:rPr lang="fr-FR" b="1" dirty="0"/>
              <a:t>: </a:t>
            </a:r>
            <a:r>
              <a:rPr lang="fr-FR" dirty="0" err="1"/>
              <a:t>operator</a:t>
            </a:r>
            <a:r>
              <a:rPr lang="fr-FR" dirty="0"/>
              <a:t>, </a:t>
            </a:r>
            <a:r>
              <a:rPr lang="fr-FR" dirty="0" err="1"/>
              <a:t>rsrq</a:t>
            </a:r>
            <a:r>
              <a:rPr lang="fr-FR" dirty="0"/>
              <a:t>, </a:t>
            </a:r>
            <a:r>
              <a:rPr lang="fr-FR" dirty="0" err="1"/>
              <a:t>rsrp</a:t>
            </a:r>
            <a:r>
              <a:rPr lang="fr-FR" dirty="0"/>
              <a:t>, population, nbr os sites </a:t>
            </a:r>
          </a:p>
          <a:p>
            <a:r>
              <a:rPr lang="fr-FR" b="1" dirty="0" err="1"/>
              <a:t>Targer</a:t>
            </a:r>
            <a:r>
              <a:rPr lang="fr-FR" b="1" dirty="0"/>
              <a:t>: </a:t>
            </a:r>
            <a:r>
              <a:rPr lang="fr-FR" dirty="0"/>
              <a:t>Download speed</a:t>
            </a:r>
            <a:endParaRPr lang="en-US" dirty="0"/>
          </a:p>
        </p:txBody>
      </p:sp>
    </p:spTree>
    <p:extLst>
      <p:ext uri="{BB962C8B-B14F-4D97-AF65-F5344CB8AC3E}">
        <p14:creationId xmlns:p14="http://schemas.microsoft.com/office/powerpoint/2010/main" val="4264155239"/>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5BF32-8755-BFC4-3ADA-8D23EA47A303}"/>
              </a:ext>
            </a:extLst>
          </p:cNvPr>
          <p:cNvSpPr>
            <a:spLocks noGrp="1"/>
          </p:cNvSpPr>
          <p:nvPr>
            <p:ph type="title"/>
          </p:nvPr>
        </p:nvSpPr>
        <p:spPr/>
        <p:txBody>
          <a:bodyPr/>
          <a:lstStyle/>
          <a:p>
            <a:r>
              <a:rPr lang="en-US" b="1" dirty="0"/>
              <a:t>11. Final Conclusion</a:t>
            </a:r>
          </a:p>
        </p:txBody>
      </p:sp>
      <p:sp>
        <p:nvSpPr>
          <p:cNvPr id="3" name="Content Placeholder 2">
            <a:extLst>
              <a:ext uri="{FF2B5EF4-FFF2-40B4-BE49-F238E27FC236}">
                <a16:creationId xmlns:a16="http://schemas.microsoft.com/office/drawing/2014/main" id="{404096C3-D57F-086A-01E3-2C33A474837E}"/>
              </a:ext>
            </a:extLst>
          </p:cNvPr>
          <p:cNvSpPr>
            <a:spLocks noGrp="1"/>
          </p:cNvSpPr>
          <p:nvPr>
            <p:ph idx="1"/>
          </p:nvPr>
        </p:nvSpPr>
        <p:spPr>
          <a:xfrm>
            <a:off x="1104293" y="1772364"/>
            <a:ext cx="8946541" cy="4195481"/>
          </a:xfrm>
        </p:spPr>
        <p:txBody>
          <a:bodyPr>
            <a:normAutofit fontScale="92500" lnSpcReduction="10000"/>
          </a:bodyPr>
          <a:lstStyle/>
          <a:p>
            <a:pPr marL="0" indent="0">
              <a:buNone/>
            </a:pPr>
            <a:r>
              <a:rPr lang="en-US" b="1" dirty="0"/>
              <a:t>What did we learn?</a:t>
            </a:r>
          </a:p>
          <a:p>
            <a:r>
              <a:rPr lang="en-US" b="1" dirty="0"/>
              <a:t>1. Performance disparities exist: </a:t>
            </a:r>
            <a:endParaRPr lang="en-US" dirty="0"/>
          </a:p>
          <a:p>
            <a:pPr lvl="1">
              <a:buFont typeface="Wingdings" panose="05000000000000000000" pitchFamily="2" charset="2"/>
              <a:buChar char="v"/>
            </a:pPr>
            <a:r>
              <a:rPr lang="en-US" dirty="0"/>
              <a:t>5G download performance differs significantly across operators and territories.</a:t>
            </a:r>
          </a:p>
          <a:p>
            <a:r>
              <a:rPr lang="en-US" b="1" dirty="0"/>
              <a:t>2. Several factors are associated with performance</a:t>
            </a:r>
            <a:endParaRPr lang="en-US" dirty="0"/>
          </a:p>
          <a:p>
            <a:pPr lvl="1">
              <a:buFont typeface="Wingdings" panose="05000000000000000000" pitchFamily="2" charset="2"/>
              <a:buChar char="v"/>
            </a:pPr>
            <a:r>
              <a:rPr lang="en-US" b="1" dirty="0"/>
              <a:t>Territorial context:</a:t>
            </a:r>
            <a:r>
              <a:rPr lang="en-US" dirty="0"/>
              <a:t> population</a:t>
            </a:r>
          </a:p>
          <a:p>
            <a:pPr lvl="1">
              <a:buFont typeface="Wingdings" panose="05000000000000000000" pitchFamily="2" charset="2"/>
              <a:buChar char="v"/>
            </a:pPr>
            <a:r>
              <a:rPr lang="en-US" b="1" dirty="0"/>
              <a:t>Network infrastructure:</a:t>
            </a:r>
            <a:r>
              <a:rPr lang="en-US" dirty="0"/>
              <a:t> pure 5G deployment</a:t>
            </a:r>
          </a:p>
          <a:p>
            <a:pPr lvl="1">
              <a:buFont typeface="Wingdings" panose="05000000000000000000" pitchFamily="2" charset="2"/>
              <a:buChar char="v"/>
            </a:pPr>
            <a:r>
              <a:rPr lang="en-US" b="1" dirty="0"/>
              <a:t>Radio environment:</a:t>
            </a:r>
            <a:r>
              <a:rPr lang="en-US" dirty="0"/>
              <a:t> RSRP</a:t>
            </a:r>
          </a:p>
          <a:p>
            <a:r>
              <a:rPr lang="en-US" b="1" dirty="0"/>
              <a:t>3. These factors do not tell the whole story</a:t>
            </a:r>
            <a:endParaRPr lang="en-US" dirty="0"/>
          </a:p>
          <a:p>
            <a:pPr lvl="1">
              <a:buFont typeface="Wingdings" panose="05000000000000000000" pitchFamily="2" charset="2"/>
              <a:buChar char="v"/>
            </a:pPr>
            <a:r>
              <a:rPr lang="en-US" dirty="0"/>
              <a:t>Significant differences remain between operators under similar territorial or infrastructure conditions.</a:t>
            </a:r>
          </a:p>
          <a:p>
            <a:pPr lvl="1">
              <a:buFont typeface="Wingdings" panose="05000000000000000000" pitchFamily="2" charset="2"/>
              <a:buChar char="v"/>
            </a:pPr>
            <a:r>
              <a:rPr lang="en-US" dirty="0"/>
              <a:t>This points to an important </a:t>
            </a:r>
            <a:r>
              <a:rPr lang="en-US" b="1" dirty="0"/>
              <a:t>operator-specific component</a:t>
            </a:r>
            <a:r>
              <a:rPr lang="en-US" dirty="0"/>
              <a:t>.</a:t>
            </a:r>
          </a:p>
          <a:p>
            <a:endParaRPr lang="en-US" dirty="0"/>
          </a:p>
        </p:txBody>
      </p:sp>
    </p:spTree>
    <p:extLst>
      <p:ext uri="{BB962C8B-B14F-4D97-AF65-F5344CB8AC3E}">
        <p14:creationId xmlns:p14="http://schemas.microsoft.com/office/powerpoint/2010/main" val="1438097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AF479-7C39-5A7C-39C2-5C495725A959}"/>
              </a:ext>
            </a:extLst>
          </p:cNvPr>
          <p:cNvSpPr>
            <a:spLocks noGrp="1"/>
          </p:cNvSpPr>
          <p:nvPr>
            <p:ph type="title"/>
          </p:nvPr>
        </p:nvSpPr>
        <p:spPr>
          <a:xfrm>
            <a:off x="646111" y="452718"/>
            <a:ext cx="9404723" cy="970837"/>
          </a:xfrm>
        </p:spPr>
        <p:txBody>
          <a:bodyPr/>
          <a:lstStyle/>
          <a:p>
            <a:r>
              <a:rPr lang="fr-FR" b="1" dirty="0"/>
              <a:t>12. Challenges and Next </a:t>
            </a:r>
            <a:r>
              <a:rPr lang="fr-FR" b="1" dirty="0" err="1"/>
              <a:t>Steps</a:t>
            </a:r>
            <a:endParaRPr lang="en-US" b="1" dirty="0"/>
          </a:p>
        </p:txBody>
      </p:sp>
      <p:sp>
        <p:nvSpPr>
          <p:cNvPr id="3" name="Content Placeholder 2">
            <a:extLst>
              <a:ext uri="{FF2B5EF4-FFF2-40B4-BE49-F238E27FC236}">
                <a16:creationId xmlns:a16="http://schemas.microsoft.com/office/drawing/2014/main" id="{4CDB6F15-256B-6C9C-30BA-313A397BE38E}"/>
              </a:ext>
            </a:extLst>
          </p:cNvPr>
          <p:cNvSpPr>
            <a:spLocks noGrp="1"/>
          </p:cNvSpPr>
          <p:nvPr>
            <p:ph idx="1"/>
          </p:nvPr>
        </p:nvSpPr>
        <p:spPr>
          <a:xfrm>
            <a:off x="968231" y="1574936"/>
            <a:ext cx="9485024" cy="4195481"/>
          </a:xfrm>
        </p:spPr>
        <p:txBody>
          <a:bodyPr>
            <a:normAutofit lnSpcReduction="10000"/>
          </a:bodyPr>
          <a:lstStyle/>
          <a:p>
            <a:r>
              <a:rPr lang="en-US" sz="2400" b="1" dirty="0"/>
              <a:t>Challenges:</a:t>
            </a:r>
          </a:p>
          <a:p>
            <a:pPr lvl="1"/>
            <a:r>
              <a:rPr lang="en-US" b="1" dirty="0"/>
              <a:t>Data integration:</a:t>
            </a:r>
            <a:r>
              <a:rPr lang="en-US" dirty="0"/>
              <a:t> Combining ARCEP QoS, mobile-site and INSEE datasets with different granularities and identifiers.</a:t>
            </a:r>
          </a:p>
          <a:p>
            <a:pPr lvl="1"/>
            <a:r>
              <a:rPr lang="en-US" b="1" dirty="0"/>
              <a:t>Territorial granularity:</a:t>
            </a:r>
            <a:r>
              <a:rPr lang="en-US" dirty="0"/>
              <a:t> QoS measurements are collected at specific locations (1610 communes), while population and infrastructure data are aggregated at most of the territory communes.</a:t>
            </a:r>
          </a:p>
          <a:p>
            <a:pPr marL="457200" lvl="1" indent="0">
              <a:buNone/>
            </a:pPr>
            <a:endParaRPr lang="en-US" dirty="0"/>
          </a:p>
          <a:p>
            <a:r>
              <a:rPr lang="en-US" sz="2400" b="1" dirty="0"/>
              <a:t>Next steps:</a:t>
            </a:r>
          </a:p>
          <a:p>
            <a:pPr lvl="1"/>
            <a:r>
              <a:rPr lang="en-US" b="1" dirty="0"/>
              <a:t>Deeper territorial analysis:</a:t>
            </a:r>
            <a:r>
              <a:rPr lang="en-US" dirty="0"/>
              <a:t> Extend the analysis from regions to departments or communes to identify more localized disparities.</a:t>
            </a:r>
          </a:p>
          <a:p>
            <a:pPr lvl="1"/>
            <a:r>
              <a:rPr lang="en-US" b="1" dirty="0"/>
              <a:t>Operator-level investigation:</a:t>
            </a:r>
            <a:r>
              <a:rPr lang="en-US" dirty="0"/>
              <a:t> Analyze why operators with different deployment strategies achieve different performance levels.</a:t>
            </a:r>
          </a:p>
        </p:txBody>
      </p:sp>
    </p:spTree>
    <p:extLst>
      <p:ext uri="{BB962C8B-B14F-4D97-AF65-F5344CB8AC3E}">
        <p14:creationId xmlns:p14="http://schemas.microsoft.com/office/powerpoint/2010/main" val="1081165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91108049-0497-62E7-5DAB-3FBEFE85EEBD}"/>
              </a:ext>
            </a:extLst>
          </p:cNvPr>
          <p:cNvSpPr>
            <a:spLocks noGrp="1"/>
          </p:cNvSpPr>
          <p:nvPr>
            <p:ph type="title"/>
          </p:nvPr>
        </p:nvSpPr>
        <p:spPr>
          <a:xfrm>
            <a:off x="2482158" y="472666"/>
            <a:ext cx="7227684" cy="1400530"/>
          </a:xfrm>
        </p:spPr>
        <p:txBody>
          <a:bodyPr anchor="ctr">
            <a:normAutofit/>
          </a:bodyPr>
          <a:lstStyle/>
          <a:p>
            <a:r>
              <a:rPr lang="fr-FR" b="1" dirty="0">
                <a:solidFill>
                  <a:schemeClr val="bg1"/>
                </a:solidFill>
              </a:rPr>
              <a:t>13. Power BI Dashboard</a:t>
            </a:r>
            <a:endParaRPr lang="en-US" b="1" dirty="0">
              <a:solidFill>
                <a:schemeClr val="bg1"/>
              </a:solidFill>
            </a:endParaRPr>
          </a:p>
        </p:txBody>
      </p:sp>
    </p:spTree>
    <p:extLst>
      <p:ext uri="{BB962C8B-B14F-4D97-AF65-F5344CB8AC3E}">
        <p14:creationId xmlns:p14="http://schemas.microsoft.com/office/powerpoint/2010/main" val="2842593307"/>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34" name="Rectangle 33">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36" name="Freeform: Shape 24">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3F5C3E49-1BA3-9F41-561B-FF18C0F3E7FD}"/>
              </a:ext>
            </a:extLst>
          </p:cNvPr>
          <p:cNvSpPr>
            <a:spLocks noGrp="1"/>
          </p:cNvSpPr>
          <p:nvPr>
            <p:ph type="title"/>
          </p:nvPr>
        </p:nvSpPr>
        <p:spPr>
          <a:xfrm>
            <a:off x="2101677" y="2909503"/>
            <a:ext cx="7270924" cy="1400530"/>
          </a:xfrm>
        </p:spPr>
        <p:txBody>
          <a:bodyPr anchor="ctr">
            <a:normAutofit/>
          </a:bodyPr>
          <a:lstStyle/>
          <a:p>
            <a:r>
              <a:rPr lang="fr-FR" b="1" dirty="0">
                <a:solidFill>
                  <a:schemeClr val="accent4">
                    <a:lumMod val="50000"/>
                  </a:schemeClr>
                </a:solidFill>
              </a:rPr>
              <a:t>Merci Pour Votre Attention!</a:t>
            </a:r>
            <a:endParaRPr lang="en-US" b="1" dirty="0">
              <a:solidFill>
                <a:schemeClr val="accent4">
                  <a:lumMod val="50000"/>
                </a:schemeClr>
              </a:solidFill>
            </a:endParaRPr>
          </a:p>
        </p:txBody>
      </p:sp>
    </p:spTree>
    <p:extLst>
      <p:ext uri="{BB962C8B-B14F-4D97-AF65-F5344CB8AC3E}">
        <p14:creationId xmlns:p14="http://schemas.microsoft.com/office/powerpoint/2010/main" val="1096341694"/>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7607</TotalTime>
  <Words>2077</Words>
  <Application>Microsoft Office PowerPoint</Application>
  <PresentationFormat>Widescreen</PresentationFormat>
  <Paragraphs>188</Paragraphs>
  <Slides>19</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Narrow</vt:lpstr>
      <vt:lpstr>Century Gothic</vt:lpstr>
      <vt:lpstr>Wingdings</vt:lpstr>
      <vt:lpstr>Wingdings 3</vt:lpstr>
      <vt:lpstr>Ion</vt:lpstr>
      <vt:lpstr>5G Mobile Network Performance in France</vt:lpstr>
      <vt:lpstr>Agenda</vt:lpstr>
      <vt:lpstr>1. Business Question &amp; Objectives</vt:lpstr>
      <vt:lpstr>2. Data sources &amp; Collection</vt:lpstr>
      <vt:lpstr>3. End-to-End Data Pipeline Architecture</vt:lpstr>
      <vt:lpstr>4. ERD &amp; Relational Database</vt:lpstr>
      <vt:lpstr>5. BigQuery: Analytical Data Layer</vt:lpstr>
      <vt:lpstr>6. Initial EDA: Measurement Coverage &amp; Balance 1/2</vt:lpstr>
      <vt:lpstr>6. Initial EDA: Measurement Coverage &amp; Balance 2/2</vt:lpstr>
      <vt:lpstr>7. What Are the Performance Disparities?</vt:lpstr>
      <vt:lpstr>“Do these observed differences between operators/territories hold statistically?”</vt:lpstr>
      <vt:lpstr>8. Statistical Evidence: Do the Differences Hold?</vt:lpstr>
      <vt:lpstr>9. What Could Explain the Differences?</vt:lpstr>
      <vt:lpstr>9.1. Interpretation </vt:lpstr>
      <vt:lpstr>10. ML Process </vt:lpstr>
      <vt:lpstr>11. Final Conclusion</vt:lpstr>
      <vt:lpstr>12. Challenges and Next Steps</vt:lpstr>
      <vt:lpstr>13. Power BI Dashboard</vt:lpstr>
      <vt:lpstr>Merci Pour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Zidène Ourdache</dc:creator>
  <cp:lastModifiedBy>Zidène Ourdache</cp:lastModifiedBy>
  <cp:revision>57</cp:revision>
  <cp:lastPrinted>2026-09-16T08:55:37Z</cp:lastPrinted>
  <dcterms:created xsi:type="dcterms:W3CDTF">2026-09-12T15:28:50Z</dcterms:created>
  <dcterms:modified xsi:type="dcterms:W3CDTF">2026-09-18T07:18:25Z</dcterms:modified>
</cp:coreProperties>
</file>